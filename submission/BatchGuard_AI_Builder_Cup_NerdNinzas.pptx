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charts/chart1.xml" ContentType="application/vnd.openxmlformats-officedocument.drawingml.chart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900" b="0" i="0" u="none" strike="noStrike">
                <a:solidFill>
                  <a:srgbClr val="0B1220"/>
                </a:solidFill>
                <a:latin typeface="+mn-lt"/>
              </a:defRPr>
            </a:pPr>
            <a:r>
              <a:rPr sz="900" b="0" i="0" u="none" strike="noStrike">
                <a:solidFill>
                  <a:srgbClr val="0B1220"/>
                </a:solidFill>
                <a:latin typeface="+mn-lt"/>
              </a:rPr>
              <a:t>Telemetry API round trip, ms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Round trip</c:v>
                </c:pt>
              </c:strCache>
            </c:strRef>
          </c:tx>
          <c:spPr>
            <a:solidFill>
              <a:srgbClr val="2563EB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B122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p50</c:v>
                  </c:pt>
                  <c:pt idx="1">
                    <c:v>p95</c:v>
                  </c:pt>
                  <c:pt idx="2">
                    <c:v>p99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6.4</c:v>
                </c:pt>
                <c:pt idx="1">
                  <c:v>19.2</c:v>
                </c:pt>
                <c:pt idx="2">
                  <c:v>39.3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900" u="none">
                  <a:solidFill>
                    <a:srgbClr val="0B122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686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3E7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6B7686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BatchGuard AI, for the Manufacturing theme. An agent for small and mid-sized factories that turns a machine manual into monitoring, diagnoses faults with evidence, and phones the right person.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one-liner, then the five verbs. The phone call on the right is the moment judges remember.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truths for almost every SME plant. The quote is what actually happens today.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ways an SME can watch machines today, compared on what matters to a plant manager.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Left: each SME problem and the mechanism that fixes it. Right: the five USPs.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features in the order a reading meets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intelligence and the human side.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Stages one to four are deterministic and run on every reading. AI is only called once per incident.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Left: the per-reading decision path. Right: the severity ladder.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actors around one system. Muse is an actor too: it starts investigations and calls on its own.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Low-fidelity wireframes of the core flow. The real screens follow.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Machines and browsers at the top, Google Cloud in the middle, the phone line and email at the bottom.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Google ADK SequentialAgent. Each stage writes to session state, the next one reads it. Every tool is read-only.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suggested technology and how we use it. Dataflow is planned, not built.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Monthly running cost for one plant at list prices. The always-on backend is most of it; the LLM is only called per incident.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Left: the landing page with the 3D line. Right: the overview a plant owner opens every morning.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real incident from the demo line's bearing-wear cycle.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3D hall mirrors each machine's status. The line builder tells the agent what feeds what.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Onboarding starts from a PDF. Every alert, report and call ends up as a branded email.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16 runs: 8 fault signatures, twice each, on fresh machines. 200 s of normal running, a 120 s fault ramp, a 60 s hold, at 1 Hz through the real API.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Latency and throughput of the real ingestion path, report speed, and what the tests taught us.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horizons, and the principles the product already follows.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Repo, demo video, the live product and the simulator that drives it. Faults are injected from the simulator, and the live product reacts.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Thank you.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0749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411480" y="621792"/>
            <a:ext cx="8321040" cy="1828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800" spc="200" kern="0" dirty="0">
                <a:solidFill>
                  <a:srgbClr val="2563EB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-120"/>
              </a:defRPr>
            </a:lvl1pPr>
          </a:lstStyle>
          <a:p>
            <a:pPr algn="l" indent="0" marL="0">
              <a:buNone/>
            </a:pP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66760" y="4846320"/>
            <a:ext cx="36576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A0A8B5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271576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00000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ANKS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66760" y="4846320"/>
            <a:ext cx="36576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A0A8B5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image" Target="../media/image-14-7.png"/><Relationship Id="rId8" Type="http://schemas.openxmlformats.org/officeDocument/2006/relationships/image" Target="../media/image-14-8.png"/><Relationship Id="rId9" Type="http://schemas.openxmlformats.org/officeDocument/2006/relationships/image" Target="../media/image-14-9.png"/><Relationship Id="rId10" Type="http://schemas.openxmlformats.org/officeDocument/2006/relationships/image" Target="../media/image-14-10.png"/><Relationship Id="rId11" Type="http://schemas.openxmlformats.org/officeDocument/2006/relationships/image" Target="../media/image-14-11.png"/><Relationship Id="rId12" Type="http://schemas.openxmlformats.org/officeDocument/2006/relationships/image" Target="../media/image-14-12.png"/><Relationship Id="rId13" Type="http://schemas.openxmlformats.org/officeDocument/2006/relationships/image" Target="../media/image-14-13.png"/><Relationship Id="rId14" Type="http://schemas.openxmlformats.org/officeDocument/2006/relationships/image" Target="../media/image-14-14.png"/><Relationship Id="rId15" Type="http://schemas.openxmlformats.org/officeDocument/2006/relationships/image" Target="../media/image-14-15.png"/><Relationship Id="rId16" Type="http://schemas.openxmlformats.org/officeDocument/2006/relationships/image" Target="../media/image-14-16.png"/><Relationship Id="rId17" Type="http://schemas.openxmlformats.org/officeDocument/2006/relationships/slideLayout" Target="../slideLayouts/slideLayout2.xml"/><Relationship Id="rId18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eg"/><Relationship Id="rId2" Type="http://schemas.openxmlformats.org/officeDocument/2006/relationships/image" Target="../media/image-16-2.jpe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eg"/><Relationship Id="rId2" Type="http://schemas.openxmlformats.org/officeDocument/2006/relationships/image" Target="../media/image-17-2.jpe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jpeg"/><Relationship Id="rId2" Type="http://schemas.openxmlformats.org/officeDocument/2006/relationships/image" Target="../media/image-18-2.jpe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jpeg"/><Relationship Id="rId2" Type="http://schemas.openxmlformats.org/officeDocument/2006/relationships/image" Target="../media/image-19-2.jpeg"/><Relationship Id="rId3" Type="http://schemas.openxmlformats.org/officeDocument/2006/relationships/image" Target="../media/image-19-3.jpe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NerdNinzas/batchguard.ai" TargetMode="External"/><Relationship Id="rId4" Type="http://schemas.openxmlformats.org/officeDocument/2006/relationships/hyperlink" Target="https://youtu.be/lxMaqhoitiU" TargetMode="External"/><Relationship Id="rId6" Type="http://schemas.openxmlformats.org/officeDocument/2006/relationships/hyperlink" Target="https://batchguardai.live/" TargetMode="External"/><Relationship Id="rId8" Type="http://schemas.openxmlformats.org/officeDocument/2006/relationships/hyperlink" Target="https://batchguard-sim.web.app/" TargetMode="External"/><Relationship Id="rId1" Type="http://schemas.openxmlformats.org/officeDocument/2006/relationships/image" Target="../media/image-23-1.png"/><Relationship Id="rId3" Type="http://schemas.openxmlformats.org/officeDocument/2006/relationships/image" Target="../media/image-23-2.png"/><Relationship Id="rId5" Type="http://schemas.openxmlformats.org/officeDocument/2006/relationships/image" Target="../media/image-23-3.png"/><Relationship Id="rId7" Type="http://schemas.openxmlformats.org/officeDocument/2006/relationships/image" Target="../media/image-23-4.pn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285292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B1220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Team Details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33101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68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a.</a:t>
            </a:r>
            <a:endParaRPr lang="en-US" sz="1250" dirty="0"/>
          </a:p>
        </p:txBody>
      </p:sp>
      <p:sp>
        <p:nvSpPr>
          <p:cNvPr id="4" name="Text 2"/>
          <p:cNvSpPr txBox="1"/>
          <p:nvPr/>
        </p:nvSpPr>
        <p:spPr>
          <a:xfrm>
            <a:off x="795528" y="331012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68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Team name:  </a:t>
            </a:r>
            <a:pPr indent="0" marL="0">
              <a:buNone/>
            </a:pPr>
            <a:r>
              <a:rPr lang="en-US" sz="1250" dirty="0">
                <a:solidFill>
                  <a:srgbClr val="0B1220"/>
                </a:solidFill>
                <a:latin typeface="Barlow SemiBold" pitchFamily="34" charset="0"/>
                <a:ea typeface="Barlow SemiBold" pitchFamily="34" charset="-122"/>
                <a:cs typeface="Barlow SemiBold" pitchFamily="34" charset="-120"/>
              </a:rPr>
              <a:t>NerdNinzas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36758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68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b.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795528" y="367588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68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Team leader name:  </a:t>
            </a:r>
            <a:pPr indent="0" marL="0">
              <a:buNone/>
            </a:pPr>
            <a:r>
              <a:rPr lang="en-US" sz="1250" dirty="0">
                <a:solidFill>
                  <a:srgbClr val="0B1220"/>
                </a:solidFill>
                <a:latin typeface="Barlow SemiBold" pitchFamily="34" charset="0"/>
                <a:ea typeface="Barlow SemiBold" pitchFamily="34" charset="-122"/>
                <a:cs typeface="Barlow SemiBold" pitchFamily="34" charset="-120"/>
              </a:rPr>
              <a:t>Prabal Verma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40416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68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c.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795528" y="4041648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68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Problem Statement:  </a:t>
            </a:r>
            <a:pPr indent="0" marL="0">
              <a:buNone/>
            </a:pPr>
            <a:r>
              <a:rPr lang="en-US" sz="1250" dirty="0">
                <a:solidFill>
                  <a:srgbClr val="0B1220"/>
                </a:solidFill>
                <a:latin typeface="Barlow SemiBold" pitchFamily="34" charset="0"/>
                <a:ea typeface="Barlow SemiBold" pitchFamily="34" charset="-122"/>
                <a:cs typeface="Barlow SemiBold" pitchFamily="34" charset="-120"/>
              </a:rPr>
              <a:t>Manufacturing: Intelligent Operations &amp; Industrial Efficiency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897880" y="2852928"/>
            <a:ext cx="2834640" cy="2029968"/>
          </a:xfrm>
          <a:prstGeom prst="roundRect">
            <a:avLst>
              <a:gd name="adj" fmla="val 3604"/>
            </a:avLst>
          </a:prstGeom>
          <a:solidFill>
            <a:srgbClr val="0E1A36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99248" y="3127248"/>
            <a:ext cx="978851" cy="1307592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6080760" y="301752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50" kern="0" dirty="0">
                <a:solidFill>
                  <a:srgbClr val="93C5FD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-120"/>
              </a:rPr>
              <a:t>OUR SOLUTION</a:t>
            </a:r>
            <a:endParaRPr lang="en-US" sz="750" dirty="0"/>
          </a:p>
        </p:txBody>
      </p:sp>
      <p:sp>
        <p:nvSpPr>
          <p:cNvPr id="12" name="Text 9"/>
          <p:cNvSpPr txBox="1"/>
          <p:nvPr/>
        </p:nvSpPr>
        <p:spPr>
          <a:xfrm>
            <a:off x="6080760" y="3218688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BatchGuard </a:t>
            </a:r>
            <a:pPr indent="0" marL="0">
              <a:buNone/>
            </a:pPr>
            <a:r>
              <a:rPr lang="en-US" sz="2400" b="1" dirty="0">
                <a:solidFill>
                  <a:srgbClr val="60A5FA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AI</a:t>
            </a:r>
            <a:endParaRPr lang="en-US" sz="2400" dirty="0"/>
          </a:p>
        </p:txBody>
      </p:sp>
      <p:sp>
        <p:nvSpPr>
          <p:cNvPr id="13" name="Text 10"/>
          <p:cNvSpPr txBox="1"/>
          <p:nvPr/>
        </p:nvSpPr>
        <p:spPr>
          <a:xfrm>
            <a:off x="6080760" y="3694176"/>
            <a:ext cx="15727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7D2E8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Your factory, watched by an agent that explains every alarm and calls the right person.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411480" y="621792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200" kern="0" dirty="0">
                <a:solidFill>
                  <a:srgbClr val="2563EB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-120"/>
              </a:rPr>
              <a:t>01 / BRIEF ABOUT THE IDEA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82296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0B1220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An AI plant manager who read every manual and never stops watching</a:t>
            </a:r>
            <a:endParaRPr lang="en-US" sz="2500" dirty="0"/>
          </a:p>
        </p:txBody>
      </p:sp>
      <p:sp>
        <p:nvSpPr>
          <p:cNvPr id="5" name="Text 2"/>
          <p:cNvSpPr txBox="1"/>
          <p:nvPr/>
        </p:nvSpPr>
        <p:spPr>
          <a:xfrm>
            <a:off x="411480" y="1389888"/>
            <a:ext cx="45262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3A455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Small factories run on old machines and one stretched maintenance lead. BatchGuard gives them Muse: an agent that turns a machine's PDF manual into live monitoring, works out what is going wrong from the data, and phones the right person before the line stops.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411480" y="2267712"/>
            <a:ext cx="4526280" cy="0"/>
          </a:xfrm>
          <a:prstGeom prst="line">
            <a:avLst/>
          </a:prstGeom>
          <a:noFill/>
          <a:ln w="9525">
            <a:solidFill>
              <a:srgbClr val="E3E7E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411480" y="23591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563EB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-120"/>
              </a:rPr>
              <a:t>01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795528" y="2313432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B1220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Reads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1984248" y="2340864"/>
            <a:ext cx="29443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A455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Upload the manual. Gemini pulls out every limit with the page it came from, and a person signs it off.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411480" y="2779776"/>
            <a:ext cx="4526280" cy="0"/>
          </a:xfrm>
          <a:prstGeom prst="line">
            <a:avLst/>
          </a:prstGeom>
          <a:noFill/>
          <a:ln w="9525">
            <a:solidFill>
              <a:srgbClr val="E3E7EE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11480" y="28712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563EB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-120"/>
              </a:rPr>
              <a:t>02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795528" y="2825496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B1220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Watches</a:t>
            </a:r>
            <a:endParaRPr lang="en-US" sz="1700" dirty="0"/>
          </a:p>
        </p:txBody>
      </p:sp>
      <p:sp>
        <p:nvSpPr>
          <p:cNvPr id="13" name="Text 10"/>
          <p:cNvSpPr txBox="1"/>
          <p:nvPr/>
        </p:nvSpPr>
        <p:spPr>
          <a:xfrm>
            <a:off x="1984248" y="2852928"/>
            <a:ext cx="29443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A455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Machines post a reading every second. Limits, trends and anomalies are checked on each one, no LLM in the way.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411480" y="3291840"/>
            <a:ext cx="4526280" cy="0"/>
          </a:xfrm>
          <a:prstGeom prst="line">
            <a:avLst/>
          </a:prstGeom>
          <a:noFill/>
          <a:ln w="9525">
            <a:solidFill>
              <a:srgbClr val="E3E7EE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11480" y="33832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563EB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-120"/>
              </a:rPr>
              <a:t>03</a:t>
            </a:r>
            <a:endParaRPr lang="en-US" sz="900" dirty="0"/>
          </a:p>
        </p:txBody>
      </p:sp>
      <p:sp>
        <p:nvSpPr>
          <p:cNvPr id="16" name="Text 13"/>
          <p:cNvSpPr txBox="1"/>
          <p:nvPr/>
        </p:nvSpPr>
        <p:spPr>
          <a:xfrm>
            <a:off x="795528" y="333756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B1220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Investigates</a:t>
            </a:r>
            <a:endParaRPr lang="en-US" sz="1700" dirty="0"/>
          </a:p>
        </p:txBody>
      </p:sp>
      <p:sp>
        <p:nvSpPr>
          <p:cNvPr id="17" name="Text 14"/>
          <p:cNvSpPr txBox="1"/>
          <p:nvPr/>
        </p:nvSpPr>
        <p:spPr>
          <a:xfrm>
            <a:off x="1984248" y="3364992"/>
            <a:ext cx="29443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A455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When something drifts, a Google ADK agent gathers evidence, tests three to five explanations and ranks them.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411480" y="3803904"/>
            <a:ext cx="4526280" cy="0"/>
          </a:xfrm>
          <a:prstGeom prst="line">
            <a:avLst/>
          </a:prstGeom>
          <a:noFill/>
          <a:ln w="9525">
            <a:solidFill>
              <a:srgbClr val="E3E7EE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411480" y="389534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563EB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-120"/>
              </a:rPr>
              <a:t>04</a:t>
            </a:r>
            <a:endParaRPr lang="en-US" sz="900" dirty="0"/>
          </a:p>
        </p:txBody>
      </p:sp>
      <p:sp>
        <p:nvSpPr>
          <p:cNvPr id="20" name="Text 17"/>
          <p:cNvSpPr txBox="1"/>
          <p:nvPr/>
        </p:nvSpPr>
        <p:spPr>
          <a:xfrm>
            <a:off x="795528" y="3849624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B1220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Calls</a:t>
            </a:r>
            <a:endParaRPr lang="en-US" sz="1700" dirty="0"/>
          </a:p>
        </p:txBody>
      </p:sp>
      <p:sp>
        <p:nvSpPr>
          <p:cNvPr id="21" name="Text 18"/>
          <p:cNvSpPr txBox="1"/>
          <p:nvPr/>
        </p:nvSpPr>
        <p:spPr>
          <a:xfrm>
            <a:off x="1984248" y="3877056"/>
            <a:ext cx="29443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A455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If it turns critical, Muse rings the on-call engineer, reads a 20-second brief and takes the acknowledgement.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411480" y="4315968"/>
            <a:ext cx="4526280" cy="0"/>
          </a:xfrm>
          <a:prstGeom prst="line">
            <a:avLst/>
          </a:prstGeom>
          <a:noFill/>
          <a:ln w="9525">
            <a:solidFill>
              <a:srgbClr val="E3E7EE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411480" y="440740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563EB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-120"/>
              </a:rPr>
              <a:t>05</a:t>
            </a:r>
            <a:endParaRPr lang="en-US" sz="900" dirty="0"/>
          </a:p>
        </p:txBody>
      </p:sp>
      <p:sp>
        <p:nvSpPr>
          <p:cNvPr id="24" name="Text 21"/>
          <p:cNvSpPr txBox="1"/>
          <p:nvPr/>
        </p:nvSpPr>
        <p:spPr>
          <a:xfrm>
            <a:off x="795528" y="4361688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B1220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Learns</a:t>
            </a:r>
            <a:endParaRPr lang="en-US" sz="1700" dirty="0"/>
          </a:p>
        </p:txBody>
      </p:sp>
      <p:sp>
        <p:nvSpPr>
          <p:cNvPr id="25" name="Text 22"/>
          <p:cNvSpPr txBox="1"/>
          <p:nvPr/>
        </p:nvSpPr>
        <p:spPr>
          <a:xfrm>
            <a:off x="1984248" y="4389120"/>
            <a:ext cx="29443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A455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Fixes, photos and verdicts go back into the history the agent reads next time.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5193792" y="1380744"/>
            <a:ext cx="3575304" cy="2053536"/>
          </a:xfrm>
          <a:prstGeom prst="roundRect">
            <a:avLst>
              <a:gd name="adj" fmla="val 2226"/>
            </a:avLst>
          </a:prstGeom>
          <a:solidFill>
            <a:srgbClr val="FFFFFF"/>
          </a:solidFill>
          <a:ln w="9525">
            <a:solidFill>
              <a:srgbClr val="E3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B1220">
                <a:alpha val="14000"/>
              </a:srgbClr>
            </a:outerShdw>
          </a:effectLst>
        </p:spPr>
      </p:sp>
      <p:pic>
        <p:nvPicPr>
          <p:cNvPr id="2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30368" y="1417320"/>
            <a:ext cx="3502152" cy="1980384"/>
          </a:xfrm>
          <a:prstGeom prst="rect">
            <a:avLst/>
          </a:prstGeom>
        </p:spPr>
      </p:pic>
      <p:sp>
        <p:nvSpPr>
          <p:cNvPr id="28" name="Text 24"/>
          <p:cNvSpPr txBox="1"/>
          <p:nvPr/>
        </p:nvSpPr>
        <p:spPr>
          <a:xfrm>
            <a:off x="5230368" y="3547872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50" kern="0" dirty="0">
                <a:solidFill>
                  <a:srgbClr val="6B7686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-120"/>
              </a:rPr>
              <a:t>WHAT THE ON-CALL ENGINEER HEARS</a:t>
            </a:r>
            <a:endParaRPr lang="en-US" sz="750" dirty="0"/>
          </a:p>
        </p:txBody>
      </p:sp>
      <p:sp>
        <p:nvSpPr>
          <p:cNvPr id="29" name="Shape 25"/>
          <p:cNvSpPr/>
          <p:nvPr/>
        </p:nvSpPr>
        <p:spPr>
          <a:xfrm>
            <a:off x="5230368" y="3767328"/>
            <a:ext cx="2971800" cy="566928"/>
          </a:xfrm>
          <a:prstGeom prst="roundRect">
            <a:avLst>
              <a:gd name="adj" fmla="val 12903"/>
            </a:avLst>
          </a:prstGeom>
          <a:solidFill>
            <a:srgbClr val="F1EBFE"/>
          </a:solidFill>
          <a:ln/>
        </p:spPr>
      </p:sp>
      <p:sp>
        <p:nvSpPr>
          <p:cNvPr id="30" name="Text 26"/>
          <p:cNvSpPr txBox="1"/>
          <p:nvPr/>
        </p:nvSpPr>
        <p:spPr>
          <a:xfrm>
            <a:off x="5340096" y="3803904"/>
            <a:ext cx="2788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C3AED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-120"/>
              </a:rPr>
              <a:t>Muse  </a:t>
            </a:r>
            <a:pPr indent="0" marL="0">
              <a:buNone/>
            </a:pPr>
            <a:r>
              <a:rPr lang="en-US" sz="850" dirty="0">
                <a:solidFill>
                  <a:srgbClr val="0B122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Main conveyor vibration is climbing toward its limit. Most likely a worn bearing. Check the drive-end bearing first. Can you acknowledge?</a:t>
            </a:r>
            <a:endParaRPr lang="en-US" sz="850" dirty="0"/>
          </a:p>
        </p:txBody>
      </p:sp>
      <p:sp>
        <p:nvSpPr>
          <p:cNvPr id="31" name="Shape 27"/>
          <p:cNvSpPr/>
          <p:nvPr/>
        </p:nvSpPr>
        <p:spPr>
          <a:xfrm>
            <a:off x="6035040" y="4407408"/>
            <a:ext cx="2697480" cy="365760"/>
          </a:xfrm>
          <a:prstGeom prst="roundRect">
            <a:avLst>
              <a:gd name="adj" fmla="val 20000"/>
            </a:avLst>
          </a:prstGeom>
          <a:solidFill>
            <a:srgbClr val="E8F7EE"/>
          </a:solidFill>
          <a:ln/>
        </p:spPr>
      </p:sp>
      <p:sp>
        <p:nvSpPr>
          <p:cNvPr id="32" name="Text 28"/>
          <p:cNvSpPr txBox="1"/>
          <p:nvPr/>
        </p:nvSpPr>
        <p:spPr>
          <a:xfrm>
            <a:off x="6144768" y="440740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6A34A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-120"/>
              </a:rPr>
              <a:t>Maintenance lead  </a:t>
            </a:r>
            <a:pPr indent="0" marL="0">
              <a:buNone/>
            </a:pPr>
            <a:r>
              <a:rPr lang="en-US" sz="850" dirty="0">
                <a:solidFill>
                  <a:srgbClr val="0B122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Acknowledged. I'm there in ten minutes.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66760" y="4846320"/>
            <a:ext cx="36576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A0A8B5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411480" y="621792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200" kern="0" dirty="0">
                <a:solidFill>
                  <a:srgbClr val="2563EB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-120"/>
              </a:rPr>
              <a:t>01 / BRIEF ABOUT THE IDEA: THE PROBLEM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82296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0B1220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The know-how exists. It is stuck in a PDF and in one person's head</a:t>
            </a:r>
            <a:endParaRPr lang="en-US" sz="2500" dirty="0"/>
          </a:p>
        </p:txBody>
      </p:sp>
      <p:sp>
        <p:nvSpPr>
          <p:cNvPr id="5" name="Shape 2"/>
          <p:cNvSpPr/>
          <p:nvPr/>
        </p:nvSpPr>
        <p:spPr>
          <a:xfrm>
            <a:off x="411480" y="1389888"/>
            <a:ext cx="8321040" cy="749808"/>
          </a:xfrm>
          <a:prstGeom prst="roundRect">
            <a:avLst>
              <a:gd name="adj" fmla="val 7317"/>
            </a:avLst>
          </a:prstGeom>
          <a:solidFill>
            <a:srgbClr val="0E1A36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576072" y="1353312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60A5FA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“</a:t>
            </a:r>
            <a:endParaRPr lang="en-US" sz="5400" dirty="0"/>
          </a:p>
        </p:txBody>
      </p:sp>
      <p:sp>
        <p:nvSpPr>
          <p:cNvPr id="7" name="Text 4"/>
          <p:cNvSpPr txBox="1"/>
          <p:nvPr/>
        </p:nvSpPr>
        <p:spPr>
          <a:xfrm>
            <a:off x="1069848" y="1463040"/>
            <a:ext cx="6400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A bearing that has been warming for forty minutes gets noticed when the line stops. Then someone goes looking for the manual.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7360920" y="1481328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spc="100" kern="0" dirty="0">
                <a:solidFill>
                  <a:srgbClr val="93C5FD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-120"/>
              </a:rPr>
              <a:t>A TYPICAL BREAKDOWN</a:t>
            </a:r>
            <a:endParaRPr lang="en-US" sz="650" dirty="0"/>
          </a:p>
          <a:p>
            <a:pPr indent="0" marL="0">
              <a:buNone/>
            </a:pPr>
            <a:r>
              <a:rPr lang="en-US" sz="650" spc="100" kern="0" dirty="0">
                <a:solidFill>
                  <a:srgbClr val="93C5FD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-120"/>
              </a:rPr>
              <a:t>IN AN SME PLANT</a:t>
            </a:r>
            <a:endParaRPr lang="en-US" sz="650" dirty="0"/>
          </a:p>
        </p:txBody>
      </p:sp>
      <p:sp>
        <p:nvSpPr>
          <p:cNvPr id="9" name="Text 6"/>
          <p:cNvSpPr txBox="1"/>
          <p:nvPr/>
        </p:nvSpPr>
        <p:spPr>
          <a:xfrm>
            <a:off x="411480" y="23317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DC2626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-120"/>
              </a:rPr>
              <a:t>01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795528" y="228600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B1220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No monitoring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411480" y="2633472"/>
            <a:ext cx="2606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A455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SCADA, MES and condition-monitoring suites are priced and staffed for big plants. A shop with eight machines and one maintenance lead cannot buy, integrate or run them.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3218688" y="23317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DC2626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-120"/>
              </a:rPr>
              <a:t>02</a:t>
            </a:r>
            <a:endParaRPr lang="en-US" sz="900" dirty="0"/>
          </a:p>
        </p:txBody>
      </p:sp>
      <p:sp>
        <p:nvSpPr>
          <p:cNvPr id="13" name="Text 10"/>
          <p:cNvSpPr txBox="1"/>
          <p:nvPr/>
        </p:nvSpPr>
        <p:spPr>
          <a:xfrm>
            <a:off x="3602736" y="228600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B1220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Knowledge locked away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3218688" y="2633472"/>
            <a:ext cx="2606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A455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The manual says the bearing must stay under 85 °C and that heat plus vibration means wear. Nobody typed that into a system, and the one person who knows is on another shift.</a:t>
            </a:r>
            <a:endParaRPr lang="en-US" sz="900" dirty="0"/>
          </a:p>
        </p:txBody>
      </p:sp>
      <p:sp>
        <p:nvSpPr>
          <p:cNvPr id="15" name="Text 12"/>
          <p:cNvSpPr txBox="1"/>
          <p:nvPr/>
        </p:nvSpPr>
        <p:spPr>
          <a:xfrm>
            <a:off x="6025896" y="23317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DC2626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-120"/>
              </a:rPr>
              <a:t>03</a:t>
            </a:r>
            <a:endParaRPr lang="en-US" sz="900" dirty="0"/>
          </a:p>
        </p:txBody>
      </p:sp>
      <p:sp>
        <p:nvSpPr>
          <p:cNvPr id="16" name="Text 13"/>
          <p:cNvSpPr txBox="1"/>
          <p:nvPr/>
        </p:nvSpPr>
        <p:spPr>
          <a:xfrm>
            <a:off x="6409944" y="228600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B1220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Found late, fixed slowly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6025896" y="2633472"/>
            <a:ext cx="2606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A455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Threshold alarms fire after the limit is crossed and never say why. Diagnosis is guesswork, and downtime runs to hours.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411480" y="3611880"/>
            <a:ext cx="8321040" cy="0"/>
          </a:xfrm>
          <a:prstGeom prst="line">
            <a:avLst/>
          </a:prstGeom>
          <a:noFill/>
          <a:ln w="9525">
            <a:solidFill>
              <a:srgbClr val="E3E7EE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411480" y="373075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50" kern="0" dirty="0">
                <a:solidFill>
                  <a:srgbClr val="2563EB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-120"/>
              </a:rPr>
              <a:t>WHY NOW</a:t>
            </a:r>
            <a:endParaRPr lang="en-US" sz="750" dirty="0"/>
          </a:p>
        </p:txBody>
      </p:sp>
      <p:sp>
        <p:nvSpPr>
          <p:cNvPr id="20" name="Text 17"/>
          <p:cNvSpPr txBox="1"/>
          <p:nvPr/>
        </p:nvSpPr>
        <p:spPr>
          <a:xfrm>
            <a:off x="411480" y="3950208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0B1220"/>
                </a:solidFill>
                <a:latin typeface="Barlow SemiBold" pitchFamily="34" charset="0"/>
                <a:ea typeface="Barlow SemiBold" pitchFamily="34" charset="-122"/>
                <a:cs typeface="Barlow SemiBold" pitchFamily="34" charset="-120"/>
              </a:rPr>
              <a:t>Gemini </a:t>
            </a:r>
            <a:pPr indent="0" marL="0">
              <a:buNone/>
            </a:pPr>
            <a:r>
              <a:rPr lang="en-US" sz="850" dirty="0">
                <a:solidFill>
                  <a:srgbClr val="3A455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reads a 60-page scanned manual into structured limits with page citations.</a:t>
            </a:r>
            <a:endParaRPr lang="en-US" sz="850" dirty="0"/>
          </a:p>
        </p:txBody>
      </p:sp>
      <p:sp>
        <p:nvSpPr>
          <p:cNvPr id="21" name="Text 18"/>
          <p:cNvSpPr txBox="1"/>
          <p:nvPr/>
        </p:nvSpPr>
        <p:spPr>
          <a:xfrm>
            <a:off x="3108960" y="3950208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0B1220"/>
                </a:solidFill>
                <a:latin typeface="Barlow SemiBold" pitchFamily="34" charset="0"/>
                <a:ea typeface="Barlow SemiBold" pitchFamily="34" charset="-122"/>
                <a:cs typeface="Barlow SemiBold" pitchFamily="34" charset="-120"/>
              </a:rPr>
              <a:t>Google ADK </a:t>
            </a:r>
            <a:pPr indent="0" marL="0">
              <a:buNone/>
            </a:pPr>
            <a:r>
              <a:rPr lang="en-US" sz="850" dirty="0">
                <a:solidFill>
                  <a:srgbClr val="3A455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makes a multi-stage evidence pipeline a days-long build, not a year.</a:t>
            </a:r>
            <a:endParaRPr lang="en-US" sz="850" dirty="0"/>
          </a:p>
        </p:txBody>
      </p:sp>
      <p:sp>
        <p:nvSpPr>
          <p:cNvPr id="22" name="Text 19"/>
          <p:cNvSpPr txBox="1"/>
          <p:nvPr/>
        </p:nvSpPr>
        <p:spPr>
          <a:xfrm>
            <a:off x="411480" y="4389120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0B1220"/>
                </a:solidFill>
                <a:latin typeface="Barlow SemiBold" pitchFamily="34" charset="0"/>
                <a:ea typeface="Barlow SemiBold" pitchFamily="34" charset="-122"/>
                <a:cs typeface="Barlow SemiBold" pitchFamily="34" charset="-120"/>
              </a:rPr>
              <a:t>Gemini Live </a:t>
            </a:r>
            <a:pPr indent="0" marL="0">
              <a:buNone/>
            </a:pPr>
            <a:r>
              <a:rPr lang="en-US" sz="850" dirty="0">
                <a:solidFill>
                  <a:srgbClr val="3A455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makes a natural phone call with tool use practical, in Indian English.</a:t>
            </a:r>
            <a:endParaRPr lang="en-US" sz="850" dirty="0"/>
          </a:p>
        </p:txBody>
      </p:sp>
      <p:sp>
        <p:nvSpPr>
          <p:cNvPr id="23" name="Text 20"/>
          <p:cNvSpPr txBox="1"/>
          <p:nvPr/>
        </p:nvSpPr>
        <p:spPr>
          <a:xfrm>
            <a:off x="3108960" y="4389120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0B1220"/>
                </a:solidFill>
                <a:latin typeface="Barlow SemiBold" pitchFamily="34" charset="0"/>
                <a:ea typeface="Barlow SemiBold" pitchFamily="34" charset="-122"/>
                <a:cs typeface="Barlow SemiBold" pitchFamily="34" charset="-120"/>
              </a:rPr>
              <a:t>Cloud Run + managed data </a:t>
            </a:r>
            <a:pPr indent="0" marL="0">
              <a:buNone/>
            </a:pPr>
            <a:r>
              <a:rPr lang="en-US" sz="850" dirty="0">
                <a:solidFill>
                  <a:srgbClr val="3A455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remove the ops work, so a plant costs about $100 a month.</a:t>
            </a:r>
            <a:endParaRPr lang="en-US" sz="850" dirty="0"/>
          </a:p>
        </p:txBody>
      </p:sp>
      <p:sp>
        <p:nvSpPr>
          <p:cNvPr id="24" name="Text 21"/>
          <p:cNvSpPr txBox="1"/>
          <p:nvPr/>
        </p:nvSpPr>
        <p:spPr>
          <a:xfrm>
            <a:off x="5989320" y="373075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50" kern="0" dirty="0">
                <a:solidFill>
                  <a:srgbClr val="2563EB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-120"/>
              </a:rPr>
              <a:t>BUILT FOR</a:t>
            </a:r>
            <a:endParaRPr lang="en-US" sz="750" dirty="0"/>
          </a:p>
        </p:txBody>
      </p:sp>
      <p:sp>
        <p:nvSpPr>
          <p:cNvPr id="25" name="Shape 22"/>
          <p:cNvSpPr/>
          <p:nvPr/>
        </p:nvSpPr>
        <p:spPr>
          <a:xfrm>
            <a:off x="5989320" y="4023360"/>
            <a:ext cx="73152" cy="73152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6144768" y="3959352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B122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SME plants with 5 to 50 machines</a:t>
            </a:r>
            <a:endParaRPr lang="en-US" sz="850" dirty="0"/>
          </a:p>
        </p:txBody>
      </p:sp>
      <p:sp>
        <p:nvSpPr>
          <p:cNvPr id="27" name="Shape 24"/>
          <p:cNvSpPr/>
          <p:nvPr/>
        </p:nvSpPr>
        <p:spPr>
          <a:xfrm>
            <a:off x="5989320" y="4297680"/>
            <a:ext cx="73152" cy="73152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28" name="Text 25"/>
          <p:cNvSpPr txBox="1"/>
          <p:nvPr/>
        </p:nvSpPr>
        <p:spPr>
          <a:xfrm>
            <a:off x="6144768" y="4233672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B122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Maintenance leads who need to know what to check first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5989320" y="4572000"/>
            <a:ext cx="73152" cy="73152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30" name="Text 27"/>
          <p:cNvSpPr txBox="1"/>
          <p:nvPr/>
        </p:nvSpPr>
        <p:spPr>
          <a:xfrm>
            <a:off x="6144768" y="4507992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B122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Integrators setting up many plants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66760" y="4846320"/>
            <a:ext cx="36576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A0A8B5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411480" y="621792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200" kern="0" dirty="0">
                <a:solidFill>
                  <a:srgbClr val="2563EB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-120"/>
              </a:rPr>
              <a:t>02 / OPPORTUNITIES: HOW IS IT DIFFERENT?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82296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0B1220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Others show you data. We tell you what is wrong and who is fixing it</a:t>
            </a:r>
            <a:endParaRPr lang="en-US" sz="2300" dirty="0"/>
          </a:p>
        </p:txBody>
      </p:sp>
      <p:sp>
        <p:nvSpPr>
          <p:cNvPr id="5" name="Shape 2"/>
          <p:cNvSpPr/>
          <p:nvPr/>
        </p:nvSpPr>
        <p:spPr>
          <a:xfrm>
            <a:off x="7052310" y="1417320"/>
            <a:ext cx="1680210" cy="3127248"/>
          </a:xfrm>
          <a:prstGeom prst="rect">
            <a:avLst/>
          </a:prstGeom>
          <a:solidFill>
            <a:srgbClr val="EAF1FF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2103120" y="1417320"/>
            <a:ext cx="149733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80" kern="0" dirty="0">
                <a:solidFill>
                  <a:srgbClr val="6B7686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-120"/>
              </a:rPr>
              <a:t>INDUSTRIAL IOT PLATFORMS</a:t>
            </a:r>
            <a:endParaRPr lang="en-US" sz="700" dirty="0"/>
          </a:p>
        </p:txBody>
      </p:sp>
      <p:sp>
        <p:nvSpPr>
          <p:cNvPr id="7" name="Text 4"/>
          <p:cNvSpPr txBox="1"/>
          <p:nvPr/>
        </p:nvSpPr>
        <p:spPr>
          <a:xfrm>
            <a:off x="3783330" y="1417320"/>
            <a:ext cx="149733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80" kern="0" dirty="0">
                <a:solidFill>
                  <a:srgbClr val="6B7686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-120"/>
              </a:rPr>
              <a:t>PLC THRESHOLD ALARMS</a:t>
            </a:r>
            <a:endParaRPr lang="en-US" sz="700" dirty="0"/>
          </a:p>
        </p:txBody>
      </p:sp>
      <p:sp>
        <p:nvSpPr>
          <p:cNvPr id="8" name="Text 5"/>
          <p:cNvSpPr txBox="1"/>
          <p:nvPr/>
        </p:nvSpPr>
        <p:spPr>
          <a:xfrm>
            <a:off x="5463540" y="1417320"/>
            <a:ext cx="149733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80" kern="0" dirty="0">
                <a:solidFill>
                  <a:srgbClr val="6B7686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-120"/>
              </a:rPr>
              <a:t>“CHAT WITH YOUR PDF”</a:t>
            </a:r>
            <a:endParaRPr lang="en-US" sz="700" dirty="0"/>
          </a:p>
        </p:txBody>
      </p:sp>
      <p:sp>
        <p:nvSpPr>
          <p:cNvPr id="9" name="Shape 6"/>
          <p:cNvSpPr/>
          <p:nvPr/>
        </p:nvSpPr>
        <p:spPr>
          <a:xfrm>
            <a:off x="7052310" y="1417320"/>
            <a:ext cx="1680210" cy="38404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7143750" y="1417320"/>
            <a:ext cx="149733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80" kern="0" dirty="0">
                <a:solidFill>
                  <a:srgbClr val="FFFFFF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-120"/>
              </a:rPr>
              <a:t>BATCHGUARD AI</a:t>
            </a:r>
            <a:endParaRPr lang="en-US" sz="700" dirty="0"/>
          </a:p>
        </p:txBody>
      </p:sp>
      <p:sp>
        <p:nvSpPr>
          <p:cNvPr id="11" name="Shape 8"/>
          <p:cNvSpPr/>
          <p:nvPr/>
        </p:nvSpPr>
        <p:spPr>
          <a:xfrm>
            <a:off x="411480" y="1801368"/>
            <a:ext cx="8321040" cy="0"/>
          </a:xfrm>
          <a:prstGeom prst="line">
            <a:avLst/>
          </a:prstGeom>
          <a:noFill/>
          <a:ln w="9525">
            <a:solidFill>
              <a:srgbClr val="E3E7EE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11480" y="1801368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220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Setting up a machine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2103120" y="1988820"/>
            <a:ext cx="82296" cy="82296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2249424" y="1801368"/>
            <a:ext cx="138760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A455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Weeks of integration, priced per data point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3783330" y="1988820"/>
            <a:ext cx="82296" cy="82296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3929634" y="1801368"/>
            <a:ext cx="138760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A455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Each limit hand-programmed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5463540" y="1988820"/>
            <a:ext cx="82296" cy="82296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5609844" y="1801368"/>
            <a:ext cx="138760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A455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Minutes, but never connected to the machine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7143750" y="1988820"/>
            <a:ext cx="82296" cy="82296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7290054" y="1801368"/>
            <a:ext cx="138760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B1220"/>
                </a:solidFill>
                <a:latin typeface="Barlow SemiBold" pitchFamily="34" charset="0"/>
                <a:ea typeface="Barlow SemiBold" pitchFamily="34" charset="-122"/>
                <a:cs typeface="Barlow SemiBold" pitchFamily="34" charset="-120"/>
              </a:rPr>
              <a:t>Minutes: upload the manual, verify, get a key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411480" y="2258568"/>
            <a:ext cx="8321040" cy="0"/>
          </a:xfrm>
          <a:prstGeom prst="line">
            <a:avLst/>
          </a:prstGeom>
          <a:noFill/>
          <a:ln w="9525">
            <a:solidFill>
              <a:srgbClr val="E3E7EE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411480" y="2258568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220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Sees the live machine</a:t>
            </a:r>
            <a:endParaRPr lang="en-US" sz="1250" dirty="0"/>
          </a:p>
        </p:txBody>
      </p:sp>
      <p:sp>
        <p:nvSpPr>
          <p:cNvPr id="23" name="Shape 20"/>
          <p:cNvSpPr/>
          <p:nvPr/>
        </p:nvSpPr>
        <p:spPr>
          <a:xfrm>
            <a:off x="2103120" y="2446020"/>
            <a:ext cx="82296" cy="82296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2249424" y="2258568"/>
            <a:ext cx="138760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A455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Yes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3783330" y="2446020"/>
            <a:ext cx="82296" cy="82296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3929634" y="2258568"/>
            <a:ext cx="138760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A455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Yes, on the HMI</a:t>
            </a:r>
            <a:endParaRPr lang="en-US" sz="850" dirty="0"/>
          </a:p>
        </p:txBody>
      </p:sp>
      <p:sp>
        <p:nvSpPr>
          <p:cNvPr id="27" name="Shape 24"/>
          <p:cNvSpPr/>
          <p:nvPr/>
        </p:nvSpPr>
        <p:spPr>
          <a:xfrm>
            <a:off x="5463540" y="2446020"/>
            <a:ext cx="82296" cy="82296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8" name="Text 25"/>
          <p:cNvSpPr txBox="1"/>
          <p:nvPr/>
        </p:nvSpPr>
        <p:spPr>
          <a:xfrm>
            <a:off x="5609844" y="2258568"/>
            <a:ext cx="138760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A455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No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7143750" y="2446020"/>
            <a:ext cx="82296" cy="82296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30" name="Text 27"/>
          <p:cNvSpPr txBox="1"/>
          <p:nvPr/>
        </p:nvSpPr>
        <p:spPr>
          <a:xfrm>
            <a:off x="7290054" y="2258568"/>
            <a:ext cx="138760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B1220"/>
                </a:solidFill>
                <a:latin typeface="Barlow SemiBold" pitchFamily="34" charset="0"/>
                <a:ea typeface="Barlow SemiBold" pitchFamily="34" charset="-122"/>
                <a:cs typeface="Barlow SemiBold" pitchFamily="34" charset="-120"/>
              </a:rPr>
              <a:t>Every second, per-machine API, live stream</a:t>
            </a:r>
            <a:endParaRPr lang="en-US" sz="850" dirty="0"/>
          </a:p>
        </p:txBody>
      </p:sp>
      <p:sp>
        <p:nvSpPr>
          <p:cNvPr id="31" name="Shape 28"/>
          <p:cNvSpPr/>
          <p:nvPr/>
        </p:nvSpPr>
        <p:spPr>
          <a:xfrm>
            <a:off x="411480" y="2715768"/>
            <a:ext cx="8321040" cy="0"/>
          </a:xfrm>
          <a:prstGeom prst="line">
            <a:avLst/>
          </a:prstGeom>
          <a:noFill/>
          <a:ln w="9525">
            <a:solidFill>
              <a:srgbClr val="E3E7EE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411480" y="2715768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220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Warns before the limit</a:t>
            </a:r>
            <a:endParaRPr lang="en-US" sz="1250" dirty="0"/>
          </a:p>
        </p:txBody>
      </p:sp>
      <p:sp>
        <p:nvSpPr>
          <p:cNvPr id="33" name="Shape 30"/>
          <p:cNvSpPr/>
          <p:nvPr/>
        </p:nvSpPr>
        <p:spPr>
          <a:xfrm>
            <a:off x="2103120" y="2903220"/>
            <a:ext cx="82296" cy="82296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34" name="Text 31"/>
          <p:cNvSpPr txBox="1"/>
          <p:nvPr/>
        </p:nvSpPr>
        <p:spPr>
          <a:xfrm>
            <a:off x="2249424" y="2715768"/>
            <a:ext cx="138760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A455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Through add-on analytics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3783330" y="2903220"/>
            <a:ext cx="82296" cy="82296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36" name="Text 33"/>
          <p:cNvSpPr txBox="1"/>
          <p:nvPr/>
        </p:nvSpPr>
        <p:spPr>
          <a:xfrm>
            <a:off x="3929634" y="2715768"/>
            <a:ext cx="138760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A455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Only after it is crossed</a:t>
            </a:r>
            <a:endParaRPr lang="en-US" sz="850" dirty="0"/>
          </a:p>
        </p:txBody>
      </p:sp>
      <p:sp>
        <p:nvSpPr>
          <p:cNvPr id="37" name="Shape 34"/>
          <p:cNvSpPr/>
          <p:nvPr/>
        </p:nvSpPr>
        <p:spPr>
          <a:xfrm>
            <a:off x="5463540" y="2903220"/>
            <a:ext cx="82296" cy="82296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38" name="Text 35"/>
          <p:cNvSpPr txBox="1"/>
          <p:nvPr/>
        </p:nvSpPr>
        <p:spPr>
          <a:xfrm>
            <a:off x="5609844" y="2715768"/>
            <a:ext cx="138760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A455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No</a:t>
            </a:r>
            <a:endParaRPr lang="en-US" sz="850" dirty="0"/>
          </a:p>
        </p:txBody>
      </p:sp>
      <p:sp>
        <p:nvSpPr>
          <p:cNvPr id="39" name="Shape 36"/>
          <p:cNvSpPr/>
          <p:nvPr/>
        </p:nvSpPr>
        <p:spPr>
          <a:xfrm>
            <a:off x="7143750" y="2903220"/>
            <a:ext cx="82296" cy="82296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40" name="Text 37"/>
          <p:cNvSpPr txBox="1"/>
          <p:nvPr/>
        </p:nvSpPr>
        <p:spPr>
          <a:xfrm>
            <a:off x="7290054" y="2715768"/>
            <a:ext cx="138760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B1220"/>
                </a:solidFill>
                <a:latin typeface="Barlow SemiBold" pitchFamily="34" charset="0"/>
                <a:ea typeface="Barlow SemiBold" pitchFamily="34" charset="-122"/>
                <a:cs typeface="Barlow SemiBold" pitchFamily="34" charset="-120"/>
              </a:rPr>
              <a:t>Trend, anomaly and a time-to-limit forecast</a:t>
            </a:r>
            <a:endParaRPr lang="en-US" sz="850" dirty="0"/>
          </a:p>
        </p:txBody>
      </p:sp>
      <p:sp>
        <p:nvSpPr>
          <p:cNvPr id="41" name="Shape 38"/>
          <p:cNvSpPr/>
          <p:nvPr/>
        </p:nvSpPr>
        <p:spPr>
          <a:xfrm>
            <a:off x="411480" y="3172968"/>
            <a:ext cx="8321040" cy="0"/>
          </a:xfrm>
          <a:prstGeom prst="line">
            <a:avLst/>
          </a:prstGeom>
          <a:noFill/>
          <a:ln w="9525">
            <a:solidFill>
              <a:srgbClr val="E3E7EE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411480" y="3172968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220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Explains why</a:t>
            </a:r>
            <a:endParaRPr lang="en-US" sz="1250" dirty="0"/>
          </a:p>
        </p:txBody>
      </p:sp>
      <p:sp>
        <p:nvSpPr>
          <p:cNvPr id="43" name="Shape 40"/>
          <p:cNvSpPr/>
          <p:nvPr/>
        </p:nvSpPr>
        <p:spPr>
          <a:xfrm>
            <a:off x="2103120" y="3360420"/>
            <a:ext cx="82296" cy="82296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44" name="Text 41"/>
          <p:cNvSpPr txBox="1"/>
          <p:nvPr/>
        </p:nvSpPr>
        <p:spPr>
          <a:xfrm>
            <a:off x="2249424" y="3172968"/>
            <a:ext cx="138760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A455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Charts a person must interpret</a:t>
            </a:r>
            <a:endParaRPr lang="en-US" sz="850" dirty="0"/>
          </a:p>
        </p:txBody>
      </p:sp>
      <p:sp>
        <p:nvSpPr>
          <p:cNvPr id="45" name="Shape 42"/>
          <p:cNvSpPr/>
          <p:nvPr/>
        </p:nvSpPr>
        <p:spPr>
          <a:xfrm>
            <a:off x="3783330" y="3360420"/>
            <a:ext cx="82296" cy="82296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46" name="Text 43"/>
          <p:cNvSpPr txBox="1"/>
          <p:nvPr/>
        </p:nvSpPr>
        <p:spPr>
          <a:xfrm>
            <a:off x="3929634" y="3172968"/>
            <a:ext cx="138760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A455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Never</a:t>
            </a:r>
            <a:endParaRPr lang="en-US" sz="850" dirty="0"/>
          </a:p>
        </p:txBody>
      </p:sp>
      <p:sp>
        <p:nvSpPr>
          <p:cNvPr id="47" name="Shape 44"/>
          <p:cNvSpPr/>
          <p:nvPr/>
        </p:nvSpPr>
        <p:spPr>
          <a:xfrm>
            <a:off x="5463540" y="3360420"/>
            <a:ext cx="82296" cy="82296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48" name="Text 45"/>
          <p:cNvSpPr txBox="1"/>
          <p:nvPr/>
        </p:nvSpPr>
        <p:spPr>
          <a:xfrm>
            <a:off x="5609844" y="3172968"/>
            <a:ext cx="138760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A455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Knows the manual, not the data</a:t>
            </a:r>
            <a:endParaRPr lang="en-US" sz="850" dirty="0"/>
          </a:p>
        </p:txBody>
      </p:sp>
      <p:sp>
        <p:nvSpPr>
          <p:cNvPr id="49" name="Shape 46"/>
          <p:cNvSpPr/>
          <p:nvPr/>
        </p:nvSpPr>
        <p:spPr>
          <a:xfrm>
            <a:off x="7143750" y="3360420"/>
            <a:ext cx="82296" cy="82296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50" name="Text 47"/>
          <p:cNvSpPr txBox="1"/>
          <p:nvPr/>
        </p:nvSpPr>
        <p:spPr>
          <a:xfrm>
            <a:off x="7290054" y="3172968"/>
            <a:ext cx="138760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B1220"/>
                </a:solidFill>
                <a:latin typeface="Barlow SemiBold" pitchFamily="34" charset="0"/>
                <a:ea typeface="Barlow SemiBold" pitchFamily="34" charset="-122"/>
                <a:cs typeface="Barlow SemiBold" pitchFamily="34" charset="-120"/>
              </a:rPr>
              <a:t>Ranked causes, evidence for and against, manual page</a:t>
            </a:r>
            <a:endParaRPr lang="en-US" sz="850" dirty="0"/>
          </a:p>
        </p:txBody>
      </p:sp>
      <p:sp>
        <p:nvSpPr>
          <p:cNvPr id="51" name="Shape 48"/>
          <p:cNvSpPr/>
          <p:nvPr/>
        </p:nvSpPr>
        <p:spPr>
          <a:xfrm>
            <a:off x="411480" y="3630168"/>
            <a:ext cx="8321040" cy="0"/>
          </a:xfrm>
          <a:prstGeom prst="line">
            <a:avLst/>
          </a:prstGeom>
          <a:noFill/>
          <a:ln w="9525">
            <a:solidFill>
              <a:srgbClr val="E3E7EE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411480" y="3630168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220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Gets a person to act</a:t>
            </a:r>
            <a:endParaRPr lang="en-US" sz="1250" dirty="0"/>
          </a:p>
        </p:txBody>
      </p:sp>
      <p:sp>
        <p:nvSpPr>
          <p:cNvPr id="53" name="Shape 50"/>
          <p:cNvSpPr/>
          <p:nvPr/>
        </p:nvSpPr>
        <p:spPr>
          <a:xfrm>
            <a:off x="2103120" y="3817620"/>
            <a:ext cx="82296" cy="82296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54" name="Text 51"/>
          <p:cNvSpPr txBox="1"/>
          <p:nvPr/>
        </p:nvSpPr>
        <p:spPr>
          <a:xfrm>
            <a:off x="2249424" y="3630168"/>
            <a:ext cx="138760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A455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Alerts and email</a:t>
            </a:r>
            <a:endParaRPr lang="en-US" sz="850" dirty="0"/>
          </a:p>
        </p:txBody>
      </p:sp>
      <p:sp>
        <p:nvSpPr>
          <p:cNvPr id="55" name="Shape 52"/>
          <p:cNvSpPr/>
          <p:nvPr/>
        </p:nvSpPr>
        <p:spPr>
          <a:xfrm>
            <a:off x="3783330" y="3817620"/>
            <a:ext cx="82296" cy="82296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56" name="Text 53"/>
          <p:cNvSpPr txBox="1"/>
          <p:nvPr/>
        </p:nvSpPr>
        <p:spPr>
          <a:xfrm>
            <a:off x="3929634" y="3630168"/>
            <a:ext cx="138760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A455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 horn or a banner</a:t>
            </a:r>
            <a:endParaRPr lang="en-US" sz="850" dirty="0"/>
          </a:p>
        </p:txBody>
      </p:sp>
      <p:sp>
        <p:nvSpPr>
          <p:cNvPr id="57" name="Shape 54"/>
          <p:cNvSpPr/>
          <p:nvPr/>
        </p:nvSpPr>
        <p:spPr>
          <a:xfrm>
            <a:off x="5463540" y="3817620"/>
            <a:ext cx="82296" cy="82296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58" name="Text 55"/>
          <p:cNvSpPr txBox="1"/>
          <p:nvPr/>
        </p:nvSpPr>
        <p:spPr>
          <a:xfrm>
            <a:off x="5609844" y="3630168"/>
            <a:ext cx="138760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A455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No</a:t>
            </a:r>
            <a:endParaRPr lang="en-US" sz="850" dirty="0"/>
          </a:p>
        </p:txBody>
      </p:sp>
      <p:sp>
        <p:nvSpPr>
          <p:cNvPr id="59" name="Shape 56"/>
          <p:cNvSpPr/>
          <p:nvPr/>
        </p:nvSpPr>
        <p:spPr>
          <a:xfrm>
            <a:off x="7143750" y="3817620"/>
            <a:ext cx="82296" cy="82296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60" name="Text 57"/>
          <p:cNvSpPr txBox="1"/>
          <p:nvPr/>
        </p:nvSpPr>
        <p:spPr>
          <a:xfrm>
            <a:off x="7290054" y="3630168"/>
            <a:ext cx="138760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B1220"/>
                </a:solidFill>
                <a:latin typeface="Barlow SemiBold" pitchFamily="34" charset="0"/>
                <a:ea typeface="Barlow SemiBold" pitchFamily="34" charset="-122"/>
                <a:cs typeface="Barlow SemiBold" pitchFamily="34" charset="-120"/>
              </a:rPr>
              <a:t>Email, then a phone call, then the next contact</a:t>
            </a:r>
            <a:endParaRPr lang="en-US" sz="850" dirty="0"/>
          </a:p>
        </p:txBody>
      </p:sp>
      <p:sp>
        <p:nvSpPr>
          <p:cNvPr id="61" name="Shape 58"/>
          <p:cNvSpPr/>
          <p:nvPr/>
        </p:nvSpPr>
        <p:spPr>
          <a:xfrm>
            <a:off x="411480" y="4087368"/>
            <a:ext cx="8321040" cy="0"/>
          </a:xfrm>
          <a:prstGeom prst="line">
            <a:avLst/>
          </a:prstGeom>
          <a:noFill/>
          <a:ln w="9525">
            <a:solidFill>
              <a:srgbClr val="E3E7EE"/>
            </a:solidFill>
            <a:prstDash val="solid"/>
          </a:ln>
        </p:spPr>
      </p:sp>
      <p:sp>
        <p:nvSpPr>
          <p:cNvPr id="62" name="Text 59"/>
          <p:cNvSpPr txBox="1"/>
          <p:nvPr/>
        </p:nvSpPr>
        <p:spPr>
          <a:xfrm>
            <a:off x="411480" y="4087368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220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Fits an SME</a:t>
            </a:r>
            <a:endParaRPr lang="en-US" sz="1250" dirty="0"/>
          </a:p>
        </p:txBody>
      </p:sp>
      <p:sp>
        <p:nvSpPr>
          <p:cNvPr id="63" name="Shape 60"/>
          <p:cNvSpPr/>
          <p:nvPr/>
        </p:nvSpPr>
        <p:spPr>
          <a:xfrm>
            <a:off x="2103120" y="4274820"/>
            <a:ext cx="82296" cy="82296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64" name="Text 61"/>
          <p:cNvSpPr txBox="1"/>
          <p:nvPr/>
        </p:nvSpPr>
        <p:spPr>
          <a:xfrm>
            <a:off x="2249424" y="4087368"/>
            <a:ext cx="138760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A455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Specialist staff and licences</a:t>
            </a:r>
            <a:endParaRPr lang="en-US" sz="850" dirty="0"/>
          </a:p>
        </p:txBody>
      </p:sp>
      <p:sp>
        <p:nvSpPr>
          <p:cNvPr id="65" name="Shape 62"/>
          <p:cNvSpPr/>
          <p:nvPr/>
        </p:nvSpPr>
        <p:spPr>
          <a:xfrm>
            <a:off x="3783330" y="4274820"/>
            <a:ext cx="82296" cy="82296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66" name="Text 63"/>
          <p:cNvSpPr txBox="1"/>
          <p:nvPr/>
        </p:nvSpPr>
        <p:spPr>
          <a:xfrm>
            <a:off x="3929634" y="4087368"/>
            <a:ext cx="138760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A455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Cheap, but blind</a:t>
            </a:r>
            <a:endParaRPr lang="en-US" sz="850" dirty="0"/>
          </a:p>
        </p:txBody>
      </p:sp>
      <p:sp>
        <p:nvSpPr>
          <p:cNvPr id="67" name="Shape 64"/>
          <p:cNvSpPr/>
          <p:nvPr/>
        </p:nvSpPr>
        <p:spPr>
          <a:xfrm>
            <a:off x="5463540" y="4274820"/>
            <a:ext cx="82296" cy="82296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68" name="Text 65"/>
          <p:cNvSpPr txBox="1"/>
          <p:nvPr/>
        </p:nvSpPr>
        <p:spPr>
          <a:xfrm>
            <a:off x="5609844" y="4087368"/>
            <a:ext cx="138760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A455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Cheap</a:t>
            </a:r>
            <a:endParaRPr lang="en-US" sz="850" dirty="0"/>
          </a:p>
        </p:txBody>
      </p:sp>
      <p:sp>
        <p:nvSpPr>
          <p:cNvPr id="69" name="Shape 66"/>
          <p:cNvSpPr/>
          <p:nvPr/>
        </p:nvSpPr>
        <p:spPr>
          <a:xfrm>
            <a:off x="7143750" y="4274820"/>
            <a:ext cx="82296" cy="82296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70" name="Text 67"/>
          <p:cNvSpPr txBox="1"/>
          <p:nvPr/>
        </p:nvSpPr>
        <p:spPr>
          <a:xfrm>
            <a:off x="7290054" y="4087368"/>
            <a:ext cx="138760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B1220"/>
                </a:solidFill>
                <a:latin typeface="Barlow SemiBold" pitchFamily="34" charset="0"/>
                <a:ea typeface="Barlow SemiBold" pitchFamily="34" charset="-122"/>
                <a:cs typeface="Barlow SemiBold" pitchFamily="34" charset="-120"/>
              </a:rPr>
              <a:t>About $100 a month, nothing to run</a:t>
            </a:r>
            <a:endParaRPr lang="en-US" sz="850" dirty="0"/>
          </a:p>
        </p:txBody>
      </p:sp>
      <p:sp>
        <p:nvSpPr>
          <p:cNvPr id="71" name="Shape 68"/>
          <p:cNvSpPr/>
          <p:nvPr/>
        </p:nvSpPr>
        <p:spPr>
          <a:xfrm>
            <a:off x="411480" y="4544568"/>
            <a:ext cx="8321040" cy="0"/>
          </a:xfrm>
          <a:prstGeom prst="line">
            <a:avLst/>
          </a:prstGeom>
          <a:noFill/>
          <a:ln w="9525">
            <a:solidFill>
              <a:srgbClr val="E3E7EE"/>
            </a:solidFill>
            <a:prstDash val="solid"/>
          </a:ln>
        </p:spPr>
      </p:sp>
      <p:sp>
        <p:nvSpPr>
          <p:cNvPr id="72" name="Text 69"/>
          <p:cNvSpPr txBox="1"/>
          <p:nvPr/>
        </p:nvSpPr>
        <p:spPr>
          <a:xfrm>
            <a:off x="411480" y="4617720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563EB"/>
                </a:solidFill>
                <a:latin typeface="Barlow SemiBold" pitchFamily="34" charset="0"/>
                <a:ea typeface="Barlow SemiBold" pitchFamily="34" charset="-122"/>
                <a:cs typeface="Barlow SemiBold" pitchFamily="34" charset="-120"/>
              </a:rPr>
              <a:t>Only BatchGuard closes the loop from a raw reading to a person on the phone who knows what to check.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66760" y="4846320"/>
            <a:ext cx="36576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A0A8B5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411480" y="621792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200" kern="0" dirty="0">
                <a:solidFill>
                  <a:srgbClr val="2563EB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-120"/>
              </a:rPr>
              <a:t>02 / OPPORTUNITIES: HOW IT SOLVES THE PROBLEM, AND OUR USP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82296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0B1220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Five things you will not find together anywhere else</a:t>
            </a:r>
            <a:endParaRPr lang="en-US" sz="2500" dirty="0"/>
          </a:p>
        </p:txBody>
      </p:sp>
      <p:sp>
        <p:nvSpPr>
          <p:cNvPr id="5" name="Text 2"/>
          <p:cNvSpPr txBox="1"/>
          <p:nvPr/>
        </p:nvSpPr>
        <p:spPr>
          <a:xfrm>
            <a:off x="411480" y="1389888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50" kern="0" dirty="0">
                <a:solidFill>
                  <a:srgbClr val="2563EB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-120"/>
              </a:rPr>
              <a:t>HOW IT SOLVES THE PROBLEM</a:t>
            </a:r>
            <a:endParaRPr lang="en-US" sz="750" dirty="0"/>
          </a:p>
        </p:txBody>
      </p:sp>
      <p:sp>
        <p:nvSpPr>
          <p:cNvPr id="6" name="Shape 3"/>
          <p:cNvSpPr/>
          <p:nvPr/>
        </p:nvSpPr>
        <p:spPr>
          <a:xfrm>
            <a:off x="411480" y="1664208"/>
            <a:ext cx="3749040" cy="0"/>
          </a:xfrm>
          <a:prstGeom prst="line">
            <a:avLst/>
          </a:prstGeom>
          <a:noFill/>
          <a:ln w="9525">
            <a:solidFill>
              <a:srgbClr val="E3E7EE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11480" y="1819656"/>
            <a:ext cx="82296" cy="82296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576072" y="175564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DC2626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-120"/>
              </a:rPr>
              <a:t>NO MONITORING</a:t>
            </a:r>
            <a:endParaRPr lang="en-US" sz="750" dirty="0"/>
          </a:p>
        </p:txBody>
      </p:sp>
      <p:sp>
        <p:nvSpPr>
          <p:cNvPr id="9" name="Text 6"/>
          <p:cNvSpPr txBox="1"/>
          <p:nvPr/>
        </p:nvSpPr>
        <p:spPr>
          <a:xfrm>
            <a:off x="576072" y="1993392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0B122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Any machine with a sensor or a PLC gateway posts readings to its own keyed endpoint. Cloud Run and managed Google data services mean there is nothing for the plant to operate.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411480" y="2688336"/>
            <a:ext cx="3749040" cy="0"/>
          </a:xfrm>
          <a:prstGeom prst="line">
            <a:avLst/>
          </a:prstGeom>
          <a:noFill/>
          <a:ln w="9525">
            <a:solidFill>
              <a:srgbClr val="E3E7EE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11480" y="2843784"/>
            <a:ext cx="82296" cy="82296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576072" y="2779776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DC2626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-120"/>
              </a:rPr>
              <a:t>KNOWLEDGE LOCKED AWAY</a:t>
            </a:r>
            <a:endParaRPr lang="en-US" sz="750" dirty="0"/>
          </a:p>
        </p:txBody>
      </p:sp>
      <p:sp>
        <p:nvSpPr>
          <p:cNvPr id="13" name="Text 10"/>
          <p:cNvSpPr txBox="1"/>
          <p:nvPr/>
        </p:nvSpPr>
        <p:spPr>
          <a:xfrm>
            <a:off x="576072" y="3017520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0B122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Gemini turns the manual into verified limits and knowledge passages, fault tables and maintenance intervals, that the agent cites by page.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411480" y="3712464"/>
            <a:ext cx="3749040" cy="0"/>
          </a:xfrm>
          <a:prstGeom prst="line">
            <a:avLst/>
          </a:prstGeom>
          <a:noFill/>
          <a:ln w="9525">
            <a:solidFill>
              <a:srgbClr val="E3E7EE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11480" y="3867912"/>
            <a:ext cx="82296" cy="82296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576072" y="3803904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DC2626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-120"/>
              </a:rPr>
              <a:t>FOUND LATE, FIXED SLOWLY</a:t>
            </a:r>
            <a:endParaRPr lang="en-US" sz="750" dirty="0"/>
          </a:p>
        </p:txBody>
      </p:sp>
      <p:sp>
        <p:nvSpPr>
          <p:cNvPr id="17" name="Text 14"/>
          <p:cNvSpPr txBox="1"/>
          <p:nvPr/>
        </p:nvSpPr>
        <p:spPr>
          <a:xfrm>
            <a:off x="576072" y="4041648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0B122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Deterministic checks flag drift on every reading. The ADK agent returns ranked causes with evidence and the first check, then phones the on-call contact.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4434840" y="1417320"/>
            <a:ext cx="0" cy="3429000"/>
          </a:xfrm>
          <a:prstGeom prst="line">
            <a:avLst/>
          </a:prstGeom>
          <a:noFill/>
          <a:ln w="9525">
            <a:solidFill>
              <a:srgbClr val="E3E7EE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4709160" y="1389888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50" kern="0" dirty="0">
                <a:solidFill>
                  <a:srgbClr val="2563EB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-120"/>
              </a:rPr>
              <a:t>UNIQUE SELLING POINTS</a:t>
            </a:r>
            <a:endParaRPr lang="en-US" sz="750" dirty="0"/>
          </a:p>
        </p:txBody>
      </p:sp>
      <p:sp>
        <p:nvSpPr>
          <p:cNvPr id="20" name="Text 17"/>
          <p:cNvSpPr txBox="1"/>
          <p:nvPr/>
        </p:nvSpPr>
        <p:spPr>
          <a:xfrm>
            <a:off x="4709160" y="1609344"/>
            <a:ext cx="365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563EB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1</a:t>
            </a:r>
            <a:endParaRPr lang="en-US" sz="3000" dirty="0"/>
          </a:p>
        </p:txBody>
      </p:sp>
      <p:sp>
        <p:nvSpPr>
          <p:cNvPr id="21" name="Text 18"/>
          <p:cNvSpPr txBox="1"/>
          <p:nvPr/>
        </p:nvSpPr>
        <p:spPr>
          <a:xfrm>
            <a:off x="5138928" y="1645920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B1220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Manual to monitoring in minutes</a:t>
            </a:r>
            <a:endParaRPr lang="en-US" sz="1350" dirty="0"/>
          </a:p>
        </p:txBody>
      </p:sp>
      <p:sp>
        <p:nvSpPr>
          <p:cNvPr id="22" name="Text 19"/>
          <p:cNvSpPr txBox="1"/>
          <p:nvPr/>
        </p:nvSpPr>
        <p:spPr>
          <a:xfrm>
            <a:off x="5138928" y="1892808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3A455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Gemini reads the manual. A person verifies every limit before anything goes live.</a:t>
            </a:r>
            <a:endParaRPr lang="en-US" sz="880" dirty="0"/>
          </a:p>
        </p:txBody>
      </p:sp>
      <p:sp>
        <p:nvSpPr>
          <p:cNvPr id="23" name="Text 20"/>
          <p:cNvSpPr txBox="1"/>
          <p:nvPr/>
        </p:nvSpPr>
        <p:spPr>
          <a:xfrm>
            <a:off x="4709160" y="2249424"/>
            <a:ext cx="365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563EB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2</a:t>
            </a:r>
            <a:endParaRPr lang="en-US" sz="3000" dirty="0"/>
          </a:p>
        </p:txBody>
      </p:sp>
      <p:sp>
        <p:nvSpPr>
          <p:cNvPr id="24" name="Text 21"/>
          <p:cNvSpPr txBox="1"/>
          <p:nvPr/>
        </p:nvSpPr>
        <p:spPr>
          <a:xfrm>
            <a:off x="5138928" y="2286000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B1220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Every number is checked</a:t>
            </a:r>
            <a:endParaRPr lang="en-US" sz="1350" dirty="0"/>
          </a:p>
        </p:txBody>
      </p:sp>
      <p:sp>
        <p:nvSpPr>
          <p:cNvPr id="25" name="Text 22"/>
          <p:cNvSpPr txBox="1"/>
          <p:nvPr/>
        </p:nvSpPr>
        <p:spPr>
          <a:xfrm>
            <a:off x="5138928" y="2532888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3A455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 guardrail matches each number in a report against stored readings, limits and manual pages, or marks it unverified.</a:t>
            </a:r>
            <a:endParaRPr lang="en-US" sz="880" dirty="0"/>
          </a:p>
        </p:txBody>
      </p:sp>
      <p:sp>
        <p:nvSpPr>
          <p:cNvPr id="26" name="Text 23"/>
          <p:cNvSpPr txBox="1"/>
          <p:nvPr/>
        </p:nvSpPr>
        <p:spPr>
          <a:xfrm>
            <a:off x="4709160" y="2889504"/>
            <a:ext cx="365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563EB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3</a:t>
            </a:r>
            <a:endParaRPr lang="en-US" sz="3000" dirty="0"/>
          </a:p>
        </p:txBody>
      </p:sp>
      <p:sp>
        <p:nvSpPr>
          <p:cNvPr id="27" name="Text 24"/>
          <p:cNvSpPr txBox="1"/>
          <p:nvPr/>
        </p:nvSpPr>
        <p:spPr>
          <a:xfrm>
            <a:off x="5138928" y="2926080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B1220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It picks up the phone</a:t>
            </a:r>
            <a:endParaRPr lang="en-US" sz="1350" dirty="0"/>
          </a:p>
        </p:txBody>
      </p:sp>
      <p:sp>
        <p:nvSpPr>
          <p:cNvPr id="28" name="Text 25"/>
          <p:cNvSpPr txBox="1"/>
          <p:nvPr/>
        </p:nvSpPr>
        <p:spPr>
          <a:xfrm>
            <a:off x="5138928" y="3172968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3A455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Gemini Live calls the on-call engineer. Saying “acknowledged” stops the escalation and the shutdown timer.</a:t>
            </a:r>
            <a:endParaRPr lang="en-US" sz="880" dirty="0"/>
          </a:p>
        </p:txBody>
      </p:sp>
      <p:sp>
        <p:nvSpPr>
          <p:cNvPr id="29" name="Text 26"/>
          <p:cNvSpPr txBox="1"/>
          <p:nvPr/>
        </p:nvSpPr>
        <p:spPr>
          <a:xfrm>
            <a:off x="4709160" y="3529584"/>
            <a:ext cx="365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563EB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4</a:t>
            </a:r>
            <a:endParaRPr lang="en-US" sz="3000" dirty="0"/>
          </a:p>
        </p:txBody>
      </p:sp>
      <p:sp>
        <p:nvSpPr>
          <p:cNvPr id="30" name="Text 27"/>
          <p:cNvSpPr txBox="1"/>
          <p:nvPr/>
        </p:nvSpPr>
        <p:spPr>
          <a:xfrm>
            <a:off x="5138928" y="3566160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B1220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You can talk to the factory</a:t>
            </a:r>
            <a:endParaRPr lang="en-US" sz="1350" dirty="0"/>
          </a:p>
        </p:txBody>
      </p:sp>
      <p:sp>
        <p:nvSpPr>
          <p:cNvPr id="31" name="Text 28"/>
          <p:cNvSpPr txBox="1"/>
          <p:nvPr/>
        </p:nvSpPr>
        <p:spPr>
          <a:xfrm>
            <a:off x="5138928" y="3813048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3A455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Ask out loud how the line is running. Muse answers with live data and highlights the chart it means.</a:t>
            </a:r>
            <a:endParaRPr lang="en-US" sz="880" dirty="0"/>
          </a:p>
        </p:txBody>
      </p:sp>
      <p:sp>
        <p:nvSpPr>
          <p:cNvPr id="32" name="Text 29"/>
          <p:cNvSpPr txBox="1"/>
          <p:nvPr/>
        </p:nvSpPr>
        <p:spPr>
          <a:xfrm>
            <a:off x="4709160" y="4169664"/>
            <a:ext cx="365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563EB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5</a:t>
            </a:r>
            <a:endParaRPr lang="en-US" sz="3000" dirty="0"/>
          </a:p>
        </p:txBody>
      </p:sp>
      <p:sp>
        <p:nvSpPr>
          <p:cNvPr id="33" name="Text 30"/>
          <p:cNvSpPr txBox="1"/>
          <p:nvPr/>
        </p:nvSpPr>
        <p:spPr>
          <a:xfrm>
            <a:off x="5138928" y="4206240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B1220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It never goes blind</a:t>
            </a:r>
            <a:endParaRPr lang="en-US" sz="1350" dirty="0"/>
          </a:p>
        </p:txBody>
      </p:sp>
      <p:sp>
        <p:nvSpPr>
          <p:cNvPr id="34" name="Text 31"/>
          <p:cNvSpPr txBox="1"/>
          <p:nvPr/>
        </p:nvSpPr>
        <p:spPr>
          <a:xfrm>
            <a:off x="5138928" y="4453128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3A455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Detection needs no LLM, and a rule-based investigator takes over if Gemini is unavailable.</a:t>
            </a:r>
            <a:endParaRPr lang="en-US" sz="8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66760" y="4846320"/>
            <a:ext cx="36576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A0A8B5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411480" y="621792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200" kern="0" dirty="0">
                <a:solidFill>
                  <a:srgbClr val="2563EB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-120"/>
              </a:rPr>
              <a:t>03 / LIST OF FEATURES OFFERED BY THE SOLUTION (1 OF 2)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82296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0B1220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The monitoring loop: from a PDF manual to a phone call</a:t>
            </a:r>
            <a:endParaRPr lang="en-US" sz="2500" dirty="0"/>
          </a:p>
        </p:txBody>
      </p:sp>
      <p:sp>
        <p:nvSpPr>
          <p:cNvPr id="5" name="Shape 2"/>
          <p:cNvSpPr/>
          <p:nvPr/>
        </p:nvSpPr>
        <p:spPr>
          <a:xfrm>
            <a:off x="1104900" y="1627632"/>
            <a:ext cx="6934200" cy="0"/>
          </a:xfrm>
          <a:prstGeom prst="line">
            <a:avLst/>
          </a:prstGeom>
          <a:noFill/>
          <a:ln w="9525">
            <a:solidFill>
              <a:srgbClr val="C9D1DD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986028" y="1508760"/>
            <a:ext cx="237744" cy="237744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986028" y="150876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-120"/>
              </a:rPr>
              <a:t>1</a:t>
            </a:r>
            <a:endParaRPr lang="en-US" sz="800" dirty="0"/>
          </a:p>
        </p:txBody>
      </p:sp>
      <p:sp>
        <p:nvSpPr>
          <p:cNvPr id="8" name="Text 5"/>
          <p:cNvSpPr txBox="1"/>
          <p:nvPr/>
        </p:nvSpPr>
        <p:spPr>
          <a:xfrm>
            <a:off x="466344" y="1874520"/>
            <a:ext cx="1277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B1220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Onboard from the manual</a:t>
            </a:r>
            <a:endParaRPr lang="en-US" sz="1350" dirty="0"/>
          </a:p>
        </p:txBody>
      </p:sp>
      <p:sp>
        <p:nvSpPr>
          <p:cNvPr id="9" name="Text 6"/>
          <p:cNvSpPr txBox="1"/>
          <p:nvPr/>
        </p:nvSpPr>
        <p:spPr>
          <a:xfrm>
            <a:off x="484632" y="2395728"/>
            <a:ext cx="1258824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88900" indent="-88900">
              <a:spcAft>
                <a:spcPts val="500"/>
              </a:spcAft>
              <a:buSzPct val="100000"/>
              <a:buChar char="•"/>
            </a:pPr>
            <a:r>
              <a:rPr lang="en-US" sz="860" dirty="0">
                <a:solidFill>
                  <a:srgbClr val="3A455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Gemini 2.5 Flash reads the PDF with a strict JSON schema</a:t>
            </a:r>
            <a:endParaRPr lang="en-US" sz="860" dirty="0"/>
          </a:p>
          <a:p>
            <a:pPr marL="88900" indent="-88900">
              <a:spcAft>
                <a:spcPts val="500"/>
              </a:spcAft>
              <a:buSzPct val="100000"/>
              <a:buChar char="•"/>
            </a:pPr>
            <a:r>
              <a:rPr lang="en-US" sz="860" dirty="0">
                <a:solidFill>
                  <a:srgbClr val="3A455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Limits, units, sample rate, page, exact snippet, confidence</a:t>
            </a:r>
            <a:endParaRPr lang="en-US" sz="860" dirty="0"/>
          </a:p>
          <a:p>
            <a:pPr marL="88900" indent="-88900">
              <a:spcAft>
                <a:spcPts val="500"/>
              </a:spcAft>
              <a:buSzPct val="100000"/>
              <a:buChar char="•"/>
            </a:pPr>
            <a:r>
              <a:rPr lang="en-US" sz="860" dirty="0">
                <a:solidFill>
                  <a:srgbClr val="3A455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Nothing goes live until a person verifies it</a:t>
            </a:r>
            <a:endParaRPr lang="en-US" sz="860" dirty="0"/>
          </a:p>
          <a:p>
            <a:pPr marL="88900" indent="-88900">
              <a:spcAft>
                <a:spcPts val="500"/>
              </a:spcAft>
              <a:buSzPct val="100000"/>
              <a:buChar char="•"/>
            </a:pPr>
            <a:r>
              <a:rPr lang="en-US" sz="860" dirty="0">
                <a:solidFill>
                  <a:srgbClr val="3A455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Device key plus curl, Python and Node samples</a:t>
            </a:r>
            <a:endParaRPr lang="en-US" sz="860" dirty="0"/>
          </a:p>
        </p:txBody>
      </p:sp>
      <p:sp>
        <p:nvSpPr>
          <p:cNvPr id="10" name="Shape 7"/>
          <p:cNvSpPr/>
          <p:nvPr/>
        </p:nvSpPr>
        <p:spPr>
          <a:xfrm>
            <a:off x="2372868" y="1508760"/>
            <a:ext cx="237744" cy="237744"/>
          </a:xfrm>
          <a:prstGeom prst="ellipse">
            <a:avLst/>
          </a:prstGeom>
          <a:solidFill>
            <a:srgbClr val="0E7490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2372868" y="150876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-120"/>
              </a:rPr>
              <a:t>2</a:t>
            </a:r>
            <a:endParaRPr lang="en-US" sz="800" dirty="0"/>
          </a:p>
        </p:txBody>
      </p:sp>
      <p:sp>
        <p:nvSpPr>
          <p:cNvPr id="12" name="Text 9"/>
          <p:cNvSpPr txBox="1"/>
          <p:nvPr/>
        </p:nvSpPr>
        <p:spPr>
          <a:xfrm>
            <a:off x="1853184" y="1874520"/>
            <a:ext cx="1277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B1220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Per-machine telemetry API</a:t>
            </a:r>
            <a:endParaRPr lang="en-US" sz="1350" dirty="0"/>
          </a:p>
        </p:txBody>
      </p:sp>
      <p:sp>
        <p:nvSpPr>
          <p:cNvPr id="13" name="Text 10"/>
          <p:cNvSpPr txBox="1"/>
          <p:nvPr/>
        </p:nvSpPr>
        <p:spPr>
          <a:xfrm>
            <a:off x="1871472" y="2395728"/>
            <a:ext cx="1258824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88900" indent="-88900">
              <a:spcAft>
                <a:spcPts val="500"/>
              </a:spcAft>
              <a:buSzPct val="100000"/>
              <a:buChar char="•"/>
            </a:pPr>
            <a:r>
              <a:rPr lang="en-US" sz="860" dirty="0">
                <a:solidFill>
                  <a:srgbClr val="3A455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POST /v1/telemetry with an X-Device-Key</a:t>
            </a:r>
            <a:endParaRPr lang="en-US" sz="860" dirty="0"/>
          </a:p>
          <a:p>
            <a:pPr marL="88900" indent="-88900">
              <a:spcAft>
                <a:spcPts val="500"/>
              </a:spcAft>
              <a:buSzPct val="100000"/>
              <a:buChar char="•"/>
            </a:pPr>
            <a:r>
              <a:rPr lang="en-US" sz="860" dirty="0">
                <a:solidFill>
                  <a:srgbClr val="3A455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Parameter and unit checked against the spec</a:t>
            </a:r>
            <a:endParaRPr lang="en-US" sz="860" dirty="0"/>
          </a:p>
          <a:p>
            <a:pPr marL="88900" indent="-88900">
              <a:spcAft>
                <a:spcPts val="500"/>
              </a:spcAft>
              <a:buSzPct val="100000"/>
              <a:buChar char="•"/>
            </a:pPr>
            <a:r>
              <a:rPr lang="en-US" sz="860" dirty="0">
                <a:solidFill>
                  <a:srgbClr val="3A455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Duplicates dropped by reading_id</a:t>
            </a:r>
            <a:endParaRPr lang="en-US" sz="860" dirty="0"/>
          </a:p>
          <a:p>
            <a:pPr marL="88900" indent="-88900">
              <a:spcAft>
                <a:spcPts val="500"/>
              </a:spcAft>
              <a:buSzPct val="100000"/>
              <a:buChar char="•"/>
            </a:pPr>
            <a:r>
              <a:rPr lang="en-US" sz="860" dirty="0">
                <a:solidFill>
                  <a:srgbClr val="3A455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Live server-sent events to every dashboard</a:t>
            </a:r>
            <a:endParaRPr lang="en-US" sz="860" dirty="0"/>
          </a:p>
        </p:txBody>
      </p:sp>
      <p:sp>
        <p:nvSpPr>
          <p:cNvPr id="14" name="Shape 11"/>
          <p:cNvSpPr/>
          <p:nvPr/>
        </p:nvSpPr>
        <p:spPr>
          <a:xfrm>
            <a:off x="1798320" y="1874520"/>
            <a:ext cx="0" cy="2194560"/>
          </a:xfrm>
          <a:prstGeom prst="line">
            <a:avLst/>
          </a:prstGeom>
          <a:noFill/>
          <a:ln w="9525">
            <a:solidFill>
              <a:srgbClr val="E3E7EE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759708" y="1508760"/>
            <a:ext cx="237744" cy="237744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3759708" y="150876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-120"/>
              </a:rPr>
              <a:t>3</a:t>
            </a:r>
            <a:endParaRPr lang="en-US" sz="800" dirty="0"/>
          </a:p>
        </p:txBody>
      </p:sp>
      <p:sp>
        <p:nvSpPr>
          <p:cNvPr id="17" name="Text 14"/>
          <p:cNvSpPr txBox="1"/>
          <p:nvPr/>
        </p:nvSpPr>
        <p:spPr>
          <a:xfrm>
            <a:off x="3240024" y="1874520"/>
            <a:ext cx="1277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B1220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Four detection layers</a:t>
            </a:r>
            <a:endParaRPr lang="en-US" sz="1350" dirty="0"/>
          </a:p>
        </p:txBody>
      </p:sp>
      <p:sp>
        <p:nvSpPr>
          <p:cNvPr id="18" name="Text 15"/>
          <p:cNvSpPr txBox="1"/>
          <p:nvPr/>
        </p:nvSpPr>
        <p:spPr>
          <a:xfrm>
            <a:off x="3258312" y="2395728"/>
            <a:ext cx="1258824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88900" indent="-88900">
              <a:spcAft>
                <a:spcPts val="500"/>
              </a:spcAft>
              <a:buSzPct val="100000"/>
              <a:buChar char="•"/>
            </a:pPr>
            <a:r>
              <a:rPr lang="en-US" sz="860" dirty="0">
                <a:solidFill>
                  <a:srgbClr val="3A455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Limits: warning and critical</a:t>
            </a:r>
            <a:endParaRPr lang="en-US" sz="860" dirty="0"/>
          </a:p>
          <a:p>
            <a:pPr marL="88900" indent="-88900">
              <a:spcAft>
                <a:spcPts val="500"/>
              </a:spcAft>
              <a:buSzPct val="100000"/>
              <a:buChar char="•"/>
            </a:pPr>
            <a:r>
              <a:rPr lang="en-US" sz="860" dirty="0">
                <a:solidFill>
                  <a:srgbClr val="3A455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Trend: critical projected within 10 min</a:t>
            </a:r>
            <a:endParaRPr lang="en-US" sz="860" dirty="0"/>
          </a:p>
          <a:p>
            <a:pPr marL="88900" indent="-88900">
              <a:spcAft>
                <a:spcPts val="500"/>
              </a:spcAft>
              <a:buSzPct val="100000"/>
              <a:buChar char="•"/>
            </a:pPr>
            <a:r>
              <a:rPr lang="en-US" sz="860" dirty="0">
                <a:solidFill>
                  <a:srgbClr val="3A455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Anomaly: |z| ≥ 3.5 against its own baseline</a:t>
            </a:r>
            <a:endParaRPr lang="en-US" sz="860" dirty="0"/>
          </a:p>
          <a:p>
            <a:pPr marL="88900" indent="-88900">
              <a:spcAft>
                <a:spcPts val="500"/>
              </a:spcAft>
              <a:buSzPct val="100000"/>
              <a:buChar char="•"/>
            </a:pPr>
            <a:r>
              <a:rPr lang="en-US" sz="860" dirty="0">
                <a:solidFill>
                  <a:srgbClr val="3A455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Staleness: a silent machine is an incident</a:t>
            </a:r>
            <a:endParaRPr lang="en-US" sz="860" dirty="0"/>
          </a:p>
        </p:txBody>
      </p:sp>
      <p:sp>
        <p:nvSpPr>
          <p:cNvPr id="19" name="Shape 16"/>
          <p:cNvSpPr/>
          <p:nvPr/>
        </p:nvSpPr>
        <p:spPr>
          <a:xfrm>
            <a:off x="3185160" y="1874520"/>
            <a:ext cx="0" cy="2194560"/>
          </a:xfrm>
          <a:prstGeom prst="line">
            <a:avLst/>
          </a:prstGeom>
          <a:noFill/>
          <a:ln w="9525">
            <a:solidFill>
              <a:srgbClr val="E3E7EE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5146548" y="1508760"/>
            <a:ext cx="237744" cy="237744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5146548" y="150876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-120"/>
              </a:rPr>
              <a:t>4</a:t>
            </a:r>
            <a:endParaRPr lang="en-US" sz="800" dirty="0"/>
          </a:p>
        </p:txBody>
      </p:sp>
      <p:sp>
        <p:nvSpPr>
          <p:cNvPr id="22" name="Text 19"/>
          <p:cNvSpPr txBox="1"/>
          <p:nvPr/>
        </p:nvSpPr>
        <p:spPr>
          <a:xfrm>
            <a:off x="4626864" y="1874520"/>
            <a:ext cx="1277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B1220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Time-to-limit forecast</a:t>
            </a:r>
            <a:endParaRPr lang="en-US" sz="1350" dirty="0"/>
          </a:p>
        </p:txBody>
      </p:sp>
      <p:sp>
        <p:nvSpPr>
          <p:cNvPr id="23" name="Text 20"/>
          <p:cNvSpPr txBox="1"/>
          <p:nvPr/>
        </p:nvSpPr>
        <p:spPr>
          <a:xfrm>
            <a:off x="4645152" y="2395728"/>
            <a:ext cx="1258824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88900" indent="-88900">
              <a:spcAft>
                <a:spcPts val="500"/>
              </a:spcAft>
              <a:buSzPct val="100000"/>
              <a:buChar char="•"/>
            </a:pPr>
            <a:r>
              <a:rPr lang="en-US" sz="860" dirty="0">
                <a:solidFill>
                  <a:srgbClr val="3A455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Re-fitted every 5 s for each parameter</a:t>
            </a:r>
            <a:endParaRPr lang="en-US" sz="860" dirty="0"/>
          </a:p>
          <a:p>
            <a:pPr marL="88900" indent="-88900">
              <a:spcAft>
                <a:spcPts val="500"/>
              </a:spcAft>
              <a:buSzPct val="100000"/>
              <a:buChar char="•"/>
            </a:pPr>
            <a:r>
              <a:rPr lang="en-US" sz="860" dirty="0">
                <a:solidFill>
                  <a:srgbClr val="3A455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Projects time to warning and to critical</a:t>
            </a:r>
            <a:endParaRPr lang="en-US" sz="860" dirty="0"/>
          </a:p>
          <a:p>
            <a:pPr marL="88900" indent="-88900">
              <a:spcAft>
                <a:spcPts val="500"/>
              </a:spcAft>
              <a:buSzPct val="100000"/>
              <a:buChar char="•"/>
            </a:pPr>
            <a:r>
              <a:rPr lang="en-US" sz="860" dirty="0">
                <a:solidFill>
                  <a:srgbClr val="3A455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“Critical in 12 min” on cards and charts</a:t>
            </a:r>
            <a:endParaRPr lang="en-US" sz="860" dirty="0"/>
          </a:p>
          <a:p>
            <a:pPr marL="88900" indent="-88900">
              <a:spcAft>
                <a:spcPts val="500"/>
              </a:spcAft>
              <a:buSzPct val="100000"/>
              <a:buChar char="•"/>
            </a:pPr>
            <a:r>
              <a:rPr lang="en-US" sz="860" dirty="0">
                <a:solidFill>
                  <a:srgbClr val="3A455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Health score from 0 to 100</a:t>
            </a:r>
            <a:endParaRPr lang="en-US" sz="860" dirty="0"/>
          </a:p>
        </p:txBody>
      </p:sp>
      <p:sp>
        <p:nvSpPr>
          <p:cNvPr id="24" name="Shape 21"/>
          <p:cNvSpPr/>
          <p:nvPr/>
        </p:nvSpPr>
        <p:spPr>
          <a:xfrm>
            <a:off x="4572000" y="1874520"/>
            <a:ext cx="0" cy="2194560"/>
          </a:xfrm>
          <a:prstGeom prst="line">
            <a:avLst/>
          </a:prstGeom>
          <a:noFill/>
          <a:ln w="9525">
            <a:solidFill>
              <a:srgbClr val="E3E7EE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6533388" y="1508760"/>
            <a:ext cx="237744" cy="237744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6533388" y="150876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-120"/>
              </a:rPr>
              <a:t>5</a:t>
            </a:r>
            <a:endParaRPr lang="en-US" sz="800" dirty="0"/>
          </a:p>
        </p:txBody>
      </p:sp>
      <p:sp>
        <p:nvSpPr>
          <p:cNvPr id="27" name="Text 24"/>
          <p:cNvSpPr txBox="1"/>
          <p:nvPr/>
        </p:nvSpPr>
        <p:spPr>
          <a:xfrm>
            <a:off x="6013704" y="1874520"/>
            <a:ext cx="1277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B1220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Incident engine</a:t>
            </a:r>
            <a:endParaRPr lang="en-US" sz="1350" dirty="0"/>
          </a:p>
        </p:txBody>
      </p:sp>
      <p:sp>
        <p:nvSpPr>
          <p:cNvPr id="28" name="Text 25"/>
          <p:cNvSpPr txBox="1"/>
          <p:nvPr/>
        </p:nvSpPr>
        <p:spPr>
          <a:xfrm>
            <a:off x="6031992" y="2395728"/>
            <a:ext cx="1258824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88900" indent="-88900">
              <a:spcAft>
                <a:spcPts val="500"/>
              </a:spcAft>
              <a:buSzPct val="100000"/>
              <a:buChar char="•"/>
            </a:pPr>
            <a:r>
              <a:rPr lang="en-US" sz="860" dirty="0">
                <a:solidFill>
                  <a:srgbClr val="3A455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One open incident per machine</a:t>
            </a:r>
            <a:endParaRPr lang="en-US" sz="860" dirty="0"/>
          </a:p>
          <a:p>
            <a:pPr marL="88900" indent="-88900">
              <a:spcAft>
                <a:spcPts val="500"/>
              </a:spcAft>
              <a:buSzPct val="100000"/>
              <a:buChar char="•"/>
            </a:pPr>
            <a:r>
              <a:rPr lang="en-US" sz="860" dirty="0">
                <a:solidFill>
                  <a:srgbClr val="3A455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Five-minute cooldown per parameter</a:t>
            </a:r>
            <a:endParaRPr lang="en-US" sz="860" dirty="0"/>
          </a:p>
          <a:p>
            <a:pPr marL="88900" indent="-88900">
              <a:spcAft>
                <a:spcPts val="500"/>
              </a:spcAft>
              <a:buSzPct val="100000"/>
              <a:buChar char="•"/>
            </a:pPr>
            <a:r>
              <a:rPr lang="en-US" sz="860" dirty="0">
                <a:solidFill>
                  <a:srgbClr val="3A455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Two parameters in warning make it critical</a:t>
            </a:r>
            <a:endParaRPr lang="en-US" sz="860" dirty="0"/>
          </a:p>
          <a:p>
            <a:pPr marL="88900" indent="-88900">
              <a:spcAft>
                <a:spcPts val="500"/>
              </a:spcAft>
              <a:buSzPct val="100000"/>
              <a:buChar char="•"/>
            </a:pPr>
            <a:r>
              <a:rPr lang="en-US" sz="860" dirty="0">
                <a:solidFill>
                  <a:srgbClr val="3A455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Every alert attempt is logged</a:t>
            </a:r>
            <a:endParaRPr lang="en-US" sz="860" dirty="0"/>
          </a:p>
        </p:txBody>
      </p:sp>
      <p:sp>
        <p:nvSpPr>
          <p:cNvPr id="29" name="Shape 26"/>
          <p:cNvSpPr/>
          <p:nvPr/>
        </p:nvSpPr>
        <p:spPr>
          <a:xfrm>
            <a:off x="5958840" y="1874520"/>
            <a:ext cx="0" cy="2194560"/>
          </a:xfrm>
          <a:prstGeom prst="line">
            <a:avLst/>
          </a:prstGeom>
          <a:noFill/>
          <a:ln w="9525">
            <a:solidFill>
              <a:srgbClr val="E3E7EE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7920228" y="1508760"/>
            <a:ext cx="237744" cy="237744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31" name="Text 28"/>
          <p:cNvSpPr txBox="1"/>
          <p:nvPr/>
        </p:nvSpPr>
        <p:spPr>
          <a:xfrm>
            <a:off x="7920228" y="150876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-120"/>
              </a:rPr>
              <a:t>6</a:t>
            </a:r>
            <a:endParaRPr lang="en-US" sz="800" dirty="0"/>
          </a:p>
        </p:txBody>
      </p:sp>
      <p:sp>
        <p:nvSpPr>
          <p:cNvPr id="32" name="Text 29"/>
          <p:cNvSpPr txBox="1"/>
          <p:nvPr/>
        </p:nvSpPr>
        <p:spPr>
          <a:xfrm>
            <a:off x="7400544" y="1874520"/>
            <a:ext cx="1277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B1220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Escalation ladder</a:t>
            </a:r>
            <a:endParaRPr lang="en-US" sz="1350" dirty="0"/>
          </a:p>
        </p:txBody>
      </p:sp>
      <p:sp>
        <p:nvSpPr>
          <p:cNvPr id="33" name="Text 30"/>
          <p:cNvSpPr txBox="1"/>
          <p:nvPr/>
        </p:nvSpPr>
        <p:spPr>
          <a:xfrm>
            <a:off x="7418832" y="2395728"/>
            <a:ext cx="1258824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88900" indent="-88900">
              <a:spcAft>
                <a:spcPts val="500"/>
              </a:spcAft>
              <a:buSzPct val="100000"/>
              <a:buChar char="•"/>
            </a:pPr>
            <a:r>
              <a:rPr lang="en-US" sz="860" dirty="0">
                <a:solidFill>
                  <a:srgbClr val="3A455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Warning: dashboard and email</a:t>
            </a:r>
            <a:endParaRPr lang="en-US" sz="860" dirty="0"/>
          </a:p>
          <a:p>
            <a:pPr marL="88900" indent="-88900">
              <a:spcAft>
                <a:spcPts val="500"/>
              </a:spcAft>
              <a:buSzPct val="100000"/>
              <a:buChar char="•"/>
            </a:pPr>
            <a:r>
              <a:rPr lang="en-US" sz="860" dirty="0">
                <a:solidFill>
                  <a:srgbClr val="3A455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Critical: plus a Gemini Live phone call</a:t>
            </a:r>
            <a:endParaRPr lang="en-US" sz="860" dirty="0"/>
          </a:p>
          <a:p>
            <a:pPr marL="88900" indent="-88900">
              <a:spcAft>
                <a:spcPts val="500"/>
              </a:spcAft>
              <a:buSzPct val="100000"/>
              <a:buChar char="•"/>
            </a:pPr>
            <a:r>
              <a:rPr lang="en-US" sz="860" dirty="0">
                <a:solidFill>
                  <a:srgbClr val="3A455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No answer in 2 min: the next contact</a:t>
            </a:r>
            <a:endParaRPr lang="en-US" sz="860" dirty="0"/>
          </a:p>
          <a:p>
            <a:pPr marL="88900" indent="-88900">
              <a:spcAft>
                <a:spcPts val="500"/>
              </a:spcAft>
              <a:buSzPct val="100000"/>
              <a:buChar char="•"/>
            </a:pPr>
            <a:r>
              <a:rPr lang="en-US" sz="860" dirty="0">
                <a:solidFill>
                  <a:srgbClr val="3A455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No ack in 5 min: Muse stops the machine</a:t>
            </a:r>
            <a:endParaRPr lang="en-US" sz="860" dirty="0"/>
          </a:p>
        </p:txBody>
      </p:sp>
      <p:sp>
        <p:nvSpPr>
          <p:cNvPr id="34" name="Shape 31"/>
          <p:cNvSpPr/>
          <p:nvPr/>
        </p:nvSpPr>
        <p:spPr>
          <a:xfrm>
            <a:off x="7345680" y="1874520"/>
            <a:ext cx="0" cy="2194560"/>
          </a:xfrm>
          <a:prstGeom prst="line">
            <a:avLst/>
          </a:prstGeom>
          <a:noFill/>
          <a:ln w="9525">
            <a:solidFill>
              <a:srgbClr val="E3E7EE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411480" y="4224528"/>
            <a:ext cx="8321040" cy="603504"/>
          </a:xfrm>
          <a:prstGeom prst="roundRect">
            <a:avLst>
              <a:gd name="adj" fmla="val 9091"/>
            </a:avLst>
          </a:prstGeom>
          <a:solidFill>
            <a:srgbClr val="0E1A36"/>
          </a:solidFill>
          <a:ln/>
        </p:spPr>
      </p:sp>
      <p:sp>
        <p:nvSpPr>
          <p:cNvPr id="36" name="Text 33"/>
          <p:cNvSpPr txBox="1"/>
          <p:nvPr/>
        </p:nvSpPr>
        <p:spPr>
          <a:xfrm>
            <a:off x="640080" y="4261104"/>
            <a:ext cx="1097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60A5FA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6.4 ms</a:t>
            </a:r>
            <a:endParaRPr lang="en-US" sz="2400" dirty="0"/>
          </a:p>
        </p:txBody>
      </p:sp>
      <p:sp>
        <p:nvSpPr>
          <p:cNvPr id="37" name="Text 34"/>
          <p:cNvSpPr txBox="1"/>
          <p:nvPr/>
        </p:nvSpPr>
        <p:spPr>
          <a:xfrm>
            <a:off x="1737360" y="4261104"/>
            <a:ext cx="1508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C7D2E8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median time to ingest and check a reading</a:t>
            </a:r>
            <a:endParaRPr lang="en-US" sz="860" dirty="0"/>
          </a:p>
        </p:txBody>
      </p:sp>
      <p:sp>
        <p:nvSpPr>
          <p:cNvPr id="38" name="Text 35"/>
          <p:cNvSpPr txBox="1"/>
          <p:nvPr/>
        </p:nvSpPr>
        <p:spPr>
          <a:xfrm>
            <a:off x="3413760" y="4261104"/>
            <a:ext cx="1097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60A5FA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22 s</a:t>
            </a:r>
            <a:endParaRPr lang="en-US" sz="2400" dirty="0"/>
          </a:p>
        </p:txBody>
      </p:sp>
      <p:sp>
        <p:nvSpPr>
          <p:cNvPr id="39" name="Text 36"/>
          <p:cNvSpPr txBox="1"/>
          <p:nvPr/>
        </p:nvSpPr>
        <p:spPr>
          <a:xfrm>
            <a:off x="4511040" y="4261104"/>
            <a:ext cx="1508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C7D2E8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from a bearing starting to fail to a warning</a:t>
            </a:r>
            <a:endParaRPr lang="en-US" sz="860" dirty="0"/>
          </a:p>
        </p:txBody>
      </p:sp>
      <p:sp>
        <p:nvSpPr>
          <p:cNvPr id="40" name="Text 37"/>
          <p:cNvSpPr txBox="1"/>
          <p:nvPr/>
        </p:nvSpPr>
        <p:spPr>
          <a:xfrm>
            <a:off x="6187440" y="4261104"/>
            <a:ext cx="1097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60A5FA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0</a:t>
            </a:r>
            <a:endParaRPr lang="en-US" sz="2400" dirty="0"/>
          </a:p>
        </p:txBody>
      </p:sp>
      <p:sp>
        <p:nvSpPr>
          <p:cNvPr id="41" name="Text 38"/>
          <p:cNvSpPr txBox="1"/>
          <p:nvPr/>
        </p:nvSpPr>
        <p:spPr>
          <a:xfrm>
            <a:off x="7284720" y="4261104"/>
            <a:ext cx="1508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C7D2E8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LLM calls anywhere in the detection path</a:t>
            </a:r>
            <a:endParaRPr lang="en-US" sz="86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66760" y="4846320"/>
            <a:ext cx="36576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A0A8B5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411480" y="621792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200" kern="0" dirty="0">
                <a:solidFill>
                  <a:srgbClr val="2563EB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-120"/>
              </a:rPr>
              <a:t>03 / LIST OF FEATURES OFFERED BY THE SOLUTION (2 OF 2)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82296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0B1220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What makes Muse more than an alarm</a:t>
            </a:r>
            <a:endParaRPr lang="en-US" sz="2500" dirty="0"/>
          </a:p>
        </p:txBody>
      </p:sp>
      <p:sp>
        <p:nvSpPr>
          <p:cNvPr id="5" name="Text 2"/>
          <p:cNvSpPr txBox="1"/>
          <p:nvPr/>
        </p:nvSpPr>
        <p:spPr>
          <a:xfrm>
            <a:off x="411480" y="153619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2563EB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-120"/>
              </a:rPr>
              <a:t>07</a:t>
            </a:r>
            <a:endParaRPr lang="en-US" sz="800" dirty="0"/>
          </a:p>
        </p:txBody>
      </p:sp>
      <p:sp>
        <p:nvSpPr>
          <p:cNvPr id="6" name="Text 3"/>
          <p:cNvSpPr txBox="1"/>
          <p:nvPr/>
        </p:nvSpPr>
        <p:spPr>
          <a:xfrm>
            <a:off x="740664" y="1490472"/>
            <a:ext cx="2225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B1220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Investigation agent</a:t>
            </a:r>
            <a:endParaRPr lang="en-US" sz="1350" dirty="0"/>
          </a:p>
        </p:txBody>
      </p:sp>
      <p:sp>
        <p:nvSpPr>
          <p:cNvPr id="7" name="Text 4"/>
          <p:cNvSpPr txBox="1"/>
          <p:nvPr/>
        </p:nvSpPr>
        <p:spPr>
          <a:xfrm>
            <a:off x="411480" y="1819656"/>
            <a:ext cx="24810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dirty="0">
                <a:solidFill>
                  <a:srgbClr val="3A455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 six-stage Google ADK pipeline with seven read-only tools. The report has a summary, timeline, ranked causes, ordered checks with safety notes, missing data and a 20-second call script.</a:t>
            </a:r>
            <a:endParaRPr lang="en-US" sz="860" dirty="0"/>
          </a:p>
        </p:txBody>
      </p:sp>
      <p:sp>
        <p:nvSpPr>
          <p:cNvPr id="8" name="Shape 5"/>
          <p:cNvSpPr/>
          <p:nvPr/>
        </p:nvSpPr>
        <p:spPr>
          <a:xfrm>
            <a:off x="3185160" y="1490472"/>
            <a:ext cx="0" cy="987552"/>
          </a:xfrm>
          <a:prstGeom prst="line">
            <a:avLst/>
          </a:prstGeom>
          <a:noFill/>
          <a:ln w="9525">
            <a:solidFill>
              <a:srgbClr val="E3E7EE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368040" y="153619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2563EB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-120"/>
              </a:rPr>
              <a:t>08</a:t>
            </a:r>
            <a:endParaRPr lang="en-US" sz="800" dirty="0"/>
          </a:p>
        </p:txBody>
      </p:sp>
      <p:sp>
        <p:nvSpPr>
          <p:cNvPr id="10" name="Text 7"/>
          <p:cNvSpPr txBox="1"/>
          <p:nvPr/>
        </p:nvSpPr>
        <p:spPr>
          <a:xfrm>
            <a:off x="3697224" y="1490472"/>
            <a:ext cx="2225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B1220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Number guardrail</a:t>
            </a:r>
            <a:endParaRPr lang="en-US" sz="1350" dirty="0"/>
          </a:p>
        </p:txBody>
      </p:sp>
      <p:sp>
        <p:nvSpPr>
          <p:cNvPr id="11" name="Text 8"/>
          <p:cNvSpPr txBox="1"/>
          <p:nvPr/>
        </p:nvSpPr>
        <p:spPr>
          <a:xfrm>
            <a:off x="3368040" y="1819656"/>
            <a:ext cx="24810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dirty="0">
                <a:solidFill>
                  <a:srgbClr val="3A455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Any number the agent cannot trace to stored readings, limits, neighbours or manual pages becomes [unverified] and is listed.</a:t>
            </a:r>
            <a:endParaRPr lang="en-US" sz="860" dirty="0"/>
          </a:p>
        </p:txBody>
      </p:sp>
      <p:sp>
        <p:nvSpPr>
          <p:cNvPr id="12" name="Shape 9"/>
          <p:cNvSpPr/>
          <p:nvPr/>
        </p:nvSpPr>
        <p:spPr>
          <a:xfrm>
            <a:off x="5958840" y="1490472"/>
            <a:ext cx="0" cy="987552"/>
          </a:xfrm>
          <a:prstGeom prst="line">
            <a:avLst/>
          </a:prstGeom>
          <a:noFill/>
          <a:ln w="9525">
            <a:solidFill>
              <a:srgbClr val="E3E7E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141720" y="153619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2563EB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-120"/>
              </a:rPr>
              <a:t>09</a:t>
            </a:r>
            <a:endParaRPr lang="en-US" sz="800" dirty="0"/>
          </a:p>
        </p:txBody>
      </p:sp>
      <p:sp>
        <p:nvSpPr>
          <p:cNvPr id="14" name="Text 11"/>
          <p:cNvSpPr txBox="1"/>
          <p:nvPr/>
        </p:nvSpPr>
        <p:spPr>
          <a:xfrm>
            <a:off x="6470904" y="1490472"/>
            <a:ext cx="2225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B1220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Fallback investigator</a:t>
            </a:r>
            <a:endParaRPr lang="en-US" sz="1350" dirty="0"/>
          </a:p>
        </p:txBody>
      </p:sp>
      <p:sp>
        <p:nvSpPr>
          <p:cNvPr id="15" name="Text 12"/>
          <p:cNvSpPr txBox="1"/>
          <p:nvPr/>
        </p:nvSpPr>
        <p:spPr>
          <a:xfrm>
            <a:off x="6141720" y="1819656"/>
            <a:ext cx="24810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dirty="0">
                <a:solidFill>
                  <a:srgbClr val="3A455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If Gemini fails twice, a rule-based investigator with a fault-signature library writes the same report shape.</a:t>
            </a:r>
            <a:endParaRPr lang="en-US" sz="860" dirty="0"/>
          </a:p>
        </p:txBody>
      </p:sp>
      <p:sp>
        <p:nvSpPr>
          <p:cNvPr id="16" name="Shape 13"/>
          <p:cNvSpPr/>
          <p:nvPr/>
        </p:nvSpPr>
        <p:spPr>
          <a:xfrm>
            <a:off x="411480" y="2551176"/>
            <a:ext cx="2663952" cy="0"/>
          </a:xfrm>
          <a:prstGeom prst="line">
            <a:avLst/>
          </a:prstGeom>
          <a:noFill/>
          <a:ln w="9525">
            <a:solidFill>
              <a:srgbClr val="E3E7EE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411480" y="267004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2563EB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-120"/>
              </a:rPr>
              <a:t>10</a:t>
            </a:r>
            <a:endParaRPr lang="en-US" sz="800" dirty="0"/>
          </a:p>
        </p:txBody>
      </p:sp>
      <p:sp>
        <p:nvSpPr>
          <p:cNvPr id="18" name="Text 15"/>
          <p:cNvSpPr txBox="1"/>
          <p:nvPr/>
        </p:nvSpPr>
        <p:spPr>
          <a:xfrm>
            <a:off x="740664" y="2624328"/>
            <a:ext cx="2225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B1220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Phone escalation</a:t>
            </a:r>
            <a:endParaRPr lang="en-US" sz="1350" dirty="0"/>
          </a:p>
        </p:txBody>
      </p:sp>
      <p:sp>
        <p:nvSpPr>
          <p:cNvPr id="19" name="Text 16"/>
          <p:cNvSpPr txBox="1"/>
          <p:nvPr/>
        </p:nvSpPr>
        <p:spPr>
          <a:xfrm>
            <a:off x="411480" y="2953512"/>
            <a:ext cx="24810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dirty="0">
                <a:solidFill>
                  <a:srgbClr val="3A455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Five call flows run on Dograh over a TeleCMI line. Transcript, recording and the extracted outcome update the incident.</a:t>
            </a:r>
            <a:endParaRPr lang="en-US" sz="860" dirty="0"/>
          </a:p>
        </p:txBody>
      </p:sp>
      <p:sp>
        <p:nvSpPr>
          <p:cNvPr id="20" name="Shape 17"/>
          <p:cNvSpPr/>
          <p:nvPr/>
        </p:nvSpPr>
        <p:spPr>
          <a:xfrm>
            <a:off x="3185160" y="2624328"/>
            <a:ext cx="0" cy="987552"/>
          </a:xfrm>
          <a:prstGeom prst="line">
            <a:avLst/>
          </a:prstGeom>
          <a:noFill/>
          <a:ln w="9525">
            <a:solidFill>
              <a:srgbClr val="E3E7EE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3294888" y="2551176"/>
            <a:ext cx="2554224" cy="0"/>
          </a:xfrm>
          <a:prstGeom prst="line">
            <a:avLst/>
          </a:prstGeom>
          <a:noFill/>
          <a:ln w="9525">
            <a:solidFill>
              <a:srgbClr val="E3E7EE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3368040" y="267004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2563EB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-120"/>
              </a:rPr>
              <a:t>11</a:t>
            </a:r>
            <a:endParaRPr lang="en-US" sz="800" dirty="0"/>
          </a:p>
        </p:txBody>
      </p:sp>
      <p:sp>
        <p:nvSpPr>
          <p:cNvPr id="23" name="Text 20"/>
          <p:cNvSpPr txBox="1"/>
          <p:nvPr/>
        </p:nvSpPr>
        <p:spPr>
          <a:xfrm>
            <a:off x="3697224" y="2624328"/>
            <a:ext cx="2225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B1220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Muse copilot</a:t>
            </a:r>
            <a:endParaRPr lang="en-US" sz="1350" dirty="0"/>
          </a:p>
        </p:txBody>
      </p:sp>
      <p:sp>
        <p:nvSpPr>
          <p:cNvPr id="24" name="Text 21"/>
          <p:cNvSpPr txBox="1"/>
          <p:nvPr/>
        </p:nvSpPr>
        <p:spPr>
          <a:xfrm>
            <a:off x="3368040" y="2953512"/>
            <a:ext cx="24810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dirty="0">
                <a:solidFill>
                  <a:srgbClr val="3A455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Streaming chat and realtime Gemini Live voice. Ask for anything and Muse navigates there and spotlights it.</a:t>
            </a:r>
            <a:endParaRPr lang="en-US" sz="860" dirty="0"/>
          </a:p>
        </p:txBody>
      </p:sp>
      <p:sp>
        <p:nvSpPr>
          <p:cNvPr id="25" name="Shape 22"/>
          <p:cNvSpPr/>
          <p:nvPr/>
        </p:nvSpPr>
        <p:spPr>
          <a:xfrm>
            <a:off x="5958840" y="2624328"/>
            <a:ext cx="0" cy="987552"/>
          </a:xfrm>
          <a:prstGeom prst="line">
            <a:avLst/>
          </a:prstGeom>
          <a:noFill/>
          <a:ln w="9525">
            <a:solidFill>
              <a:srgbClr val="E3E7EE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6068568" y="2551176"/>
            <a:ext cx="2663952" cy="0"/>
          </a:xfrm>
          <a:prstGeom prst="line">
            <a:avLst/>
          </a:prstGeom>
          <a:noFill/>
          <a:ln w="9525">
            <a:solidFill>
              <a:srgbClr val="E3E7EE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141720" y="267004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2563EB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-120"/>
              </a:rPr>
              <a:t>12</a:t>
            </a:r>
            <a:endParaRPr lang="en-US" sz="800" dirty="0"/>
          </a:p>
        </p:txBody>
      </p:sp>
      <p:sp>
        <p:nvSpPr>
          <p:cNvPr id="28" name="Text 25"/>
          <p:cNvSpPr txBox="1"/>
          <p:nvPr/>
        </p:nvSpPr>
        <p:spPr>
          <a:xfrm>
            <a:off x="6470904" y="2624328"/>
            <a:ext cx="2225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B1220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Photo evidence</a:t>
            </a:r>
            <a:endParaRPr lang="en-US" sz="1350" dirty="0"/>
          </a:p>
        </p:txBody>
      </p:sp>
      <p:sp>
        <p:nvSpPr>
          <p:cNvPr id="29" name="Text 26"/>
          <p:cNvSpPr txBox="1"/>
          <p:nvPr/>
        </p:nvSpPr>
        <p:spPr>
          <a:xfrm>
            <a:off x="6141720" y="2953512"/>
            <a:ext cx="24810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dirty="0">
                <a:solidFill>
                  <a:srgbClr val="3A455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 technician's photo is read by Gemini vision against the ranked causes and can re-run the investigation.</a:t>
            </a:r>
            <a:endParaRPr lang="en-US" sz="860" dirty="0"/>
          </a:p>
        </p:txBody>
      </p:sp>
      <p:sp>
        <p:nvSpPr>
          <p:cNvPr id="30" name="Shape 27"/>
          <p:cNvSpPr/>
          <p:nvPr/>
        </p:nvSpPr>
        <p:spPr>
          <a:xfrm>
            <a:off x="411480" y="3685032"/>
            <a:ext cx="2663952" cy="0"/>
          </a:xfrm>
          <a:prstGeom prst="line">
            <a:avLst/>
          </a:prstGeom>
          <a:noFill/>
          <a:ln w="9525">
            <a:solidFill>
              <a:srgbClr val="E3E7EE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411480" y="3803904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2563EB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-120"/>
              </a:rPr>
              <a:t>13</a:t>
            </a:r>
            <a:endParaRPr lang="en-US" sz="800" dirty="0"/>
          </a:p>
        </p:txBody>
      </p:sp>
      <p:sp>
        <p:nvSpPr>
          <p:cNvPr id="32" name="Text 29"/>
          <p:cNvSpPr txBox="1"/>
          <p:nvPr/>
        </p:nvSpPr>
        <p:spPr>
          <a:xfrm>
            <a:off x="740664" y="3758184"/>
            <a:ext cx="2225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B1220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Work orders</a:t>
            </a:r>
            <a:endParaRPr lang="en-US" sz="1350" dirty="0"/>
          </a:p>
        </p:txBody>
      </p:sp>
      <p:sp>
        <p:nvSpPr>
          <p:cNvPr id="33" name="Text 30"/>
          <p:cNvSpPr txBox="1"/>
          <p:nvPr/>
        </p:nvSpPr>
        <p:spPr>
          <a:xfrm>
            <a:off x="411480" y="4087368"/>
            <a:ext cx="24810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dirty="0">
                <a:solidFill>
                  <a:srgbClr val="3A455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 Kanban per machine. One click turns Muse's checks into orders, prioritised by severity.</a:t>
            </a:r>
            <a:endParaRPr lang="en-US" sz="860" dirty="0"/>
          </a:p>
        </p:txBody>
      </p:sp>
      <p:sp>
        <p:nvSpPr>
          <p:cNvPr id="34" name="Shape 31"/>
          <p:cNvSpPr/>
          <p:nvPr/>
        </p:nvSpPr>
        <p:spPr>
          <a:xfrm>
            <a:off x="3185160" y="3758184"/>
            <a:ext cx="0" cy="987552"/>
          </a:xfrm>
          <a:prstGeom prst="line">
            <a:avLst/>
          </a:prstGeom>
          <a:noFill/>
          <a:ln w="9525">
            <a:solidFill>
              <a:srgbClr val="E3E7EE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3294888" y="3685032"/>
            <a:ext cx="2554224" cy="0"/>
          </a:xfrm>
          <a:prstGeom prst="line">
            <a:avLst/>
          </a:prstGeom>
          <a:noFill/>
          <a:ln w="9525">
            <a:solidFill>
              <a:srgbClr val="E3E7EE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3368040" y="3803904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2563EB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-120"/>
              </a:rPr>
              <a:t>14</a:t>
            </a:r>
            <a:endParaRPr lang="en-US" sz="800" dirty="0"/>
          </a:p>
        </p:txBody>
      </p:sp>
      <p:sp>
        <p:nvSpPr>
          <p:cNvPr id="37" name="Text 34"/>
          <p:cNvSpPr txBox="1"/>
          <p:nvPr/>
        </p:nvSpPr>
        <p:spPr>
          <a:xfrm>
            <a:off x="3697224" y="3758184"/>
            <a:ext cx="2225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B1220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Live 3D factory and line builder</a:t>
            </a:r>
            <a:endParaRPr lang="en-US" sz="1350" dirty="0"/>
          </a:p>
        </p:txBody>
      </p:sp>
      <p:sp>
        <p:nvSpPr>
          <p:cNvPr id="38" name="Text 35"/>
          <p:cNvSpPr txBox="1"/>
          <p:nvPr/>
        </p:nvSpPr>
        <p:spPr>
          <a:xfrm>
            <a:off x="3368040" y="4087368"/>
            <a:ext cx="24810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dirty="0">
                <a:solidFill>
                  <a:srgbClr val="3A455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 3D hall that mirrors machine status, and a node editor whose upstream and downstream links drive cross-machine reasoning.</a:t>
            </a:r>
            <a:endParaRPr lang="en-US" sz="860" dirty="0"/>
          </a:p>
        </p:txBody>
      </p:sp>
      <p:sp>
        <p:nvSpPr>
          <p:cNvPr id="39" name="Shape 36"/>
          <p:cNvSpPr/>
          <p:nvPr/>
        </p:nvSpPr>
        <p:spPr>
          <a:xfrm>
            <a:off x="5958840" y="3758184"/>
            <a:ext cx="0" cy="987552"/>
          </a:xfrm>
          <a:prstGeom prst="line">
            <a:avLst/>
          </a:prstGeom>
          <a:noFill/>
          <a:ln w="9525">
            <a:solidFill>
              <a:srgbClr val="E3E7EE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6068568" y="3685032"/>
            <a:ext cx="2663952" cy="0"/>
          </a:xfrm>
          <a:prstGeom prst="line">
            <a:avLst/>
          </a:prstGeom>
          <a:noFill/>
          <a:ln w="9525">
            <a:solidFill>
              <a:srgbClr val="E3E7EE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6141720" y="3803904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2563EB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-120"/>
              </a:rPr>
              <a:t>15</a:t>
            </a:r>
            <a:endParaRPr lang="en-US" sz="800" dirty="0"/>
          </a:p>
        </p:txBody>
      </p:sp>
      <p:sp>
        <p:nvSpPr>
          <p:cNvPr id="42" name="Text 39"/>
          <p:cNvSpPr txBox="1"/>
          <p:nvPr/>
        </p:nvSpPr>
        <p:spPr>
          <a:xfrm>
            <a:off x="6470904" y="3758184"/>
            <a:ext cx="2225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B1220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Observability and evaluation</a:t>
            </a:r>
            <a:endParaRPr lang="en-US" sz="1350" dirty="0"/>
          </a:p>
        </p:txBody>
      </p:sp>
      <p:sp>
        <p:nvSpPr>
          <p:cNvPr id="43" name="Text 40"/>
          <p:cNvSpPr txBox="1"/>
          <p:nvPr/>
        </p:nvSpPr>
        <p:spPr>
          <a:xfrm>
            <a:off x="6141720" y="4087368"/>
            <a:ext cx="24810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dirty="0">
                <a:solidFill>
                  <a:srgbClr val="3A455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Latency by route, ingest rate, every agent tool call, and a blind test that scores detection delay and cause accuracy.</a:t>
            </a:r>
            <a:endParaRPr lang="en-US" sz="86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66760" y="4846320"/>
            <a:ext cx="36576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A0A8B5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411480" y="621792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200" kern="0" dirty="0">
                <a:solidFill>
                  <a:srgbClr val="2563EB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-120"/>
              </a:rPr>
              <a:t>04 / PROCESS FLOW DIAGRAM (1 OF 3)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82296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0B1220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One reading's journey, from a sensor to someone's phone</a:t>
            </a:r>
            <a:endParaRPr lang="en-US" sz="2500" dirty="0"/>
          </a:p>
        </p:txBody>
      </p:sp>
      <p:sp>
        <p:nvSpPr>
          <p:cNvPr id="5" name="Shape 2"/>
          <p:cNvSpPr/>
          <p:nvPr/>
        </p:nvSpPr>
        <p:spPr>
          <a:xfrm>
            <a:off x="411480" y="1417320"/>
            <a:ext cx="4718304" cy="1965960"/>
          </a:xfrm>
          <a:prstGeom prst="rect">
            <a:avLst/>
          </a:prstGeom>
          <a:solidFill>
            <a:srgbClr val="F4F6FA"/>
          </a:solidFill>
          <a:ln/>
        </p:spPr>
      </p:sp>
      <p:sp>
        <p:nvSpPr>
          <p:cNvPr id="6" name="Shape 3"/>
          <p:cNvSpPr/>
          <p:nvPr/>
        </p:nvSpPr>
        <p:spPr>
          <a:xfrm>
            <a:off x="5166360" y="1417320"/>
            <a:ext cx="1152144" cy="1965960"/>
          </a:xfrm>
          <a:prstGeom prst="rect">
            <a:avLst/>
          </a:prstGeom>
          <a:solidFill>
            <a:srgbClr val="F1EBFE"/>
          </a:solidFill>
          <a:ln/>
        </p:spPr>
      </p:sp>
      <p:sp>
        <p:nvSpPr>
          <p:cNvPr id="7" name="Shape 4"/>
          <p:cNvSpPr/>
          <p:nvPr/>
        </p:nvSpPr>
        <p:spPr>
          <a:xfrm>
            <a:off x="6355080" y="1417320"/>
            <a:ext cx="2377440" cy="1965960"/>
          </a:xfrm>
          <a:prstGeom prst="rect">
            <a:avLst/>
          </a:prstGeom>
          <a:solidFill>
            <a:srgbClr val="E8F7EE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502920" y="144475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spc="150" kern="0" dirty="0">
                <a:solidFill>
                  <a:srgbClr val="0E7490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-120"/>
              </a:rPr>
              <a:t>DETERMINISTIC, EVERY READING, MILLISECONDS</a:t>
            </a:r>
            <a:endParaRPr lang="en-US" sz="650" dirty="0"/>
          </a:p>
        </p:txBody>
      </p:sp>
      <p:sp>
        <p:nvSpPr>
          <p:cNvPr id="9" name="Text 6"/>
          <p:cNvSpPr txBox="1"/>
          <p:nvPr/>
        </p:nvSpPr>
        <p:spPr>
          <a:xfrm>
            <a:off x="5239512" y="1444752"/>
            <a:ext cx="10789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spc="150" kern="0" dirty="0">
                <a:solidFill>
                  <a:srgbClr val="7C3AED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-120"/>
              </a:rPr>
              <a:t>AI, PER INCIDENT</a:t>
            </a:r>
            <a:endParaRPr lang="en-US" sz="650" dirty="0"/>
          </a:p>
        </p:txBody>
      </p:sp>
      <p:sp>
        <p:nvSpPr>
          <p:cNvPr id="10" name="Text 7"/>
          <p:cNvSpPr txBox="1"/>
          <p:nvPr/>
        </p:nvSpPr>
        <p:spPr>
          <a:xfrm>
            <a:off x="6446520" y="1444752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spc="150" kern="0" dirty="0">
                <a:solidFill>
                  <a:srgbClr val="16A34A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-120"/>
              </a:rPr>
              <a:t>PEOPLE</a:t>
            </a:r>
            <a:endParaRPr lang="en-US" sz="650" dirty="0"/>
          </a:p>
        </p:txBody>
      </p:sp>
      <p:sp>
        <p:nvSpPr>
          <p:cNvPr id="11" name="Text 8"/>
          <p:cNvSpPr txBox="1"/>
          <p:nvPr/>
        </p:nvSpPr>
        <p:spPr>
          <a:xfrm>
            <a:off x="502920" y="1709928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2563EB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-120"/>
              </a:rPr>
              <a:t>01</a:t>
            </a:r>
            <a:endParaRPr lang="en-US" sz="800" dirty="0"/>
          </a:p>
        </p:txBody>
      </p:sp>
      <p:sp>
        <p:nvSpPr>
          <p:cNvPr id="12" name="Text 9"/>
          <p:cNvSpPr txBox="1"/>
          <p:nvPr/>
        </p:nvSpPr>
        <p:spPr>
          <a:xfrm>
            <a:off x="502920" y="1911096"/>
            <a:ext cx="1042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B1220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Onboard</a:t>
            </a:r>
            <a:endParaRPr lang="en-US" sz="1350" dirty="0"/>
          </a:p>
        </p:txBody>
      </p:sp>
      <p:sp>
        <p:nvSpPr>
          <p:cNvPr id="13" name="Text 10"/>
          <p:cNvSpPr txBox="1"/>
          <p:nvPr/>
        </p:nvSpPr>
        <p:spPr>
          <a:xfrm>
            <a:off x="502920" y="2240280"/>
            <a:ext cx="104241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840" dirty="0">
                <a:solidFill>
                  <a:srgbClr val="3A455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Upload manual</a:t>
            </a:r>
            <a:endParaRPr lang="en-US" sz="84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40" dirty="0">
                <a:solidFill>
                  <a:srgbClr val="3A455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Gemini extracts limits</a:t>
            </a:r>
            <a:endParaRPr lang="en-US" sz="84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40" dirty="0">
                <a:solidFill>
                  <a:srgbClr val="3A455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Person verifies</a:t>
            </a:r>
            <a:endParaRPr lang="en-US" sz="84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40" dirty="0">
                <a:solidFill>
                  <a:srgbClr val="3A455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Device key issued</a:t>
            </a:r>
            <a:endParaRPr lang="en-US" sz="840" dirty="0"/>
          </a:p>
        </p:txBody>
      </p:sp>
      <p:sp>
        <p:nvSpPr>
          <p:cNvPr id="14" name="Shape 11"/>
          <p:cNvSpPr/>
          <p:nvPr/>
        </p:nvSpPr>
        <p:spPr>
          <a:xfrm>
            <a:off x="1472184" y="2048256"/>
            <a:ext cx="182880" cy="0"/>
          </a:xfrm>
          <a:prstGeom prst="line">
            <a:avLst/>
          </a:prstGeom>
          <a:noFill/>
          <a:ln w="12700">
            <a:solidFill>
              <a:srgbClr val="9AA4B2"/>
            </a:solidFill>
            <a:prstDash val="solid"/>
            <a:tailEnd type="triangle"/>
          </a:ln>
        </p:spPr>
      </p:sp>
      <p:sp>
        <p:nvSpPr>
          <p:cNvPr id="15" name="Text 12"/>
          <p:cNvSpPr txBox="1"/>
          <p:nvPr/>
        </p:nvSpPr>
        <p:spPr>
          <a:xfrm>
            <a:off x="1691640" y="1709928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0E7490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-120"/>
              </a:rPr>
              <a:t>02</a:t>
            </a:r>
            <a:endParaRPr lang="en-US" sz="800" dirty="0"/>
          </a:p>
        </p:txBody>
      </p:sp>
      <p:sp>
        <p:nvSpPr>
          <p:cNvPr id="16" name="Text 13"/>
          <p:cNvSpPr txBox="1"/>
          <p:nvPr/>
        </p:nvSpPr>
        <p:spPr>
          <a:xfrm>
            <a:off x="1691640" y="1911096"/>
            <a:ext cx="1042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B1220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Ingest</a:t>
            </a:r>
            <a:endParaRPr lang="en-US" sz="1350" dirty="0"/>
          </a:p>
        </p:txBody>
      </p:sp>
      <p:sp>
        <p:nvSpPr>
          <p:cNvPr id="17" name="Text 14"/>
          <p:cNvSpPr txBox="1"/>
          <p:nvPr/>
        </p:nvSpPr>
        <p:spPr>
          <a:xfrm>
            <a:off x="1691640" y="2240280"/>
            <a:ext cx="104241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840" dirty="0">
                <a:solidFill>
                  <a:srgbClr val="3A455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POST /v1/telemetry</a:t>
            </a:r>
            <a:endParaRPr lang="en-US" sz="84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40" dirty="0">
                <a:solidFill>
                  <a:srgbClr val="3A455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Checked against spec</a:t>
            </a:r>
            <a:endParaRPr lang="en-US" sz="84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40" dirty="0">
                <a:solidFill>
                  <a:srgbClr val="3A455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Stored, streamed live</a:t>
            </a:r>
            <a:endParaRPr lang="en-US" sz="84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40" dirty="0">
                <a:solidFill>
                  <a:srgbClr val="3A455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Pub/Sub to BigQuery</a:t>
            </a:r>
            <a:endParaRPr lang="en-US" sz="840" dirty="0"/>
          </a:p>
        </p:txBody>
      </p:sp>
      <p:sp>
        <p:nvSpPr>
          <p:cNvPr id="18" name="Shape 15"/>
          <p:cNvSpPr/>
          <p:nvPr/>
        </p:nvSpPr>
        <p:spPr>
          <a:xfrm>
            <a:off x="2660904" y="2048256"/>
            <a:ext cx="182880" cy="0"/>
          </a:xfrm>
          <a:prstGeom prst="line">
            <a:avLst/>
          </a:prstGeom>
          <a:noFill/>
          <a:ln w="12700">
            <a:solidFill>
              <a:srgbClr val="9AA4B2"/>
            </a:solidFill>
            <a:prstDash val="solid"/>
            <a:tailEnd type="triangle"/>
          </a:ln>
        </p:spPr>
      </p:sp>
      <p:sp>
        <p:nvSpPr>
          <p:cNvPr id="19" name="Text 16"/>
          <p:cNvSpPr txBox="1"/>
          <p:nvPr/>
        </p:nvSpPr>
        <p:spPr>
          <a:xfrm>
            <a:off x="2880360" y="1709928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0E7490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-120"/>
              </a:rPr>
              <a:t>03</a:t>
            </a:r>
            <a:endParaRPr lang="en-US" sz="800" dirty="0"/>
          </a:p>
        </p:txBody>
      </p:sp>
      <p:sp>
        <p:nvSpPr>
          <p:cNvPr id="20" name="Text 17"/>
          <p:cNvSpPr txBox="1"/>
          <p:nvPr/>
        </p:nvSpPr>
        <p:spPr>
          <a:xfrm>
            <a:off x="2880360" y="1911096"/>
            <a:ext cx="1042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B1220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Detect</a:t>
            </a:r>
            <a:endParaRPr lang="en-US" sz="1350" dirty="0"/>
          </a:p>
        </p:txBody>
      </p:sp>
      <p:sp>
        <p:nvSpPr>
          <p:cNvPr id="21" name="Text 18"/>
          <p:cNvSpPr txBox="1"/>
          <p:nvPr/>
        </p:nvSpPr>
        <p:spPr>
          <a:xfrm>
            <a:off x="2880360" y="2240280"/>
            <a:ext cx="104241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840" dirty="0">
                <a:solidFill>
                  <a:srgbClr val="3A455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Limits</a:t>
            </a:r>
            <a:endParaRPr lang="en-US" sz="84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40" dirty="0">
                <a:solidFill>
                  <a:srgbClr val="3A455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Trend to time-to-limit</a:t>
            </a:r>
            <a:endParaRPr lang="en-US" sz="84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40" dirty="0">
                <a:solidFill>
                  <a:srgbClr val="3A455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Anomaly (z-score)</a:t>
            </a:r>
            <a:endParaRPr lang="en-US" sz="84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40" dirty="0">
                <a:solidFill>
                  <a:srgbClr val="3A455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Staleness, forecast</a:t>
            </a:r>
            <a:endParaRPr lang="en-US" sz="840" dirty="0"/>
          </a:p>
        </p:txBody>
      </p:sp>
      <p:sp>
        <p:nvSpPr>
          <p:cNvPr id="22" name="Shape 19"/>
          <p:cNvSpPr/>
          <p:nvPr/>
        </p:nvSpPr>
        <p:spPr>
          <a:xfrm>
            <a:off x="3849624" y="2048256"/>
            <a:ext cx="182880" cy="0"/>
          </a:xfrm>
          <a:prstGeom prst="line">
            <a:avLst/>
          </a:prstGeom>
          <a:noFill/>
          <a:ln w="12700">
            <a:solidFill>
              <a:srgbClr val="9AA4B2"/>
            </a:solidFill>
            <a:prstDash val="solid"/>
            <a:tailEnd type="triangle"/>
          </a:ln>
        </p:spPr>
      </p:sp>
      <p:sp>
        <p:nvSpPr>
          <p:cNvPr id="23" name="Text 20"/>
          <p:cNvSpPr txBox="1"/>
          <p:nvPr/>
        </p:nvSpPr>
        <p:spPr>
          <a:xfrm>
            <a:off x="4069080" y="1709928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D97706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-120"/>
              </a:rPr>
              <a:t>04</a:t>
            </a:r>
            <a:endParaRPr lang="en-US" sz="800" dirty="0"/>
          </a:p>
        </p:txBody>
      </p:sp>
      <p:sp>
        <p:nvSpPr>
          <p:cNvPr id="24" name="Text 21"/>
          <p:cNvSpPr txBox="1"/>
          <p:nvPr/>
        </p:nvSpPr>
        <p:spPr>
          <a:xfrm>
            <a:off x="4069080" y="1911096"/>
            <a:ext cx="1042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B1220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Open incident</a:t>
            </a:r>
            <a:endParaRPr lang="en-US" sz="1350" dirty="0"/>
          </a:p>
        </p:txBody>
      </p:sp>
      <p:sp>
        <p:nvSpPr>
          <p:cNvPr id="25" name="Text 22"/>
          <p:cNvSpPr txBox="1"/>
          <p:nvPr/>
        </p:nvSpPr>
        <p:spPr>
          <a:xfrm>
            <a:off x="4069080" y="2240280"/>
            <a:ext cx="104241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840" dirty="0">
                <a:solidFill>
                  <a:srgbClr val="3A455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One per machine</a:t>
            </a:r>
            <a:endParaRPr lang="en-US" sz="84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40" dirty="0">
                <a:solidFill>
                  <a:srgbClr val="3A455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Five-minute cooldown</a:t>
            </a:r>
            <a:endParaRPr lang="en-US" sz="84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40" dirty="0">
                <a:solidFill>
                  <a:srgbClr val="3A455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Severity ladder</a:t>
            </a:r>
            <a:endParaRPr lang="en-US" sz="84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40" dirty="0">
                <a:solidFill>
                  <a:srgbClr val="3A455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Health score</a:t>
            </a:r>
            <a:endParaRPr lang="en-US" sz="840" dirty="0"/>
          </a:p>
        </p:txBody>
      </p:sp>
      <p:sp>
        <p:nvSpPr>
          <p:cNvPr id="26" name="Shape 23"/>
          <p:cNvSpPr/>
          <p:nvPr/>
        </p:nvSpPr>
        <p:spPr>
          <a:xfrm>
            <a:off x="5038344" y="2048256"/>
            <a:ext cx="182880" cy="0"/>
          </a:xfrm>
          <a:prstGeom prst="line">
            <a:avLst/>
          </a:prstGeom>
          <a:noFill/>
          <a:ln w="12700">
            <a:solidFill>
              <a:srgbClr val="9AA4B2"/>
            </a:solidFill>
            <a:prstDash val="solid"/>
            <a:tailEnd type="triangle"/>
          </a:ln>
        </p:spPr>
      </p:sp>
      <p:sp>
        <p:nvSpPr>
          <p:cNvPr id="27" name="Text 24"/>
          <p:cNvSpPr txBox="1"/>
          <p:nvPr/>
        </p:nvSpPr>
        <p:spPr>
          <a:xfrm>
            <a:off x="5257800" y="1709928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7C3AED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-120"/>
              </a:rPr>
              <a:t>05</a:t>
            </a:r>
            <a:endParaRPr lang="en-US" sz="800" dirty="0"/>
          </a:p>
        </p:txBody>
      </p:sp>
      <p:sp>
        <p:nvSpPr>
          <p:cNvPr id="28" name="Text 25"/>
          <p:cNvSpPr txBox="1"/>
          <p:nvPr/>
        </p:nvSpPr>
        <p:spPr>
          <a:xfrm>
            <a:off x="5257800" y="1911096"/>
            <a:ext cx="1042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B1220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Investigate</a:t>
            </a:r>
            <a:endParaRPr lang="en-US" sz="1350" dirty="0"/>
          </a:p>
        </p:txBody>
      </p:sp>
      <p:sp>
        <p:nvSpPr>
          <p:cNvPr id="29" name="Text 26"/>
          <p:cNvSpPr txBox="1"/>
          <p:nvPr/>
        </p:nvSpPr>
        <p:spPr>
          <a:xfrm>
            <a:off x="5257800" y="2240280"/>
            <a:ext cx="104241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840" dirty="0">
                <a:solidFill>
                  <a:srgbClr val="3A455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Evidence in parallel</a:t>
            </a:r>
            <a:endParaRPr lang="en-US" sz="84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40" dirty="0">
                <a:solidFill>
                  <a:srgbClr val="3A455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Hypotheses, evaluation</a:t>
            </a:r>
            <a:endParaRPr lang="en-US" sz="84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40" dirty="0">
                <a:solidFill>
                  <a:srgbClr val="3A455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Checks, report</a:t>
            </a:r>
            <a:endParaRPr lang="en-US" sz="84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40" dirty="0">
                <a:solidFill>
                  <a:srgbClr val="3A455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Number guardrail</a:t>
            </a:r>
            <a:endParaRPr lang="en-US" sz="840" dirty="0"/>
          </a:p>
        </p:txBody>
      </p:sp>
      <p:sp>
        <p:nvSpPr>
          <p:cNvPr id="30" name="Shape 27"/>
          <p:cNvSpPr/>
          <p:nvPr/>
        </p:nvSpPr>
        <p:spPr>
          <a:xfrm>
            <a:off x="6227064" y="2048256"/>
            <a:ext cx="182880" cy="0"/>
          </a:xfrm>
          <a:prstGeom prst="line">
            <a:avLst/>
          </a:prstGeom>
          <a:noFill/>
          <a:ln w="12700">
            <a:solidFill>
              <a:srgbClr val="9AA4B2"/>
            </a:solidFill>
            <a:prstDash val="solid"/>
            <a:tailEnd type="triangle"/>
          </a:ln>
        </p:spPr>
      </p:sp>
      <p:sp>
        <p:nvSpPr>
          <p:cNvPr id="31" name="Text 28"/>
          <p:cNvSpPr txBox="1"/>
          <p:nvPr/>
        </p:nvSpPr>
        <p:spPr>
          <a:xfrm>
            <a:off x="6446520" y="1709928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DC2626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-120"/>
              </a:rPr>
              <a:t>06</a:t>
            </a:r>
            <a:endParaRPr lang="en-US" sz="800" dirty="0"/>
          </a:p>
        </p:txBody>
      </p:sp>
      <p:sp>
        <p:nvSpPr>
          <p:cNvPr id="32" name="Text 29"/>
          <p:cNvSpPr txBox="1"/>
          <p:nvPr/>
        </p:nvSpPr>
        <p:spPr>
          <a:xfrm>
            <a:off x="6446520" y="1911096"/>
            <a:ext cx="1042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B1220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Escalate</a:t>
            </a:r>
            <a:endParaRPr lang="en-US" sz="1350" dirty="0"/>
          </a:p>
        </p:txBody>
      </p:sp>
      <p:sp>
        <p:nvSpPr>
          <p:cNvPr id="33" name="Text 30"/>
          <p:cNvSpPr txBox="1"/>
          <p:nvPr/>
        </p:nvSpPr>
        <p:spPr>
          <a:xfrm>
            <a:off x="6446520" y="2240280"/>
            <a:ext cx="104241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840" dirty="0">
                <a:solidFill>
                  <a:srgbClr val="3A455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Dashboard and email</a:t>
            </a:r>
            <a:endParaRPr lang="en-US" sz="84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40" dirty="0">
                <a:solidFill>
                  <a:srgbClr val="3A455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Gemini Live call</a:t>
            </a:r>
            <a:endParaRPr lang="en-US" sz="84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40" dirty="0">
                <a:solidFill>
                  <a:srgbClr val="3A455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Next contact at 2 min</a:t>
            </a:r>
            <a:endParaRPr lang="en-US" sz="84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40" dirty="0">
                <a:solidFill>
                  <a:srgbClr val="3A455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Stop at 5 min if no ack</a:t>
            </a:r>
            <a:endParaRPr lang="en-US" sz="840" dirty="0"/>
          </a:p>
        </p:txBody>
      </p:sp>
      <p:sp>
        <p:nvSpPr>
          <p:cNvPr id="34" name="Shape 31"/>
          <p:cNvSpPr/>
          <p:nvPr/>
        </p:nvSpPr>
        <p:spPr>
          <a:xfrm>
            <a:off x="7415784" y="2048256"/>
            <a:ext cx="182880" cy="0"/>
          </a:xfrm>
          <a:prstGeom prst="line">
            <a:avLst/>
          </a:prstGeom>
          <a:noFill/>
          <a:ln w="12700">
            <a:solidFill>
              <a:srgbClr val="9AA4B2"/>
            </a:solidFill>
            <a:prstDash val="solid"/>
            <a:tailEnd type="triangle"/>
          </a:ln>
        </p:spPr>
      </p:sp>
      <p:sp>
        <p:nvSpPr>
          <p:cNvPr id="35" name="Text 32"/>
          <p:cNvSpPr txBox="1"/>
          <p:nvPr/>
        </p:nvSpPr>
        <p:spPr>
          <a:xfrm>
            <a:off x="7635240" y="1709928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6A34A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-120"/>
              </a:rPr>
              <a:t>07</a:t>
            </a:r>
            <a:endParaRPr lang="en-US" sz="800" dirty="0"/>
          </a:p>
        </p:txBody>
      </p:sp>
      <p:sp>
        <p:nvSpPr>
          <p:cNvPr id="36" name="Text 33"/>
          <p:cNvSpPr txBox="1"/>
          <p:nvPr/>
        </p:nvSpPr>
        <p:spPr>
          <a:xfrm>
            <a:off x="7635240" y="1911096"/>
            <a:ext cx="1042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B1220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Act and learn</a:t>
            </a:r>
            <a:endParaRPr lang="en-US" sz="1350" dirty="0"/>
          </a:p>
        </p:txBody>
      </p:sp>
      <p:sp>
        <p:nvSpPr>
          <p:cNvPr id="37" name="Text 34"/>
          <p:cNvSpPr txBox="1"/>
          <p:nvPr/>
        </p:nvSpPr>
        <p:spPr>
          <a:xfrm>
            <a:off x="7635240" y="2240280"/>
            <a:ext cx="104241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840" dirty="0">
                <a:solidFill>
                  <a:srgbClr val="3A455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Ack spoken on call</a:t>
            </a:r>
            <a:endParaRPr lang="en-US" sz="84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40" dirty="0">
                <a:solidFill>
                  <a:srgbClr val="3A455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Work orders</a:t>
            </a:r>
            <a:endParaRPr lang="en-US" sz="84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40" dirty="0">
                <a:solidFill>
                  <a:srgbClr val="3A455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Photo evidence</a:t>
            </a:r>
            <a:endParaRPr lang="en-US" sz="84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40" dirty="0">
                <a:solidFill>
                  <a:srgbClr val="3A455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Resolve with verdict</a:t>
            </a:r>
            <a:endParaRPr lang="en-US" sz="840" dirty="0"/>
          </a:p>
        </p:txBody>
      </p:sp>
      <p:sp>
        <p:nvSpPr>
          <p:cNvPr id="38" name="Shape 35"/>
          <p:cNvSpPr/>
          <p:nvPr/>
        </p:nvSpPr>
        <p:spPr>
          <a:xfrm>
            <a:off x="8138160" y="3383280"/>
            <a:ext cx="0" cy="146304"/>
          </a:xfrm>
          <a:prstGeom prst="line">
            <a:avLst/>
          </a:prstGeom>
          <a:noFill/>
          <a:ln w="12700">
            <a:solidFill>
              <a:srgbClr val="16A34A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 flipH="1">
            <a:off x="5760720" y="3529584"/>
            <a:ext cx="2377440" cy="0"/>
          </a:xfrm>
          <a:prstGeom prst="line">
            <a:avLst/>
          </a:prstGeom>
          <a:noFill/>
          <a:ln w="12700">
            <a:solidFill>
              <a:srgbClr val="16A34A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 flipV="1">
            <a:off x="5760720" y="3401568"/>
            <a:ext cx="0" cy="128016"/>
          </a:xfrm>
          <a:prstGeom prst="line">
            <a:avLst/>
          </a:prstGeom>
          <a:noFill/>
          <a:ln w="12700">
            <a:solidFill>
              <a:srgbClr val="16A34A"/>
            </a:solidFill>
            <a:prstDash val="solid"/>
            <a:tailEnd type="triangle"/>
          </a:ln>
        </p:spPr>
      </p:sp>
      <p:sp>
        <p:nvSpPr>
          <p:cNvPr id="41" name="Text 38"/>
          <p:cNvSpPr txBox="1"/>
          <p:nvPr/>
        </p:nvSpPr>
        <p:spPr>
          <a:xfrm>
            <a:off x="5833872" y="3547872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16A34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Photos and verdicts re-run the investigation</a:t>
            </a:r>
            <a:endParaRPr lang="en-US" sz="750" dirty="0"/>
          </a:p>
        </p:txBody>
      </p:sp>
      <p:sp>
        <p:nvSpPr>
          <p:cNvPr id="42" name="Text 39"/>
          <p:cNvSpPr txBox="1"/>
          <p:nvPr/>
        </p:nvSpPr>
        <p:spPr>
          <a:xfrm>
            <a:off x="411480" y="3840480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50" kern="0" dirty="0">
                <a:solidFill>
                  <a:srgbClr val="6B7686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-120"/>
              </a:rPr>
              <a:t>MEASURED ON THE PROTOTYPE: BEARING WEAR ON A CONVEYOR (MEDIAN OF RUNS)</a:t>
            </a:r>
            <a:endParaRPr lang="en-US" sz="750" dirty="0"/>
          </a:p>
        </p:txBody>
      </p:sp>
      <p:sp>
        <p:nvSpPr>
          <p:cNvPr id="43" name="Shape 40"/>
          <p:cNvSpPr/>
          <p:nvPr/>
        </p:nvSpPr>
        <p:spPr>
          <a:xfrm>
            <a:off x="914400" y="4462272"/>
            <a:ext cx="7132320" cy="0"/>
          </a:xfrm>
          <a:prstGeom prst="line">
            <a:avLst/>
          </a:prstGeom>
          <a:noFill/>
          <a:ln w="9525">
            <a:solidFill>
              <a:srgbClr val="C9D1DD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2354195" y="4448556"/>
            <a:ext cx="5692525" cy="3200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5" name="Text 42"/>
          <p:cNvSpPr txBox="1"/>
          <p:nvPr/>
        </p:nvSpPr>
        <p:spPr>
          <a:xfrm>
            <a:off x="2582795" y="4069080"/>
            <a:ext cx="523532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85 seconds of warning </a:t>
            </a:r>
            <a:pPr algn="ctr" indent="0" marL="0">
              <a:buNone/>
            </a:pPr>
            <a:r>
              <a:rPr lang="en-US" sz="800" dirty="0">
                <a:solidFill>
                  <a:srgbClr val="3A455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before the machine crossed its critical limit, on a fault compressed into two minutes</a:t>
            </a:r>
            <a:endParaRPr lang="en-US" sz="1050" dirty="0"/>
          </a:p>
        </p:txBody>
      </p:sp>
      <p:sp>
        <p:nvSpPr>
          <p:cNvPr id="46" name="Shape 43"/>
          <p:cNvSpPr/>
          <p:nvPr/>
        </p:nvSpPr>
        <p:spPr>
          <a:xfrm>
            <a:off x="850392" y="4398264"/>
            <a:ext cx="128016" cy="128016"/>
          </a:xfrm>
          <a:prstGeom prst="ellipse">
            <a:avLst/>
          </a:prstGeom>
          <a:solidFill>
            <a:srgbClr val="3A4556"/>
          </a:solidFill>
          <a:ln/>
        </p:spPr>
      </p:sp>
      <p:sp>
        <p:nvSpPr>
          <p:cNvPr id="47" name="Text 44"/>
          <p:cNvSpPr txBox="1"/>
          <p:nvPr/>
        </p:nvSpPr>
        <p:spPr>
          <a:xfrm>
            <a:off x="182880" y="4544568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A4556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0 s</a:t>
            </a:r>
            <a:endParaRPr lang="en-US" sz="10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3A455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Bearing starts to fail</a:t>
            </a:r>
            <a:endParaRPr lang="en-US" sz="1050" dirty="0"/>
          </a:p>
        </p:txBody>
      </p:sp>
      <p:sp>
        <p:nvSpPr>
          <p:cNvPr id="48" name="Shape 45"/>
          <p:cNvSpPr/>
          <p:nvPr/>
        </p:nvSpPr>
        <p:spPr>
          <a:xfrm>
            <a:off x="1623615" y="4398264"/>
            <a:ext cx="128016" cy="128016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49" name="Text 46"/>
          <p:cNvSpPr txBox="1"/>
          <p:nvPr/>
        </p:nvSpPr>
        <p:spPr>
          <a:xfrm>
            <a:off x="956103" y="4041648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12 s</a:t>
            </a:r>
            <a:endParaRPr lang="en-US" sz="10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3A455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First anomaly flagged</a:t>
            </a:r>
            <a:endParaRPr lang="en-US" sz="1050" dirty="0"/>
          </a:p>
        </p:txBody>
      </p:sp>
      <p:sp>
        <p:nvSpPr>
          <p:cNvPr id="50" name="Shape 47"/>
          <p:cNvSpPr/>
          <p:nvPr/>
        </p:nvSpPr>
        <p:spPr>
          <a:xfrm>
            <a:off x="2290187" y="4398264"/>
            <a:ext cx="128016" cy="128016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51" name="Text 48"/>
          <p:cNvSpPr txBox="1"/>
          <p:nvPr/>
        </p:nvSpPr>
        <p:spPr>
          <a:xfrm>
            <a:off x="1622675" y="4544568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22 s</a:t>
            </a:r>
            <a:endParaRPr lang="en-US" sz="10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3A455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Warning, report and email</a:t>
            </a:r>
            <a:endParaRPr lang="en-US" sz="1050" dirty="0"/>
          </a:p>
        </p:txBody>
      </p:sp>
      <p:sp>
        <p:nvSpPr>
          <p:cNvPr id="52" name="Shape 49"/>
          <p:cNvSpPr/>
          <p:nvPr/>
        </p:nvSpPr>
        <p:spPr>
          <a:xfrm>
            <a:off x="7982712" y="4398264"/>
            <a:ext cx="128016" cy="128016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53" name="Text 50"/>
          <p:cNvSpPr txBox="1"/>
          <p:nvPr/>
        </p:nvSpPr>
        <p:spPr>
          <a:xfrm>
            <a:off x="7315200" y="4544568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107 s</a:t>
            </a:r>
            <a:endParaRPr lang="en-US" sz="10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3A455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Critical limit crossed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66760" y="4846320"/>
            <a:ext cx="36576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A0A8B5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411480" y="621792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200" kern="0" dirty="0">
                <a:solidFill>
                  <a:srgbClr val="2563EB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-120"/>
              </a:rPr>
              <a:t>04 / PROCESS FLOW DIAGRAM (2 OF 3)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82296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0B1220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Every reading gets the same checks. Severity decides who hears about it</a:t>
            </a:r>
            <a:endParaRPr lang="en-US" sz="2300" dirty="0"/>
          </a:p>
        </p:txBody>
      </p:sp>
      <p:sp>
        <p:nvSpPr>
          <p:cNvPr id="5" name="Shape 2"/>
          <p:cNvSpPr/>
          <p:nvPr/>
        </p:nvSpPr>
        <p:spPr>
          <a:xfrm>
            <a:off x="411480" y="1389888"/>
            <a:ext cx="1554480" cy="329184"/>
          </a:xfrm>
          <a:prstGeom prst="roundRect">
            <a:avLst>
              <a:gd name="adj" fmla="val 13889"/>
            </a:avLst>
          </a:prstGeom>
          <a:solidFill>
            <a:srgbClr val="E6F6F9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66344" y="1389888"/>
            <a:ext cx="14447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dirty="0">
                <a:solidFill>
                  <a:srgbClr val="0B122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 reading arrives</a:t>
            </a:r>
            <a:endParaRPr lang="en-US" sz="830" dirty="0"/>
          </a:p>
        </p:txBody>
      </p:sp>
      <p:sp>
        <p:nvSpPr>
          <p:cNvPr id="7" name="Shape 4"/>
          <p:cNvSpPr/>
          <p:nvPr/>
        </p:nvSpPr>
        <p:spPr>
          <a:xfrm>
            <a:off x="1188720" y="1719072"/>
            <a:ext cx="0" cy="109728"/>
          </a:xfrm>
          <a:prstGeom prst="line">
            <a:avLst/>
          </a:prstGeom>
          <a:noFill/>
          <a:ln w="12700">
            <a:solidFill>
              <a:srgbClr val="6B7686"/>
            </a:solidFill>
            <a:prstDash val="solid"/>
            <a:tailEnd type="triangle"/>
          </a:ln>
        </p:spPr>
      </p:sp>
      <p:sp>
        <p:nvSpPr>
          <p:cNvPr id="8" name="Shape 5"/>
          <p:cNvSpPr/>
          <p:nvPr/>
        </p:nvSpPr>
        <p:spPr>
          <a:xfrm>
            <a:off x="338328" y="1828800"/>
            <a:ext cx="1700784" cy="566928"/>
          </a:xfrm>
          <a:prstGeom prst="diamond">
            <a:avLst/>
          </a:prstGeom>
          <a:solidFill>
            <a:srgbClr val="FFFFFF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21208" y="1828800"/>
            <a:ext cx="13350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dirty="0">
                <a:solidFill>
                  <a:srgbClr val="0B1220"/>
                </a:solidFill>
                <a:latin typeface="Barlow SemiBold" pitchFamily="34" charset="0"/>
                <a:ea typeface="Barlow SemiBold" pitchFamily="34" charset="-122"/>
                <a:cs typeface="Barlow SemiBold" pitchFamily="34" charset="-120"/>
              </a:rPr>
              <a:t>Known parameter and unit?</a:t>
            </a:r>
            <a:endParaRPr lang="en-US" sz="780" dirty="0"/>
          </a:p>
        </p:txBody>
      </p:sp>
      <p:sp>
        <p:nvSpPr>
          <p:cNvPr id="10" name="Shape 7"/>
          <p:cNvSpPr/>
          <p:nvPr/>
        </p:nvSpPr>
        <p:spPr>
          <a:xfrm>
            <a:off x="2039112" y="2112264"/>
            <a:ext cx="338328" cy="0"/>
          </a:xfrm>
          <a:prstGeom prst="line">
            <a:avLst/>
          </a:prstGeom>
          <a:noFill/>
          <a:ln w="12700">
            <a:solidFill>
              <a:srgbClr val="DC2626"/>
            </a:solidFill>
            <a:prstDash val="solid"/>
            <a:tailEnd type="triangle"/>
          </a:ln>
        </p:spPr>
      </p:sp>
      <p:sp>
        <p:nvSpPr>
          <p:cNvPr id="11" name="Text 8"/>
          <p:cNvSpPr txBox="1"/>
          <p:nvPr/>
        </p:nvSpPr>
        <p:spPr>
          <a:xfrm>
            <a:off x="2075688" y="1938528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DC2626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-120"/>
              </a:rPr>
              <a:t>NO</a:t>
            </a:r>
            <a:endParaRPr lang="en-US" sz="650" dirty="0"/>
          </a:p>
        </p:txBody>
      </p:sp>
      <p:sp>
        <p:nvSpPr>
          <p:cNvPr id="12" name="Shape 9"/>
          <p:cNvSpPr/>
          <p:nvPr/>
        </p:nvSpPr>
        <p:spPr>
          <a:xfrm>
            <a:off x="2377440" y="1956816"/>
            <a:ext cx="1143000" cy="310896"/>
          </a:xfrm>
          <a:prstGeom prst="roundRect">
            <a:avLst>
              <a:gd name="adj" fmla="val 14706"/>
            </a:avLst>
          </a:prstGeom>
          <a:solidFill>
            <a:srgbClr val="FDECEC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2432304" y="1956816"/>
            <a:ext cx="10332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dirty="0">
                <a:solidFill>
                  <a:srgbClr val="0B122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Rejected, with the reason</a:t>
            </a:r>
            <a:endParaRPr lang="en-US" sz="830" dirty="0"/>
          </a:p>
        </p:txBody>
      </p:sp>
      <p:sp>
        <p:nvSpPr>
          <p:cNvPr id="14" name="Shape 11"/>
          <p:cNvSpPr/>
          <p:nvPr/>
        </p:nvSpPr>
        <p:spPr>
          <a:xfrm>
            <a:off x="1188720" y="2395728"/>
            <a:ext cx="0" cy="109728"/>
          </a:xfrm>
          <a:prstGeom prst="line">
            <a:avLst/>
          </a:prstGeom>
          <a:noFill/>
          <a:ln w="12700">
            <a:solidFill>
              <a:srgbClr val="6B7686"/>
            </a:solidFill>
            <a:prstDash val="solid"/>
            <a:tailEnd type="triangle"/>
          </a:ln>
        </p:spPr>
      </p:sp>
      <p:sp>
        <p:nvSpPr>
          <p:cNvPr id="15" name="Text 12"/>
          <p:cNvSpPr txBox="1"/>
          <p:nvPr/>
        </p:nvSpPr>
        <p:spPr>
          <a:xfrm>
            <a:off x="1243584" y="237744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16A34A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-120"/>
              </a:rPr>
              <a:t>YES</a:t>
            </a:r>
            <a:endParaRPr lang="en-US" sz="650" dirty="0"/>
          </a:p>
        </p:txBody>
      </p:sp>
      <p:sp>
        <p:nvSpPr>
          <p:cNvPr id="16" name="Shape 13"/>
          <p:cNvSpPr/>
          <p:nvPr/>
        </p:nvSpPr>
        <p:spPr>
          <a:xfrm>
            <a:off x="411480" y="2505456"/>
            <a:ext cx="1554480" cy="420624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466344" y="2505456"/>
            <a:ext cx="14447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dirty="0">
                <a:solidFill>
                  <a:srgbClr val="0B122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Stored, streamed live, sent to BigQuery</a:t>
            </a:r>
            <a:endParaRPr lang="en-US" sz="830" dirty="0"/>
          </a:p>
        </p:txBody>
      </p:sp>
      <p:sp>
        <p:nvSpPr>
          <p:cNvPr id="18" name="Shape 15"/>
          <p:cNvSpPr/>
          <p:nvPr/>
        </p:nvSpPr>
        <p:spPr>
          <a:xfrm>
            <a:off x="1188720" y="2926080"/>
            <a:ext cx="0" cy="109728"/>
          </a:xfrm>
          <a:prstGeom prst="line">
            <a:avLst/>
          </a:prstGeom>
          <a:noFill/>
          <a:ln w="12700">
            <a:solidFill>
              <a:srgbClr val="6B7686"/>
            </a:solidFill>
            <a:prstDash val="solid"/>
            <a:tailEnd type="triangle"/>
          </a:ln>
        </p:spPr>
      </p:sp>
      <p:sp>
        <p:nvSpPr>
          <p:cNvPr id="19" name="Shape 16"/>
          <p:cNvSpPr/>
          <p:nvPr/>
        </p:nvSpPr>
        <p:spPr>
          <a:xfrm>
            <a:off x="338328" y="3035808"/>
            <a:ext cx="1700784" cy="566928"/>
          </a:xfrm>
          <a:prstGeom prst="diamond">
            <a:avLst/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521208" y="3035808"/>
            <a:ext cx="13350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dirty="0">
                <a:solidFill>
                  <a:srgbClr val="0B1220"/>
                </a:solidFill>
                <a:latin typeface="Barlow SemiBold" pitchFamily="34" charset="0"/>
                <a:ea typeface="Barlow SemiBold" pitchFamily="34" charset="-122"/>
                <a:cs typeface="Barlow SemiBold" pitchFamily="34" charset="-120"/>
              </a:rPr>
              <a:t>Past a warning or critical limit?</a:t>
            </a:r>
            <a:endParaRPr lang="en-US" sz="780" dirty="0"/>
          </a:p>
        </p:txBody>
      </p:sp>
      <p:sp>
        <p:nvSpPr>
          <p:cNvPr id="21" name="Shape 18"/>
          <p:cNvSpPr/>
          <p:nvPr/>
        </p:nvSpPr>
        <p:spPr>
          <a:xfrm>
            <a:off x="2039112" y="3319272"/>
            <a:ext cx="338328" cy="0"/>
          </a:xfrm>
          <a:prstGeom prst="line">
            <a:avLst/>
          </a:prstGeom>
          <a:noFill/>
          <a:ln w="12700">
            <a:solidFill>
              <a:srgbClr val="D97706"/>
            </a:solidFill>
            <a:prstDash val="solid"/>
            <a:tailEnd type="triangle"/>
          </a:ln>
        </p:spPr>
      </p:sp>
      <p:sp>
        <p:nvSpPr>
          <p:cNvPr id="22" name="Text 19"/>
          <p:cNvSpPr txBox="1"/>
          <p:nvPr/>
        </p:nvSpPr>
        <p:spPr>
          <a:xfrm>
            <a:off x="2075688" y="3145536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D97706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-120"/>
              </a:rPr>
              <a:t>YES</a:t>
            </a:r>
            <a:endParaRPr lang="en-US" sz="650" dirty="0"/>
          </a:p>
        </p:txBody>
      </p:sp>
      <p:sp>
        <p:nvSpPr>
          <p:cNvPr id="23" name="Shape 20"/>
          <p:cNvSpPr/>
          <p:nvPr/>
        </p:nvSpPr>
        <p:spPr>
          <a:xfrm>
            <a:off x="2377440" y="3163824"/>
            <a:ext cx="1143000" cy="310896"/>
          </a:xfrm>
          <a:prstGeom prst="roundRect">
            <a:avLst>
              <a:gd name="adj" fmla="val 14706"/>
            </a:avLst>
          </a:prstGeom>
          <a:solidFill>
            <a:srgbClr val="FEF3E2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2432304" y="3163824"/>
            <a:ext cx="10332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dirty="0">
                <a:solidFill>
                  <a:srgbClr val="0B122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Limit signal</a:t>
            </a:r>
            <a:endParaRPr lang="en-US" sz="830" dirty="0"/>
          </a:p>
        </p:txBody>
      </p:sp>
      <p:sp>
        <p:nvSpPr>
          <p:cNvPr id="25" name="Shape 22"/>
          <p:cNvSpPr/>
          <p:nvPr/>
        </p:nvSpPr>
        <p:spPr>
          <a:xfrm>
            <a:off x="1188720" y="3602736"/>
            <a:ext cx="0" cy="109728"/>
          </a:xfrm>
          <a:prstGeom prst="line">
            <a:avLst/>
          </a:prstGeom>
          <a:noFill/>
          <a:ln w="12700">
            <a:solidFill>
              <a:srgbClr val="6B7686"/>
            </a:solidFill>
            <a:prstDash val="solid"/>
            <a:tailEnd type="triangle"/>
          </a:ln>
        </p:spPr>
      </p:sp>
      <p:sp>
        <p:nvSpPr>
          <p:cNvPr id="26" name="Text 23"/>
          <p:cNvSpPr txBox="1"/>
          <p:nvPr/>
        </p:nvSpPr>
        <p:spPr>
          <a:xfrm>
            <a:off x="1243584" y="3584448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6B7686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-120"/>
              </a:rPr>
              <a:t>NO</a:t>
            </a:r>
            <a:endParaRPr lang="en-US" sz="650" dirty="0"/>
          </a:p>
        </p:txBody>
      </p:sp>
      <p:sp>
        <p:nvSpPr>
          <p:cNvPr id="27" name="Shape 24"/>
          <p:cNvSpPr/>
          <p:nvPr/>
        </p:nvSpPr>
        <p:spPr>
          <a:xfrm>
            <a:off x="338328" y="3712464"/>
            <a:ext cx="1700784" cy="566928"/>
          </a:xfrm>
          <a:prstGeom prst="diamond">
            <a:avLst/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521208" y="3712464"/>
            <a:ext cx="13350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dirty="0">
                <a:solidFill>
                  <a:srgbClr val="0B1220"/>
                </a:solidFill>
                <a:latin typeface="Barlow SemiBold" pitchFamily="34" charset="0"/>
                <a:ea typeface="Barlow SemiBold" pitchFamily="34" charset="-122"/>
                <a:cs typeface="Barlow SemiBold" pitchFamily="34" charset="-120"/>
              </a:rPr>
              <a:t>Trend reaches critical in 10 min?</a:t>
            </a:r>
            <a:endParaRPr lang="en-US" sz="780" dirty="0"/>
          </a:p>
        </p:txBody>
      </p:sp>
      <p:sp>
        <p:nvSpPr>
          <p:cNvPr id="29" name="Shape 26"/>
          <p:cNvSpPr/>
          <p:nvPr/>
        </p:nvSpPr>
        <p:spPr>
          <a:xfrm>
            <a:off x="2039112" y="3995928"/>
            <a:ext cx="338328" cy="0"/>
          </a:xfrm>
          <a:prstGeom prst="line">
            <a:avLst/>
          </a:prstGeom>
          <a:noFill/>
          <a:ln w="12700">
            <a:solidFill>
              <a:srgbClr val="D97706"/>
            </a:solidFill>
            <a:prstDash val="solid"/>
            <a:tailEnd type="triangle"/>
          </a:ln>
        </p:spPr>
      </p:sp>
      <p:sp>
        <p:nvSpPr>
          <p:cNvPr id="30" name="Text 27"/>
          <p:cNvSpPr txBox="1"/>
          <p:nvPr/>
        </p:nvSpPr>
        <p:spPr>
          <a:xfrm>
            <a:off x="2075688" y="3822192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D97706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-120"/>
              </a:rPr>
              <a:t>YES</a:t>
            </a:r>
            <a:endParaRPr lang="en-US" sz="650" dirty="0"/>
          </a:p>
        </p:txBody>
      </p:sp>
      <p:sp>
        <p:nvSpPr>
          <p:cNvPr id="31" name="Shape 28"/>
          <p:cNvSpPr/>
          <p:nvPr/>
        </p:nvSpPr>
        <p:spPr>
          <a:xfrm>
            <a:off x="2377440" y="3840480"/>
            <a:ext cx="1143000" cy="310896"/>
          </a:xfrm>
          <a:prstGeom prst="roundRect">
            <a:avLst>
              <a:gd name="adj" fmla="val 14706"/>
            </a:avLst>
          </a:prstGeom>
          <a:solidFill>
            <a:srgbClr val="FEF3E2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2432304" y="3840480"/>
            <a:ext cx="10332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dirty="0">
                <a:solidFill>
                  <a:srgbClr val="0B122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Trend signal with ETA</a:t>
            </a:r>
            <a:endParaRPr lang="en-US" sz="830" dirty="0"/>
          </a:p>
        </p:txBody>
      </p:sp>
      <p:sp>
        <p:nvSpPr>
          <p:cNvPr id="33" name="Text 30"/>
          <p:cNvSpPr txBox="1"/>
          <p:nvPr/>
        </p:nvSpPr>
        <p:spPr>
          <a:xfrm>
            <a:off x="411480" y="4370832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i="1" dirty="0">
                <a:solidFill>
                  <a:srgbClr val="6B768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Also on every reading: a z-score of 3.5 or more against the machine's own baseline logs an info event, and the forecast refreshes every 5 s.</a:t>
            </a:r>
            <a:endParaRPr lang="en-US" sz="750" dirty="0"/>
          </a:p>
        </p:txBody>
      </p:sp>
      <p:sp>
        <p:nvSpPr>
          <p:cNvPr id="34" name="Shape 31"/>
          <p:cNvSpPr/>
          <p:nvPr/>
        </p:nvSpPr>
        <p:spPr>
          <a:xfrm>
            <a:off x="3520440" y="3319272"/>
            <a:ext cx="246888" cy="0"/>
          </a:xfrm>
          <a:prstGeom prst="line">
            <a:avLst/>
          </a:prstGeom>
          <a:noFill/>
          <a:ln w="12700">
            <a:solidFill>
              <a:srgbClr val="3A4556"/>
            </a:solidFill>
            <a:prstDash val="solid"/>
            <a:tailEnd type="triangle"/>
          </a:ln>
        </p:spPr>
      </p:sp>
      <p:sp>
        <p:nvSpPr>
          <p:cNvPr id="35" name="Shape 32"/>
          <p:cNvSpPr/>
          <p:nvPr/>
        </p:nvSpPr>
        <p:spPr>
          <a:xfrm>
            <a:off x="3520440" y="3995928"/>
            <a:ext cx="118872" cy="0"/>
          </a:xfrm>
          <a:prstGeom prst="line">
            <a:avLst/>
          </a:prstGeom>
          <a:noFill/>
          <a:ln w="12700">
            <a:solidFill>
              <a:srgbClr val="3A4556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 flipV="1">
            <a:off x="3639312" y="3346704"/>
            <a:ext cx="0" cy="649224"/>
          </a:xfrm>
          <a:prstGeom prst="line">
            <a:avLst/>
          </a:prstGeom>
          <a:noFill/>
          <a:ln w="12700">
            <a:solidFill>
              <a:srgbClr val="3A4556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3767328" y="2962656"/>
            <a:ext cx="1371600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3822192" y="2962656"/>
            <a:ext cx="12618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dirty="0">
                <a:solidFill>
                  <a:srgbClr val="0B122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Incident engine: one per machine, 5 min cooldown, two warnings make a critical</a:t>
            </a:r>
            <a:endParaRPr lang="en-US" sz="830" dirty="0"/>
          </a:p>
        </p:txBody>
      </p:sp>
      <p:sp>
        <p:nvSpPr>
          <p:cNvPr id="39" name="Shape 36"/>
          <p:cNvSpPr/>
          <p:nvPr/>
        </p:nvSpPr>
        <p:spPr>
          <a:xfrm flipV="1">
            <a:off x="4453128" y="2578608"/>
            <a:ext cx="0" cy="384048"/>
          </a:xfrm>
          <a:prstGeom prst="line">
            <a:avLst/>
          </a:prstGeom>
          <a:noFill/>
          <a:ln w="12700">
            <a:solidFill>
              <a:srgbClr val="7C3AED"/>
            </a:solidFill>
            <a:prstDash val="solid"/>
            <a:tailEnd type="triangle"/>
          </a:ln>
        </p:spPr>
      </p:sp>
      <p:sp>
        <p:nvSpPr>
          <p:cNvPr id="40" name="Shape 37"/>
          <p:cNvSpPr/>
          <p:nvPr/>
        </p:nvSpPr>
        <p:spPr>
          <a:xfrm>
            <a:off x="3767328" y="2103120"/>
            <a:ext cx="1371600" cy="475488"/>
          </a:xfrm>
          <a:prstGeom prst="roundRect">
            <a:avLst>
              <a:gd name="adj" fmla="val 9615"/>
            </a:avLst>
          </a:prstGeom>
          <a:solidFill>
            <a:srgbClr val="F1EB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3822192" y="2103120"/>
            <a:ext cx="12618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dirty="0">
                <a:solidFill>
                  <a:srgbClr val="0B122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ADK investigation writes the report and call script</a:t>
            </a:r>
            <a:endParaRPr lang="en-US" sz="830" dirty="0"/>
          </a:p>
        </p:txBody>
      </p:sp>
      <p:sp>
        <p:nvSpPr>
          <p:cNvPr id="42" name="Shape 39"/>
          <p:cNvSpPr/>
          <p:nvPr/>
        </p:nvSpPr>
        <p:spPr>
          <a:xfrm>
            <a:off x="5138928" y="3328416"/>
            <a:ext cx="219456" cy="0"/>
          </a:xfrm>
          <a:prstGeom prst="line">
            <a:avLst/>
          </a:prstGeom>
          <a:noFill/>
          <a:ln w="12700">
            <a:solidFill>
              <a:srgbClr val="3A4556"/>
            </a:solidFill>
            <a:prstDash val="solid"/>
            <a:tailEnd type="triangle"/>
          </a:ln>
        </p:spPr>
      </p:sp>
      <p:sp>
        <p:nvSpPr>
          <p:cNvPr id="43" name="Text 40"/>
          <p:cNvSpPr txBox="1"/>
          <p:nvPr/>
        </p:nvSpPr>
        <p:spPr>
          <a:xfrm>
            <a:off x="5440680" y="138988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50" kern="0" dirty="0">
                <a:solidFill>
                  <a:srgbClr val="3A4556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-120"/>
              </a:rPr>
              <a:t>SEVERITY LADDER</a:t>
            </a:r>
            <a:endParaRPr lang="en-US" sz="750" dirty="0"/>
          </a:p>
        </p:txBody>
      </p:sp>
      <p:sp>
        <p:nvSpPr>
          <p:cNvPr id="44" name="Shape 41"/>
          <p:cNvSpPr/>
          <p:nvPr/>
        </p:nvSpPr>
        <p:spPr>
          <a:xfrm>
            <a:off x="5440680" y="1645920"/>
            <a:ext cx="3291840" cy="713232"/>
          </a:xfrm>
          <a:prstGeom prst="roundRect">
            <a:avLst>
              <a:gd name="adj" fmla="val 6410"/>
            </a:avLst>
          </a:prstGeom>
          <a:solidFill>
            <a:srgbClr val="EAF1FF"/>
          </a:solidFill>
          <a:ln/>
        </p:spPr>
      </p:sp>
      <p:sp>
        <p:nvSpPr>
          <p:cNvPr id="45" name="Shape 42"/>
          <p:cNvSpPr/>
          <p:nvPr/>
        </p:nvSpPr>
        <p:spPr>
          <a:xfrm>
            <a:off x="5568696" y="1783080"/>
            <a:ext cx="109728" cy="10972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46" name="Text 43"/>
          <p:cNvSpPr txBox="1"/>
          <p:nvPr/>
        </p:nvSpPr>
        <p:spPr>
          <a:xfrm>
            <a:off x="5751576" y="1700784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563EB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Info</a:t>
            </a:r>
            <a:endParaRPr lang="en-US" sz="1350" dirty="0"/>
          </a:p>
        </p:txBody>
      </p:sp>
      <p:sp>
        <p:nvSpPr>
          <p:cNvPr id="47" name="Text 44"/>
          <p:cNvSpPr txBox="1"/>
          <p:nvPr/>
        </p:nvSpPr>
        <p:spPr>
          <a:xfrm>
            <a:off x="6675120" y="1719072"/>
            <a:ext cx="1965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B1220"/>
                </a:solidFill>
                <a:latin typeface="Barlow SemiBold" pitchFamily="34" charset="0"/>
                <a:ea typeface="Barlow SemiBold" pitchFamily="34" charset="-122"/>
                <a:cs typeface="Barlow SemiBold" pitchFamily="34" charset="-120"/>
              </a:rPr>
              <a:t>One anomaly, inside limits</a:t>
            </a:r>
            <a:endParaRPr lang="en-US" sz="800" dirty="0"/>
          </a:p>
        </p:txBody>
      </p:sp>
      <p:sp>
        <p:nvSpPr>
          <p:cNvPr id="48" name="Text 45"/>
          <p:cNvSpPr txBox="1"/>
          <p:nvPr/>
        </p:nvSpPr>
        <p:spPr>
          <a:xfrm>
            <a:off x="5751576" y="1993392"/>
            <a:ext cx="2880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20" dirty="0">
                <a:solidFill>
                  <a:srgbClr val="3A455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 dashboard event. No incident, no noise.</a:t>
            </a:r>
            <a:endParaRPr lang="en-US" sz="820" dirty="0"/>
          </a:p>
        </p:txBody>
      </p:sp>
      <p:sp>
        <p:nvSpPr>
          <p:cNvPr id="49" name="Shape 46"/>
          <p:cNvSpPr/>
          <p:nvPr/>
        </p:nvSpPr>
        <p:spPr>
          <a:xfrm>
            <a:off x="5440680" y="2432304"/>
            <a:ext cx="3291840" cy="713232"/>
          </a:xfrm>
          <a:prstGeom prst="roundRect">
            <a:avLst>
              <a:gd name="adj" fmla="val 6410"/>
            </a:avLst>
          </a:prstGeom>
          <a:solidFill>
            <a:srgbClr val="FEF3E2"/>
          </a:solidFill>
          <a:ln/>
        </p:spPr>
      </p:sp>
      <p:sp>
        <p:nvSpPr>
          <p:cNvPr id="50" name="Shape 47"/>
          <p:cNvSpPr/>
          <p:nvPr/>
        </p:nvSpPr>
        <p:spPr>
          <a:xfrm>
            <a:off x="5568696" y="2569464"/>
            <a:ext cx="109728" cy="109728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51" name="Text 48"/>
          <p:cNvSpPr txBox="1"/>
          <p:nvPr/>
        </p:nvSpPr>
        <p:spPr>
          <a:xfrm>
            <a:off x="5751576" y="248716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D97706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Warning</a:t>
            </a:r>
            <a:endParaRPr lang="en-US" sz="1350" dirty="0"/>
          </a:p>
        </p:txBody>
      </p:sp>
      <p:sp>
        <p:nvSpPr>
          <p:cNvPr id="52" name="Text 49"/>
          <p:cNvSpPr txBox="1"/>
          <p:nvPr/>
        </p:nvSpPr>
        <p:spPr>
          <a:xfrm>
            <a:off x="6675120" y="2505456"/>
            <a:ext cx="1965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B1220"/>
                </a:solidFill>
                <a:latin typeface="Barlow SemiBold" pitchFamily="34" charset="0"/>
                <a:ea typeface="Barlow SemiBold" pitchFamily="34" charset="-122"/>
                <a:cs typeface="Barlow SemiBold" pitchFamily="34" charset="-120"/>
              </a:rPr>
              <a:t>A limit or a trend</a:t>
            </a:r>
            <a:endParaRPr lang="en-US" sz="800" dirty="0"/>
          </a:p>
        </p:txBody>
      </p:sp>
      <p:sp>
        <p:nvSpPr>
          <p:cNvPr id="53" name="Text 50"/>
          <p:cNvSpPr txBox="1"/>
          <p:nvPr/>
        </p:nvSpPr>
        <p:spPr>
          <a:xfrm>
            <a:off x="5751576" y="2779776"/>
            <a:ext cx="2880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20" dirty="0">
                <a:solidFill>
                  <a:srgbClr val="3A455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Dashboard and email, plus the report when the agent finishes.</a:t>
            </a:r>
            <a:endParaRPr lang="en-US" sz="820" dirty="0"/>
          </a:p>
        </p:txBody>
      </p:sp>
      <p:sp>
        <p:nvSpPr>
          <p:cNvPr id="54" name="Shape 51"/>
          <p:cNvSpPr/>
          <p:nvPr/>
        </p:nvSpPr>
        <p:spPr>
          <a:xfrm>
            <a:off x="5440680" y="3218688"/>
            <a:ext cx="3291840" cy="713232"/>
          </a:xfrm>
          <a:prstGeom prst="roundRect">
            <a:avLst>
              <a:gd name="adj" fmla="val 6410"/>
            </a:avLst>
          </a:prstGeom>
          <a:solidFill>
            <a:srgbClr val="FDECEC"/>
          </a:solidFill>
          <a:ln/>
        </p:spPr>
      </p:sp>
      <p:sp>
        <p:nvSpPr>
          <p:cNvPr id="55" name="Shape 52"/>
          <p:cNvSpPr/>
          <p:nvPr/>
        </p:nvSpPr>
        <p:spPr>
          <a:xfrm>
            <a:off x="5568696" y="3355848"/>
            <a:ext cx="109728" cy="10972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56" name="Text 53"/>
          <p:cNvSpPr txBox="1"/>
          <p:nvPr/>
        </p:nvSpPr>
        <p:spPr>
          <a:xfrm>
            <a:off x="5751576" y="327355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DC2626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Critical</a:t>
            </a:r>
            <a:endParaRPr lang="en-US" sz="1350" dirty="0"/>
          </a:p>
        </p:txBody>
      </p:sp>
      <p:sp>
        <p:nvSpPr>
          <p:cNvPr id="57" name="Text 54"/>
          <p:cNvSpPr txBox="1"/>
          <p:nvPr/>
        </p:nvSpPr>
        <p:spPr>
          <a:xfrm>
            <a:off x="6675120" y="3291840"/>
            <a:ext cx="1965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B1220"/>
                </a:solidFill>
                <a:latin typeface="Barlow SemiBold" pitchFamily="34" charset="0"/>
                <a:ea typeface="Barlow SemiBold" pitchFamily="34" charset="-122"/>
                <a:cs typeface="Barlow SemiBold" pitchFamily="34" charset="-120"/>
              </a:rPr>
              <a:t>Critical limit, or two warnings at once</a:t>
            </a:r>
            <a:endParaRPr lang="en-US" sz="800" dirty="0"/>
          </a:p>
        </p:txBody>
      </p:sp>
      <p:sp>
        <p:nvSpPr>
          <p:cNvPr id="58" name="Text 55"/>
          <p:cNvSpPr txBox="1"/>
          <p:nvPr/>
        </p:nvSpPr>
        <p:spPr>
          <a:xfrm>
            <a:off x="5751576" y="3566160"/>
            <a:ext cx="2880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20" dirty="0">
                <a:solidFill>
                  <a:srgbClr val="3A455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Everything above, plus a Gemini Live call to contact #1, and the shutdown timer starts.</a:t>
            </a:r>
            <a:endParaRPr lang="en-US" sz="820" dirty="0"/>
          </a:p>
        </p:txBody>
      </p:sp>
      <p:sp>
        <p:nvSpPr>
          <p:cNvPr id="59" name="Shape 56"/>
          <p:cNvSpPr/>
          <p:nvPr/>
        </p:nvSpPr>
        <p:spPr>
          <a:xfrm>
            <a:off x="5440680" y="4005072"/>
            <a:ext cx="3291840" cy="713232"/>
          </a:xfrm>
          <a:prstGeom prst="roundRect">
            <a:avLst>
              <a:gd name="adj" fmla="val 6410"/>
            </a:avLst>
          </a:prstGeom>
          <a:solidFill>
            <a:srgbClr val="F9DADA"/>
          </a:solidFill>
          <a:ln/>
        </p:spPr>
      </p:sp>
      <p:sp>
        <p:nvSpPr>
          <p:cNvPr id="60" name="Shape 57"/>
          <p:cNvSpPr/>
          <p:nvPr/>
        </p:nvSpPr>
        <p:spPr>
          <a:xfrm>
            <a:off x="5568696" y="4142232"/>
            <a:ext cx="109728" cy="109728"/>
          </a:xfrm>
          <a:prstGeom prst="ellipse">
            <a:avLst/>
          </a:prstGeom>
          <a:solidFill>
            <a:srgbClr val="991B1B"/>
          </a:solidFill>
          <a:ln/>
        </p:spPr>
      </p:sp>
      <p:sp>
        <p:nvSpPr>
          <p:cNvPr id="61" name="Text 58"/>
          <p:cNvSpPr txBox="1"/>
          <p:nvPr/>
        </p:nvSpPr>
        <p:spPr>
          <a:xfrm>
            <a:off x="5751576" y="4059936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991B1B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Emergency</a:t>
            </a:r>
            <a:endParaRPr lang="en-US" sz="1350" dirty="0"/>
          </a:p>
        </p:txBody>
      </p:sp>
      <p:sp>
        <p:nvSpPr>
          <p:cNvPr id="62" name="Text 59"/>
          <p:cNvSpPr txBox="1"/>
          <p:nvPr/>
        </p:nvSpPr>
        <p:spPr>
          <a:xfrm>
            <a:off x="6675120" y="4078224"/>
            <a:ext cx="1965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B1220"/>
                </a:solidFill>
                <a:latin typeface="Barlow SemiBold" pitchFamily="34" charset="0"/>
                <a:ea typeface="Barlow SemiBold" pitchFamily="34" charset="-122"/>
                <a:cs typeface="Barlow SemiBold" pitchFamily="34" charset="-120"/>
              </a:rPr>
              <a:t>No acknowledgement in 2 min, or an E-stop</a:t>
            </a:r>
            <a:endParaRPr lang="en-US" sz="800" dirty="0"/>
          </a:p>
        </p:txBody>
      </p:sp>
      <p:sp>
        <p:nvSpPr>
          <p:cNvPr id="63" name="Text 60"/>
          <p:cNvSpPr txBox="1"/>
          <p:nvPr/>
        </p:nvSpPr>
        <p:spPr>
          <a:xfrm>
            <a:off x="5751576" y="4352544"/>
            <a:ext cx="2880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20" dirty="0">
                <a:solidFill>
                  <a:srgbClr val="3A455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Call the next contact every 2 min. No one in 5 min: Muse shuts the machine down.</a:t>
            </a:r>
            <a:endParaRPr lang="en-US" sz="8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66760" y="4846320"/>
            <a:ext cx="36576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A0A8B5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411480" y="621792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200" kern="0" dirty="0">
                <a:solidFill>
                  <a:srgbClr val="2563EB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-120"/>
              </a:rPr>
              <a:t>04 / PROCESS FLOW DIAGRAM (3 OF 3): USE CASES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82296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0B1220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Who uses BatchGuard, and for what</a:t>
            </a:r>
            <a:endParaRPr lang="en-US" sz="2500" dirty="0"/>
          </a:p>
        </p:txBody>
      </p:sp>
      <p:sp>
        <p:nvSpPr>
          <p:cNvPr id="5" name="Shape 2"/>
          <p:cNvSpPr/>
          <p:nvPr/>
        </p:nvSpPr>
        <p:spPr>
          <a:xfrm>
            <a:off x="2103120" y="1389888"/>
            <a:ext cx="4937760" cy="3456432"/>
          </a:xfrm>
          <a:prstGeom prst="roundRect">
            <a:avLst>
              <a:gd name="adj" fmla="val 1587"/>
            </a:avLst>
          </a:prstGeom>
          <a:solidFill>
            <a:srgbClr val="F4F6FA"/>
          </a:solidFill>
          <a:ln w="9525">
            <a:solidFill>
              <a:srgbClr val="C9D1DD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2212848" y="143560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50" kern="0" dirty="0">
                <a:solidFill>
                  <a:srgbClr val="6B7686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-120"/>
              </a:rPr>
              <a:t>BATCHGUARD AI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2240280" y="1691640"/>
            <a:ext cx="2240280" cy="42062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2563EB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2386584" y="1691640"/>
            <a:ext cx="19476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0B122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Onboard a machine from its manual</a:t>
            </a:r>
            <a:endParaRPr lang="en-US" sz="820" dirty="0"/>
          </a:p>
        </p:txBody>
      </p:sp>
      <p:sp>
        <p:nvSpPr>
          <p:cNvPr id="9" name="Shape 6"/>
          <p:cNvSpPr/>
          <p:nvPr/>
        </p:nvSpPr>
        <p:spPr>
          <a:xfrm>
            <a:off x="4663440" y="1691640"/>
            <a:ext cx="2240280" cy="42062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2563EB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809744" y="1691640"/>
            <a:ext cx="19476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0B122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Verify extracted limits</a:t>
            </a:r>
            <a:endParaRPr lang="en-US" sz="820" dirty="0"/>
          </a:p>
        </p:txBody>
      </p:sp>
      <p:sp>
        <p:nvSpPr>
          <p:cNvPr id="11" name="Shape 8"/>
          <p:cNvSpPr/>
          <p:nvPr/>
        </p:nvSpPr>
        <p:spPr>
          <a:xfrm>
            <a:off x="2240280" y="2221992"/>
            <a:ext cx="2240280" cy="42062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E7490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2386584" y="2221992"/>
            <a:ext cx="19476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0B122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Stream telemetry with a device key</a:t>
            </a:r>
            <a:endParaRPr lang="en-US" sz="820" dirty="0"/>
          </a:p>
        </p:txBody>
      </p:sp>
      <p:sp>
        <p:nvSpPr>
          <p:cNvPr id="13" name="Shape 10"/>
          <p:cNvSpPr/>
          <p:nvPr/>
        </p:nvSpPr>
        <p:spPr>
          <a:xfrm>
            <a:off x="4663440" y="2221992"/>
            <a:ext cx="2240280" cy="42062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E7490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809744" y="2221992"/>
            <a:ext cx="19476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0B122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Watch the dashboard and 3D factory</a:t>
            </a:r>
            <a:endParaRPr lang="en-US" sz="820" dirty="0"/>
          </a:p>
        </p:txBody>
      </p:sp>
      <p:sp>
        <p:nvSpPr>
          <p:cNvPr id="15" name="Shape 12"/>
          <p:cNvSpPr/>
          <p:nvPr/>
        </p:nvSpPr>
        <p:spPr>
          <a:xfrm>
            <a:off x="2240280" y="2752344"/>
            <a:ext cx="2240280" cy="42062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DC2626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2386584" y="2752344"/>
            <a:ext cx="19476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0B122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Get an email or a phone call</a:t>
            </a:r>
            <a:endParaRPr lang="en-US" sz="820" dirty="0"/>
          </a:p>
        </p:txBody>
      </p:sp>
      <p:sp>
        <p:nvSpPr>
          <p:cNvPr id="17" name="Shape 14"/>
          <p:cNvSpPr/>
          <p:nvPr/>
        </p:nvSpPr>
        <p:spPr>
          <a:xfrm>
            <a:off x="4663440" y="2752344"/>
            <a:ext cx="2240280" cy="42062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DC2626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4809744" y="2752344"/>
            <a:ext cx="19476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0B122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Acknowledge on the call</a:t>
            </a:r>
            <a:endParaRPr lang="en-US" sz="820" dirty="0"/>
          </a:p>
        </p:txBody>
      </p:sp>
      <p:sp>
        <p:nvSpPr>
          <p:cNvPr id="19" name="Shape 16"/>
          <p:cNvSpPr/>
          <p:nvPr/>
        </p:nvSpPr>
        <p:spPr>
          <a:xfrm>
            <a:off x="2240280" y="3282696"/>
            <a:ext cx="2240280" cy="42062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7C3AED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2386584" y="3282696"/>
            <a:ext cx="19476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0B122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Investigate and ask Muse</a:t>
            </a:r>
            <a:endParaRPr lang="en-US" sz="820" dirty="0"/>
          </a:p>
        </p:txBody>
      </p:sp>
      <p:sp>
        <p:nvSpPr>
          <p:cNvPr id="21" name="Shape 18"/>
          <p:cNvSpPr/>
          <p:nvPr/>
        </p:nvSpPr>
        <p:spPr>
          <a:xfrm>
            <a:off x="4663440" y="3282696"/>
            <a:ext cx="2240280" cy="42062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7C3AED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4809744" y="3282696"/>
            <a:ext cx="19476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0B122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Talk to the factory by voice</a:t>
            </a:r>
            <a:endParaRPr lang="en-US" sz="820" dirty="0"/>
          </a:p>
        </p:txBody>
      </p:sp>
      <p:sp>
        <p:nvSpPr>
          <p:cNvPr id="23" name="Shape 20"/>
          <p:cNvSpPr/>
          <p:nvPr/>
        </p:nvSpPr>
        <p:spPr>
          <a:xfrm>
            <a:off x="2240280" y="3813048"/>
            <a:ext cx="2240280" cy="42062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16A34A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2386584" y="3813048"/>
            <a:ext cx="19476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0B122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Upload photo evidence</a:t>
            </a:r>
            <a:endParaRPr lang="en-US" sz="820" dirty="0"/>
          </a:p>
        </p:txBody>
      </p:sp>
      <p:sp>
        <p:nvSpPr>
          <p:cNvPr id="25" name="Shape 22"/>
          <p:cNvSpPr/>
          <p:nvPr/>
        </p:nvSpPr>
        <p:spPr>
          <a:xfrm>
            <a:off x="4663440" y="3813048"/>
            <a:ext cx="2240280" cy="42062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16A34A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4809744" y="3813048"/>
            <a:ext cx="19476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0B122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Work orders, resolve with a verdict</a:t>
            </a:r>
            <a:endParaRPr lang="en-US" sz="820" dirty="0"/>
          </a:p>
        </p:txBody>
      </p:sp>
      <p:sp>
        <p:nvSpPr>
          <p:cNvPr id="27" name="Shape 24"/>
          <p:cNvSpPr/>
          <p:nvPr/>
        </p:nvSpPr>
        <p:spPr>
          <a:xfrm>
            <a:off x="2240280" y="4343400"/>
            <a:ext cx="2240280" cy="42062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3A4556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2386584" y="4343400"/>
            <a:ext cx="19476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0B122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Wire the line, set contacts</a:t>
            </a:r>
            <a:endParaRPr lang="en-US" sz="820" dirty="0"/>
          </a:p>
        </p:txBody>
      </p:sp>
      <p:sp>
        <p:nvSpPr>
          <p:cNvPr id="29" name="Shape 26"/>
          <p:cNvSpPr/>
          <p:nvPr/>
        </p:nvSpPr>
        <p:spPr>
          <a:xfrm>
            <a:off x="4663440" y="4343400"/>
            <a:ext cx="2240280" cy="42062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3A4556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809744" y="4343400"/>
            <a:ext cx="19476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0B122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Review observability and evaluation</a:t>
            </a:r>
            <a:endParaRPr lang="en-US" sz="820" dirty="0"/>
          </a:p>
        </p:txBody>
      </p:sp>
      <p:sp>
        <p:nvSpPr>
          <p:cNvPr id="31" name="Shape 28"/>
          <p:cNvSpPr/>
          <p:nvPr/>
        </p:nvSpPr>
        <p:spPr>
          <a:xfrm>
            <a:off x="777240" y="1554480"/>
            <a:ext cx="402336" cy="402336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3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" y="1636776"/>
            <a:ext cx="237744" cy="237744"/>
          </a:xfrm>
          <a:prstGeom prst="rect">
            <a:avLst/>
          </a:prstGeom>
        </p:spPr>
      </p:pic>
      <p:sp>
        <p:nvSpPr>
          <p:cNvPr id="33" name="Text 29"/>
          <p:cNvSpPr txBox="1"/>
          <p:nvPr/>
        </p:nvSpPr>
        <p:spPr>
          <a:xfrm>
            <a:off x="365760" y="1984248"/>
            <a:ext cx="1225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563EB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Plant owner</a:t>
            </a:r>
            <a:endParaRPr lang="en-US" sz="1150" dirty="0"/>
          </a:p>
        </p:txBody>
      </p:sp>
      <p:sp>
        <p:nvSpPr>
          <p:cNvPr id="34" name="Text 30"/>
          <p:cNvSpPr txBox="1"/>
          <p:nvPr/>
        </p:nvSpPr>
        <p:spPr>
          <a:xfrm>
            <a:off x="365760" y="2194560"/>
            <a:ext cx="1225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768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manager, plant head</a:t>
            </a:r>
            <a:endParaRPr lang="en-US" sz="750" dirty="0"/>
          </a:p>
        </p:txBody>
      </p:sp>
      <p:sp>
        <p:nvSpPr>
          <p:cNvPr id="35" name="Shape 31"/>
          <p:cNvSpPr/>
          <p:nvPr/>
        </p:nvSpPr>
        <p:spPr>
          <a:xfrm>
            <a:off x="777240" y="2697480"/>
            <a:ext cx="402336" cy="402336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3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536" y="2779776"/>
            <a:ext cx="237744" cy="237744"/>
          </a:xfrm>
          <a:prstGeom prst="rect">
            <a:avLst/>
          </a:prstGeom>
        </p:spPr>
      </p:pic>
      <p:sp>
        <p:nvSpPr>
          <p:cNvPr id="37" name="Text 32"/>
          <p:cNvSpPr txBox="1"/>
          <p:nvPr/>
        </p:nvSpPr>
        <p:spPr>
          <a:xfrm>
            <a:off x="365760" y="3127248"/>
            <a:ext cx="1225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DC2626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Maintenance lead</a:t>
            </a:r>
            <a:endParaRPr lang="en-US" sz="1150" dirty="0"/>
          </a:p>
        </p:txBody>
      </p:sp>
      <p:sp>
        <p:nvSpPr>
          <p:cNvPr id="38" name="Text 33"/>
          <p:cNvSpPr txBox="1"/>
          <p:nvPr/>
        </p:nvSpPr>
        <p:spPr>
          <a:xfrm>
            <a:off x="365760" y="3337560"/>
            <a:ext cx="1225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768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on-call technician</a:t>
            </a:r>
            <a:endParaRPr lang="en-US" sz="750" dirty="0"/>
          </a:p>
        </p:txBody>
      </p:sp>
      <p:sp>
        <p:nvSpPr>
          <p:cNvPr id="39" name="Shape 34"/>
          <p:cNvSpPr/>
          <p:nvPr/>
        </p:nvSpPr>
        <p:spPr>
          <a:xfrm>
            <a:off x="777240" y="3840480"/>
            <a:ext cx="402336" cy="402336"/>
          </a:xfrm>
          <a:prstGeom prst="ellipse">
            <a:avLst/>
          </a:prstGeom>
          <a:solidFill>
            <a:srgbClr val="3A4556"/>
          </a:solidFill>
          <a:ln/>
        </p:spPr>
      </p:sp>
      <p:pic>
        <p:nvPicPr>
          <p:cNvPr id="4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" y="3922776"/>
            <a:ext cx="237744" cy="237744"/>
          </a:xfrm>
          <a:prstGeom prst="rect">
            <a:avLst/>
          </a:prstGeom>
        </p:spPr>
      </p:pic>
      <p:sp>
        <p:nvSpPr>
          <p:cNvPr id="41" name="Text 35"/>
          <p:cNvSpPr txBox="1"/>
          <p:nvPr/>
        </p:nvSpPr>
        <p:spPr>
          <a:xfrm>
            <a:off x="365760" y="4270248"/>
            <a:ext cx="1225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A4556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Integrator</a:t>
            </a:r>
            <a:endParaRPr lang="en-US" sz="1150" dirty="0"/>
          </a:p>
        </p:txBody>
      </p:sp>
      <p:sp>
        <p:nvSpPr>
          <p:cNvPr id="42" name="Text 36"/>
          <p:cNvSpPr txBox="1"/>
          <p:nvPr/>
        </p:nvSpPr>
        <p:spPr>
          <a:xfrm>
            <a:off x="365760" y="4480560"/>
            <a:ext cx="1225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768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sets up many plants</a:t>
            </a:r>
            <a:endParaRPr lang="en-US" sz="750" dirty="0"/>
          </a:p>
        </p:txBody>
      </p:sp>
      <p:sp>
        <p:nvSpPr>
          <p:cNvPr id="43" name="Shape 37"/>
          <p:cNvSpPr/>
          <p:nvPr/>
        </p:nvSpPr>
        <p:spPr>
          <a:xfrm>
            <a:off x="7909560" y="1691640"/>
            <a:ext cx="402336" cy="402336"/>
          </a:xfrm>
          <a:prstGeom prst="ellipse">
            <a:avLst/>
          </a:prstGeom>
          <a:solidFill>
            <a:srgbClr val="0E7490"/>
          </a:solidFill>
          <a:ln/>
        </p:spPr>
      </p:sp>
      <p:pic>
        <p:nvPicPr>
          <p:cNvPr id="4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91856" y="1773936"/>
            <a:ext cx="237744" cy="237744"/>
          </a:xfrm>
          <a:prstGeom prst="rect">
            <a:avLst/>
          </a:prstGeom>
        </p:spPr>
      </p:pic>
      <p:sp>
        <p:nvSpPr>
          <p:cNvPr id="45" name="Text 38"/>
          <p:cNvSpPr txBox="1"/>
          <p:nvPr/>
        </p:nvSpPr>
        <p:spPr>
          <a:xfrm>
            <a:off x="7498080" y="2121408"/>
            <a:ext cx="1225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E7490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Machine</a:t>
            </a:r>
            <a:endParaRPr lang="en-US" sz="1150" dirty="0"/>
          </a:p>
        </p:txBody>
      </p:sp>
      <p:sp>
        <p:nvSpPr>
          <p:cNvPr id="46" name="Text 39"/>
          <p:cNvSpPr txBox="1"/>
          <p:nvPr/>
        </p:nvSpPr>
        <p:spPr>
          <a:xfrm>
            <a:off x="7498080" y="2331720"/>
            <a:ext cx="1225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768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PLC or gateway, 1 Hz</a:t>
            </a:r>
            <a:endParaRPr lang="en-US" sz="750" dirty="0"/>
          </a:p>
        </p:txBody>
      </p:sp>
      <p:sp>
        <p:nvSpPr>
          <p:cNvPr id="47" name="Shape 40"/>
          <p:cNvSpPr/>
          <p:nvPr/>
        </p:nvSpPr>
        <p:spPr>
          <a:xfrm>
            <a:off x="7909560" y="3200400"/>
            <a:ext cx="402336" cy="402336"/>
          </a:xfrm>
          <a:prstGeom prst="ellipse">
            <a:avLst/>
          </a:prstGeom>
          <a:solidFill>
            <a:srgbClr val="7C3AED"/>
          </a:solidFill>
          <a:ln/>
        </p:spPr>
      </p:sp>
      <p:pic>
        <p:nvPicPr>
          <p:cNvPr id="4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91856" y="3282696"/>
            <a:ext cx="237744" cy="237744"/>
          </a:xfrm>
          <a:prstGeom prst="rect">
            <a:avLst/>
          </a:prstGeom>
        </p:spPr>
      </p:pic>
      <p:sp>
        <p:nvSpPr>
          <p:cNvPr id="49" name="Text 41"/>
          <p:cNvSpPr txBox="1"/>
          <p:nvPr/>
        </p:nvSpPr>
        <p:spPr>
          <a:xfrm>
            <a:off x="7498080" y="3630168"/>
            <a:ext cx="1225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7C3AED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Muse</a:t>
            </a:r>
            <a:endParaRPr lang="en-US" sz="1150" dirty="0"/>
          </a:p>
        </p:txBody>
      </p:sp>
      <p:sp>
        <p:nvSpPr>
          <p:cNvPr id="50" name="Text 42"/>
          <p:cNvSpPr txBox="1"/>
          <p:nvPr/>
        </p:nvSpPr>
        <p:spPr>
          <a:xfrm>
            <a:off x="7498080" y="3840480"/>
            <a:ext cx="1225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768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AI agent on Vertex AI</a:t>
            </a:r>
            <a:endParaRPr lang="en-US" sz="750" dirty="0"/>
          </a:p>
        </p:txBody>
      </p:sp>
      <p:sp>
        <p:nvSpPr>
          <p:cNvPr id="51" name="Shape 43"/>
          <p:cNvSpPr/>
          <p:nvPr/>
        </p:nvSpPr>
        <p:spPr>
          <a:xfrm>
            <a:off x="1197864" y="1755648"/>
            <a:ext cx="1042416" cy="146304"/>
          </a:xfrm>
          <a:prstGeom prst="line">
            <a:avLst/>
          </a:prstGeom>
          <a:noFill/>
          <a:ln w="9525">
            <a:solidFill>
              <a:srgbClr val="B4BCC8"/>
            </a:solidFill>
            <a:prstDash val="solid"/>
          </a:ln>
        </p:spPr>
      </p:sp>
      <p:sp>
        <p:nvSpPr>
          <p:cNvPr id="52" name="Shape 44"/>
          <p:cNvSpPr/>
          <p:nvPr/>
        </p:nvSpPr>
        <p:spPr>
          <a:xfrm>
            <a:off x="1197864" y="1755648"/>
            <a:ext cx="1042416" cy="1207008"/>
          </a:xfrm>
          <a:prstGeom prst="line">
            <a:avLst/>
          </a:prstGeom>
          <a:noFill/>
          <a:ln w="9525">
            <a:solidFill>
              <a:srgbClr val="B4BCC8"/>
            </a:solidFill>
            <a:prstDash val="solid"/>
          </a:ln>
        </p:spPr>
      </p:sp>
      <p:sp>
        <p:nvSpPr>
          <p:cNvPr id="53" name="Shape 45"/>
          <p:cNvSpPr/>
          <p:nvPr/>
        </p:nvSpPr>
        <p:spPr>
          <a:xfrm>
            <a:off x="1197864" y="1755648"/>
            <a:ext cx="1042416" cy="1737360"/>
          </a:xfrm>
          <a:prstGeom prst="line">
            <a:avLst/>
          </a:prstGeom>
          <a:noFill/>
          <a:ln w="9525">
            <a:solidFill>
              <a:srgbClr val="B4BCC8"/>
            </a:solidFill>
            <a:prstDash val="solid"/>
          </a:ln>
        </p:spPr>
      </p:sp>
      <p:sp>
        <p:nvSpPr>
          <p:cNvPr id="54" name="Shape 46"/>
          <p:cNvSpPr/>
          <p:nvPr/>
        </p:nvSpPr>
        <p:spPr>
          <a:xfrm>
            <a:off x="1197864" y="2898648"/>
            <a:ext cx="1042416" cy="64008"/>
          </a:xfrm>
          <a:prstGeom prst="line">
            <a:avLst/>
          </a:prstGeom>
          <a:noFill/>
          <a:ln w="9525">
            <a:solidFill>
              <a:srgbClr val="B4BCC8"/>
            </a:solidFill>
            <a:prstDash val="solid"/>
          </a:ln>
        </p:spPr>
      </p:sp>
      <p:sp>
        <p:nvSpPr>
          <p:cNvPr id="55" name="Shape 47"/>
          <p:cNvSpPr/>
          <p:nvPr/>
        </p:nvSpPr>
        <p:spPr>
          <a:xfrm>
            <a:off x="1197864" y="2898648"/>
            <a:ext cx="1042416" cy="594360"/>
          </a:xfrm>
          <a:prstGeom prst="line">
            <a:avLst/>
          </a:prstGeom>
          <a:noFill/>
          <a:ln w="9525">
            <a:solidFill>
              <a:srgbClr val="B4BCC8"/>
            </a:solidFill>
            <a:prstDash val="solid"/>
          </a:ln>
        </p:spPr>
      </p:sp>
      <p:sp>
        <p:nvSpPr>
          <p:cNvPr id="56" name="Shape 48"/>
          <p:cNvSpPr/>
          <p:nvPr/>
        </p:nvSpPr>
        <p:spPr>
          <a:xfrm>
            <a:off x="1197864" y="2898648"/>
            <a:ext cx="1042416" cy="1124712"/>
          </a:xfrm>
          <a:prstGeom prst="line">
            <a:avLst/>
          </a:prstGeom>
          <a:noFill/>
          <a:ln w="9525">
            <a:solidFill>
              <a:srgbClr val="B4BCC8"/>
            </a:solidFill>
            <a:prstDash val="solid"/>
          </a:ln>
        </p:spPr>
      </p:sp>
      <p:sp>
        <p:nvSpPr>
          <p:cNvPr id="57" name="Shape 49"/>
          <p:cNvSpPr/>
          <p:nvPr/>
        </p:nvSpPr>
        <p:spPr>
          <a:xfrm>
            <a:off x="1197864" y="4041648"/>
            <a:ext cx="1042416" cy="512064"/>
          </a:xfrm>
          <a:prstGeom prst="line">
            <a:avLst/>
          </a:prstGeom>
          <a:noFill/>
          <a:ln w="9525">
            <a:solidFill>
              <a:srgbClr val="B4BCC8"/>
            </a:solidFill>
            <a:prstDash val="solid"/>
          </a:ln>
        </p:spPr>
      </p:sp>
      <p:sp>
        <p:nvSpPr>
          <p:cNvPr id="58" name="Shape 50"/>
          <p:cNvSpPr/>
          <p:nvPr/>
        </p:nvSpPr>
        <p:spPr>
          <a:xfrm flipV="1">
            <a:off x="1197864" y="2432304"/>
            <a:ext cx="1042416" cy="1609344"/>
          </a:xfrm>
          <a:prstGeom prst="line">
            <a:avLst/>
          </a:prstGeom>
          <a:noFill/>
          <a:ln w="9525">
            <a:solidFill>
              <a:srgbClr val="B4BCC8"/>
            </a:solidFill>
            <a:prstDash val="solid"/>
          </a:ln>
        </p:spPr>
      </p:sp>
      <p:sp>
        <p:nvSpPr>
          <p:cNvPr id="59" name="Shape 51"/>
          <p:cNvSpPr/>
          <p:nvPr/>
        </p:nvSpPr>
        <p:spPr>
          <a:xfrm flipH="1">
            <a:off x="6903720" y="1892808"/>
            <a:ext cx="987552" cy="9144"/>
          </a:xfrm>
          <a:prstGeom prst="line">
            <a:avLst/>
          </a:prstGeom>
          <a:noFill/>
          <a:ln w="9525">
            <a:solidFill>
              <a:srgbClr val="B4BCC8"/>
            </a:solidFill>
            <a:prstDash val="solid"/>
          </a:ln>
        </p:spPr>
      </p:sp>
      <p:sp>
        <p:nvSpPr>
          <p:cNvPr id="60" name="Shape 52"/>
          <p:cNvSpPr/>
          <p:nvPr/>
        </p:nvSpPr>
        <p:spPr>
          <a:xfrm flipH="1">
            <a:off x="6903720" y="1892808"/>
            <a:ext cx="987552" cy="539496"/>
          </a:xfrm>
          <a:prstGeom prst="line">
            <a:avLst/>
          </a:prstGeom>
          <a:noFill/>
          <a:ln w="9525">
            <a:solidFill>
              <a:srgbClr val="B4BCC8"/>
            </a:solidFill>
            <a:prstDash val="solid"/>
          </a:ln>
        </p:spPr>
      </p:sp>
      <p:sp>
        <p:nvSpPr>
          <p:cNvPr id="61" name="Shape 53"/>
          <p:cNvSpPr/>
          <p:nvPr/>
        </p:nvSpPr>
        <p:spPr>
          <a:xfrm flipH="1" flipV="1">
            <a:off x="6903720" y="2962656"/>
            <a:ext cx="987552" cy="438912"/>
          </a:xfrm>
          <a:prstGeom prst="line">
            <a:avLst/>
          </a:prstGeom>
          <a:noFill/>
          <a:ln w="9525">
            <a:solidFill>
              <a:srgbClr val="B4BCC8"/>
            </a:solidFill>
            <a:prstDash val="solid"/>
          </a:ln>
        </p:spPr>
      </p:sp>
      <p:sp>
        <p:nvSpPr>
          <p:cNvPr id="62" name="Shape 54"/>
          <p:cNvSpPr/>
          <p:nvPr/>
        </p:nvSpPr>
        <p:spPr>
          <a:xfrm flipH="1">
            <a:off x="6903720" y="3401568"/>
            <a:ext cx="987552" cy="91440"/>
          </a:xfrm>
          <a:prstGeom prst="line">
            <a:avLst/>
          </a:prstGeom>
          <a:noFill/>
          <a:ln w="9525">
            <a:solidFill>
              <a:srgbClr val="B4BCC8"/>
            </a:solidFill>
            <a:prstDash val="solid"/>
          </a:ln>
        </p:spPr>
      </p:sp>
      <p:sp>
        <p:nvSpPr>
          <p:cNvPr id="63" name="Shape 55"/>
          <p:cNvSpPr/>
          <p:nvPr/>
        </p:nvSpPr>
        <p:spPr>
          <a:xfrm flipH="1">
            <a:off x="6903720" y="3401568"/>
            <a:ext cx="987552" cy="621792"/>
          </a:xfrm>
          <a:prstGeom prst="line">
            <a:avLst/>
          </a:prstGeom>
          <a:noFill/>
          <a:ln w="9525">
            <a:solidFill>
              <a:srgbClr val="B4BCC8"/>
            </a:solidFill>
            <a:prstDash val="solid"/>
          </a:ln>
        </p:spPr>
      </p:sp>
      <p:sp>
        <p:nvSpPr>
          <p:cNvPr id="64" name="Shape 56"/>
          <p:cNvSpPr/>
          <p:nvPr/>
        </p:nvSpPr>
        <p:spPr>
          <a:xfrm flipH="1">
            <a:off x="6903720" y="3401568"/>
            <a:ext cx="987552" cy="1152144"/>
          </a:xfrm>
          <a:prstGeom prst="line">
            <a:avLst/>
          </a:prstGeom>
          <a:noFill/>
          <a:ln w="9525">
            <a:solidFill>
              <a:srgbClr val="B4BCC8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66760" y="4846320"/>
            <a:ext cx="36576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A0A8B5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411480" y="621792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200" kern="0" dirty="0">
                <a:solidFill>
                  <a:srgbClr val="2563EB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-120"/>
              </a:rPr>
              <a:t>05 / WIREFRAMES AND MOCK DIAGRAMS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82296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0B1220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Four screens carry the whole journey</a:t>
            </a:r>
            <a:endParaRPr lang="en-US" sz="2500" dirty="0"/>
          </a:p>
        </p:txBody>
      </p:sp>
      <p:sp>
        <p:nvSpPr>
          <p:cNvPr id="5" name="Shape 2"/>
          <p:cNvSpPr/>
          <p:nvPr/>
        </p:nvSpPr>
        <p:spPr>
          <a:xfrm>
            <a:off x="411480" y="1417320"/>
            <a:ext cx="1920240" cy="2697480"/>
          </a:xfrm>
          <a:prstGeom prst="roundRect">
            <a:avLst>
              <a:gd name="adj" fmla="val 2381"/>
            </a:avLst>
          </a:prstGeom>
          <a:solidFill>
            <a:srgbClr val="FFFFFF"/>
          </a:solidFill>
          <a:ln w="9525">
            <a:solidFill>
              <a:srgbClr val="B4BCC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20624" y="1426464"/>
            <a:ext cx="1901952" cy="182880"/>
          </a:xfrm>
          <a:prstGeom prst="rect">
            <a:avLst/>
          </a:prstGeom>
          <a:solidFill>
            <a:srgbClr val="F4F6FA"/>
          </a:solidFill>
          <a:ln/>
        </p:spPr>
      </p:sp>
      <p:sp>
        <p:nvSpPr>
          <p:cNvPr id="7" name="Shape 4"/>
          <p:cNvSpPr/>
          <p:nvPr/>
        </p:nvSpPr>
        <p:spPr>
          <a:xfrm>
            <a:off x="484632" y="1485900"/>
            <a:ext cx="54864" cy="54864"/>
          </a:xfrm>
          <a:prstGeom prst="ellipse">
            <a:avLst/>
          </a:prstGeom>
          <a:solidFill>
            <a:srgbClr val="F28B82"/>
          </a:solidFill>
          <a:ln/>
        </p:spPr>
      </p:sp>
      <p:sp>
        <p:nvSpPr>
          <p:cNvPr id="8" name="Shape 5"/>
          <p:cNvSpPr/>
          <p:nvPr/>
        </p:nvSpPr>
        <p:spPr>
          <a:xfrm>
            <a:off x="576072" y="1485900"/>
            <a:ext cx="54864" cy="54864"/>
          </a:xfrm>
          <a:prstGeom prst="ellipse">
            <a:avLst/>
          </a:prstGeom>
          <a:solidFill>
            <a:srgbClr val="FDD663"/>
          </a:solidFill>
          <a:ln/>
        </p:spPr>
      </p:sp>
      <p:sp>
        <p:nvSpPr>
          <p:cNvPr id="9" name="Shape 6"/>
          <p:cNvSpPr/>
          <p:nvPr/>
        </p:nvSpPr>
        <p:spPr>
          <a:xfrm>
            <a:off x="667512" y="1485900"/>
            <a:ext cx="54864" cy="54864"/>
          </a:xfrm>
          <a:prstGeom prst="ellipse">
            <a:avLst/>
          </a:prstGeom>
          <a:solidFill>
            <a:srgbClr val="81C995"/>
          </a:solidFill>
          <a:ln/>
        </p:spPr>
      </p:sp>
      <p:sp>
        <p:nvSpPr>
          <p:cNvPr id="10" name="Shape 7"/>
          <p:cNvSpPr/>
          <p:nvPr/>
        </p:nvSpPr>
        <p:spPr>
          <a:xfrm>
            <a:off x="521208" y="1709928"/>
            <a:ext cx="1700784" cy="548640"/>
          </a:xfrm>
          <a:prstGeom prst="roundRect">
            <a:avLst>
              <a:gd name="adj" fmla="val 6667"/>
            </a:avLst>
          </a:prstGeom>
          <a:solidFill>
            <a:srgbClr val="EAF1FF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21208" y="1709928"/>
            <a:ext cx="17007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563EB"/>
                </a:solidFill>
                <a:latin typeface="Barlow SemiBold" pitchFamily="34" charset="0"/>
                <a:ea typeface="Barlow SemiBold" pitchFamily="34" charset="-122"/>
                <a:cs typeface="Barlow SemiBold" pitchFamily="34" charset="-120"/>
              </a:rPr>
              <a:t>Drop conveyor-manual.pdf</a:t>
            </a:r>
            <a:endParaRPr lang="en-US" sz="800" dirty="0"/>
          </a:p>
        </p:txBody>
      </p:sp>
      <p:sp>
        <p:nvSpPr>
          <p:cNvPr id="12" name="Text 9"/>
          <p:cNvSpPr txBox="1"/>
          <p:nvPr/>
        </p:nvSpPr>
        <p:spPr>
          <a:xfrm>
            <a:off x="521208" y="2331720"/>
            <a:ext cx="365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50" dirty="0">
                <a:solidFill>
                  <a:srgbClr val="6B768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PARAM</a:t>
            </a:r>
            <a:endParaRPr lang="en-US" sz="550" dirty="0"/>
          </a:p>
        </p:txBody>
      </p:sp>
      <p:sp>
        <p:nvSpPr>
          <p:cNvPr id="13" name="Text 10"/>
          <p:cNvSpPr txBox="1"/>
          <p:nvPr/>
        </p:nvSpPr>
        <p:spPr>
          <a:xfrm>
            <a:off x="1124712" y="2331720"/>
            <a:ext cx="365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50" dirty="0">
                <a:solidFill>
                  <a:srgbClr val="6B768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WARN</a:t>
            </a:r>
            <a:endParaRPr lang="en-US" sz="550" dirty="0"/>
          </a:p>
        </p:txBody>
      </p:sp>
      <p:sp>
        <p:nvSpPr>
          <p:cNvPr id="14" name="Text 11"/>
          <p:cNvSpPr txBox="1"/>
          <p:nvPr/>
        </p:nvSpPr>
        <p:spPr>
          <a:xfrm>
            <a:off x="1435608" y="2331720"/>
            <a:ext cx="365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50" dirty="0">
                <a:solidFill>
                  <a:srgbClr val="6B768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CRIT</a:t>
            </a:r>
            <a:endParaRPr lang="en-US" sz="550" dirty="0"/>
          </a:p>
        </p:txBody>
      </p:sp>
      <p:sp>
        <p:nvSpPr>
          <p:cNvPr id="15" name="Text 12"/>
          <p:cNvSpPr txBox="1"/>
          <p:nvPr/>
        </p:nvSpPr>
        <p:spPr>
          <a:xfrm>
            <a:off x="1746504" y="2331720"/>
            <a:ext cx="365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50" dirty="0">
                <a:solidFill>
                  <a:srgbClr val="6B768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PAGE</a:t>
            </a:r>
            <a:endParaRPr lang="en-US" sz="550" dirty="0"/>
          </a:p>
        </p:txBody>
      </p:sp>
      <p:sp>
        <p:nvSpPr>
          <p:cNvPr id="16" name="Text 13"/>
          <p:cNvSpPr txBox="1"/>
          <p:nvPr/>
        </p:nvSpPr>
        <p:spPr>
          <a:xfrm>
            <a:off x="2039112" y="2331720"/>
            <a:ext cx="365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50" dirty="0">
                <a:solidFill>
                  <a:srgbClr val="6B768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OK</a:t>
            </a:r>
            <a:endParaRPr lang="en-US" sz="550" dirty="0"/>
          </a:p>
        </p:txBody>
      </p:sp>
      <p:sp>
        <p:nvSpPr>
          <p:cNvPr id="17" name="Text 14"/>
          <p:cNvSpPr txBox="1"/>
          <p:nvPr/>
        </p:nvSpPr>
        <p:spPr>
          <a:xfrm>
            <a:off x="521208" y="2514600"/>
            <a:ext cx="6035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" dirty="0">
                <a:solidFill>
                  <a:srgbClr val="3A455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motor_temp</a:t>
            </a:r>
            <a:endParaRPr lang="en-US" sz="600" dirty="0"/>
          </a:p>
        </p:txBody>
      </p:sp>
      <p:sp>
        <p:nvSpPr>
          <p:cNvPr id="18" name="Shape 15"/>
          <p:cNvSpPr/>
          <p:nvPr/>
        </p:nvSpPr>
        <p:spPr>
          <a:xfrm>
            <a:off x="1124712" y="2560320"/>
            <a:ext cx="237744" cy="82296"/>
          </a:xfrm>
          <a:prstGeom prst="rect">
            <a:avLst/>
          </a:prstGeom>
          <a:solidFill>
            <a:srgbClr val="E6EAF0"/>
          </a:solidFill>
          <a:ln/>
        </p:spPr>
      </p:sp>
      <p:sp>
        <p:nvSpPr>
          <p:cNvPr id="19" name="Shape 16"/>
          <p:cNvSpPr/>
          <p:nvPr/>
        </p:nvSpPr>
        <p:spPr>
          <a:xfrm>
            <a:off x="1435608" y="2560320"/>
            <a:ext cx="237744" cy="82296"/>
          </a:xfrm>
          <a:prstGeom prst="rect">
            <a:avLst/>
          </a:prstGeom>
          <a:solidFill>
            <a:srgbClr val="E6EAF0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1746504" y="2514600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" dirty="0">
                <a:solidFill>
                  <a:srgbClr val="2563E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p.12</a:t>
            </a:r>
            <a:endParaRPr lang="en-US" sz="600" dirty="0"/>
          </a:p>
        </p:txBody>
      </p:sp>
      <p:sp>
        <p:nvSpPr>
          <p:cNvPr id="21" name="Shape 18"/>
          <p:cNvSpPr/>
          <p:nvPr/>
        </p:nvSpPr>
        <p:spPr>
          <a:xfrm>
            <a:off x="2057400" y="2542032"/>
            <a:ext cx="109728" cy="109728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521208" y="2734056"/>
            <a:ext cx="6035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" dirty="0">
                <a:solidFill>
                  <a:srgbClr val="3A455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vibration</a:t>
            </a:r>
            <a:endParaRPr lang="en-US" sz="600" dirty="0"/>
          </a:p>
        </p:txBody>
      </p:sp>
      <p:sp>
        <p:nvSpPr>
          <p:cNvPr id="23" name="Shape 20"/>
          <p:cNvSpPr/>
          <p:nvPr/>
        </p:nvSpPr>
        <p:spPr>
          <a:xfrm>
            <a:off x="1124712" y="2779776"/>
            <a:ext cx="237744" cy="82296"/>
          </a:xfrm>
          <a:prstGeom prst="rect">
            <a:avLst/>
          </a:prstGeom>
          <a:solidFill>
            <a:srgbClr val="E6EAF0"/>
          </a:solidFill>
          <a:ln/>
        </p:spPr>
      </p:sp>
      <p:sp>
        <p:nvSpPr>
          <p:cNvPr id="24" name="Shape 21"/>
          <p:cNvSpPr/>
          <p:nvPr/>
        </p:nvSpPr>
        <p:spPr>
          <a:xfrm>
            <a:off x="1435608" y="2779776"/>
            <a:ext cx="237744" cy="82296"/>
          </a:xfrm>
          <a:prstGeom prst="rect">
            <a:avLst/>
          </a:prstGeom>
          <a:solidFill>
            <a:srgbClr val="E6EAF0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1746504" y="2734056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" dirty="0">
                <a:solidFill>
                  <a:srgbClr val="2563E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p.13</a:t>
            </a:r>
            <a:endParaRPr lang="en-US" sz="600" dirty="0"/>
          </a:p>
        </p:txBody>
      </p:sp>
      <p:sp>
        <p:nvSpPr>
          <p:cNvPr id="26" name="Shape 23"/>
          <p:cNvSpPr/>
          <p:nvPr/>
        </p:nvSpPr>
        <p:spPr>
          <a:xfrm>
            <a:off x="2057400" y="2761488"/>
            <a:ext cx="109728" cy="109728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521208" y="2953512"/>
            <a:ext cx="6035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" dirty="0">
                <a:solidFill>
                  <a:srgbClr val="3A455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current</a:t>
            </a:r>
            <a:endParaRPr lang="en-US" sz="600" dirty="0"/>
          </a:p>
        </p:txBody>
      </p:sp>
      <p:sp>
        <p:nvSpPr>
          <p:cNvPr id="28" name="Shape 25"/>
          <p:cNvSpPr/>
          <p:nvPr/>
        </p:nvSpPr>
        <p:spPr>
          <a:xfrm>
            <a:off x="1124712" y="2999232"/>
            <a:ext cx="237744" cy="82296"/>
          </a:xfrm>
          <a:prstGeom prst="rect">
            <a:avLst/>
          </a:prstGeom>
          <a:solidFill>
            <a:srgbClr val="E6EAF0"/>
          </a:solidFill>
          <a:ln/>
        </p:spPr>
      </p:sp>
      <p:sp>
        <p:nvSpPr>
          <p:cNvPr id="29" name="Shape 26"/>
          <p:cNvSpPr/>
          <p:nvPr/>
        </p:nvSpPr>
        <p:spPr>
          <a:xfrm>
            <a:off x="1435608" y="2999232"/>
            <a:ext cx="237744" cy="82296"/>
          </a:xfrm>
          <a:prstGeom prst="rect">
            <a:avLst/>
          </a:prstGeom>
          <a:solidFill>
            <a:srgbClr val="E6EAF0"/>
          </a:solidFill>
          <a:ln/>
        </p:spPr>
      </p:sp>
      <p:sp>
        <p:nvSpPr>
          <p:cNvPr id="30" name="Text 27"/>
          <p:cNvSpPr txBox="1"/>
          <p:nvPr/>
        </p:nvSpPr>
        <p:spPr>
          <a:xfrm>
            <a:off x="1746504" y="2953512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" dirty="0">
                <a:solidFill>
                  <a:srgbClr val="2563E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p.14</a:t>
            </a:r>
            <a:endParaRPr lang="en-US" sz="600" dirty="0"/>
          </a:p>
        </p:txBody>
      </p:sp>
      <p:sp>
        <p:nvSpPr>
          <p:cNvPr id="31" name="Shape 28"/>
          <p:cNvSpPr/>
          <p:nvPr/>
        </p:nvSpPr>
        <p:spPr>
          <a:xfrm>
            <a:off x="2057400" y="2980944"/>
            <a:ext cx="109728" cy="109728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2" name="Text 29"/>
          <p:cNvSpPr txBox="1"/>
          <p:nvPr/>
        </p:nvSpPr>
        <p:spPr>
          <a:xfrm>
            <a:off x="521208" y="3172968"/>
            <a:ext cx="6035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" dirty="0">
                <a:solidFill>
                  <a:srgbClr val="3A455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belt_speed</a:t>
            </a:r>
            <a:endParaRPr lang="en-US" sz="600" dirty="0"/>
          </a:p>
        </p:txBody>
      </p:sp>
      <p:sp>
        <p:nvSpPr>
          <p:cNvPr id="33" name="Shape 30"/>
          <p:cNvSpPr/>
          <p:nvPr/>
        </p:nvSpPr>
        <p:spPr>
          <a:xfrm>
            <a:off x="1124712" y="3218688"/>
            <a:ext cx="237744" cy="82296"/>
          </a:xfrm>
          <a:prstGeom prst="rect">
            <a:avLst/>
          </a:prstGeom>
          <a:solidFill>
            <a:srgbClr val="E6EAF0"/>
          </a:solidFill>
          <a:ln/>
        </p:spPr>
      </p:sp>
      <p:sp>
        <p:nvSpPr>
          <p:cNvPr id="34" name="Shape 31"/>
          <p:cNvSpPr/>
          <p:nvPr/>
        </p:nvSpPr>
        <p:spPr>
          <a:xfrm>
            <a:off x="1435608" y="3218688"/>
            <a:ext cx="237744" cy="82296"/>
          </a:xfrm>
          <a:prstGeom prst="rect">
            <a:avLst/>
          </a:prstGeom>
          <a:solidFill>
            <a:srgbClr val="E6EAF0"/>
          </a:solidFill>
          <a:ln/>
        </p:spPr>
      </p:sp>
      <p:sp>
        <p:nvSpPr>
          <p:cNvPr id="35" name="Text 32"/>
          <p:cNvSpPr txBox="1"/>
          <p:nvPr/>
        </p:nvSpPr>
        <p:spPr>
          <a:xfrm>
            <a:off x="1746504" y="3172968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" dirty="0">
                <a:solidFill>
                  <a:srgbClr val="2563E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p.15</a:t>
            </a:r>
            <a:endParaRPr lang="en-US" sz="600" dirty="0"/>
          </a:p>
        </p:txBody>
      </p:sp>
      <p:sp>
        <p:nvSpPr>
          <p:cNvPr id="36" name="Shape 33"/>
          <p:cNvSpPr/>
          <p:nvPr/>
        </p:nvSpPr>
        <p:spPr>
          <a:xfrm>
            <a:off x="2057400" y="3200400"/>
            <a:ext cx="109728" cy="109728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7" name="Text 34"/>
          <p:cNvSpPr txBox="1"/>
          <p:nvPr/>
        </p:nvSpPr>
        <p:spPr>
          <a:xfrm>
            <a:off x="521208" y="3392424"/>
            <a:ext cx="6035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" dirty="0">
                <a:solidFill>
                  <a:srgbClr val="3A455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load</a:t>
            </a:r>
            <a:endParaRPr lang="en-US" sz="600" dirty="0"/>
          </a:p>
        </p:txBody>
      </p:sp>
      <p:sp>
        <p:nvSpPr>
          <p:cNvPr id="38" name="Shape 35"/>
          <p:cNvSpPr/>
          <p:nvPr/>
        </p:nvSpPr>
        <p:spPr>
          <a:xfrm>
            <a:off x="1124712" y="3438144"/>
            <a:ext cx="237744" cy="82296"/>
          </a:xfrm>
          <a:prstGeom prst="rect">
            <a:avLst/>
          </a:prstGeom>
          <a:solidFill>
            <a:srgbClr val="E6EAF0"/>
          </a:solidFill>
          <a:ln/>
        </p:spPr>
      </p:sp>
      <p:sp>
        <p:nvSpPr>
          <p:cNvPr id="39" name="Shape 36"/>
          <p:cNvSpPr/>
          <p:nvPr/>
        </p:nvSpPr>
        <p:spPr>
          <a:xfrm>
            <a:off x="1435608" y="3438144"/>
            <a:ext cx="237744" cy="82296"/>
          </a:xfrm>
          <a:prstGeom prst="rect">
            <a:avLst/>
          </a:prstGeom>
          <a:solidFill>
            <a:srgbClr val="E6EAF0"/>
          </a:solidFill>
          <a:ln/>
        </p:spPr>
      </p:sp>
      <p:sp>
        <p:nvSpPr>
          <p:cNvPr id="40" name="Text 37"/>
          <p:cNvSpPr txBox="1"/>
          <p:nvPr/>
        </p:nvSpPr>
        <p:spPr>
          <a:xfrm>
            <a:off x="1746504" y="3392424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" dirty="0">
                <a:solidFill>
                  <a:srgbClr val="2563E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p.16</a:t>
            </a:r>
            <a:endParaRPr lang="en-US" sz="600" dirty="0"/>
          </a:p>
        </p:txBody>
      </p:sp>
      <p:sp>
        <p:nvSpPr>
          <p:cNvPr id="41" name="Shape 38"/>
          <p:cNvSpPr/>
          <p:nvPr/>
        </p:nvSpPr>
        <p:spPr>
          <a:xfrm>
            <a:off x="2057400" y="3419856"/>
            <a:ext cx="109728" cy="109728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2" name="Shape 39"/>
          <p:cNvSpPr/>
          <p:nvPr/>
        </p:nvSpPr>
        <p:spPr>
          <a:xfrm>
            <a:off x="521208" y="3657600"/>
            <a:ext cx="1700784" cy="310896"/>
          </a:xfrm>
          <a:prstGeom prst="roundRect">
            <a:avLst>
              <a:gd name="adj" fmla="val 11765"/>
            </a:avLst>
          </a:prstGeom>
          <a:solidFill>
            <a:srgbClr val="2563EB"/>
          </a:solidFill>
          <a:ln/>
        </p:spPr>
      </p:sp>
      <p:sp>
        <p:nvSpPr>
          <p:cNvPr id="43" name="Text 40"/>
          <p:cNvSpPr txBox="1"/>
          <p:nvPr/>
        </p:nvSpPr>
        <p:spPr>
          <a:xfrm>
            <a:off x="521208" y="3657600"/>
            <a:ext cx="17007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Barlow SemiBold" pitchFamily="34" charset="0"/>
                <a:ea typeface="Barlow SemiBold" pitchFamily="34" charset="-122"/>
                <a:cs typeface="Barlow SemiBold" pitchFamily="34" charset="-120"/>
              </a:rPr>
              <a:t>Verified, go live</a:t>
            </a:r>
            <a:endParaRPr lang="en-US" sz="800" dirty="0"/>
          </a:p>
        </p:txBody>
      </p:sp>
      <p:sp>
        <p:nvSpPr>
          <p:cNvPr id="44" name="Text 41"/>
          <p:cNvSpPr txBox="1"/>
          <p:nvPr/>
        </p:nvSpPr>
        <p:spPr>
          <a:xfrm>
            <a:off x="411480" y="4224528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563EB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-120"/>
              </a:rPr>
              <a:t>01</a:t>
            </a:r>
            <a:endParaRPr lang="en-US" sz="800" dirty="0"/>
          </a:p>
        </p:txBody>
      </p:sp>
      <p:sp>
        <p:nvSpPr>
          <p:cNvPr id="45" name="Text 42"/>
          <p:cNvSpPr txBox="1"/>
          <p:nvPr/>
        </p:nvSpPr>
        <p:spPr>
          <a:xfrm>
            <a:off x="704088" y="4206240"/>
            <a:ext cx="1627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Onboard</a:t>
            </a:r>
            <a:endParaRPr lang="en-US" sz="1400" dirty="0"/>
          </a:p>
        </p:txBody>
      </p:sp>
      <p:sp>
        <p:nvSpPr>
          <p:cNvPr id="46" name="Text 43"/>
          <p:cNvSpPr txBox="1"/>
          <p:nvPr/>
        </p:nvSpPr>
        <p:spPr>
          <a:xfrm>
            <a:off x="411480" y="449884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A455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Upload the manual, verify every limit</a:t>
            </a:r>
            <a:endParaRPr lang="en-US" sz="850" dirty="0"/>
          </a:p>
        </p:txBody>
      </p:sp>
      <p:sp>
        <p:nvSpPr>
          <p:cNvPr id="47" name="Shape 44"/>
          <p:cNvSpPr/>
          <p:nvPr/>
        </p:nvSpPr>
        <p:spPr>
          <a:xfrm>
            <a:off x="2368296" y="2766060"/>
            <a:ext cx="140208" cy="0"/>
          </a:xfrm>
          <a:prstGeom prst="line">
            <a:avLst/>
          </a:prstGeom>
          <a:noFill/>
          <a:ln w="12700">
            <a:solidFill>
              <a:srgbClr val="9AA4B2"/>
            </a:solidFill>
            <a:prstDash val="solid"/>
            <a:tailEnd type="triangle"/>
          </a:ln>
        </p:spPr>
      </p:sp>
      <p:sp>
        <p:nvSpPr>
          <p:cNvPr id="48" name="Shape 45"/>
          <p:cNvSpPr/>
          <p:nvPr/>
        </p:nvSpPr>
        <p:spPr>
          <a:xfrm>
            <a:off x="2545080" y="1417320"/>
            <a:ext cx="1920240" cy="2697480"/>
          </a:xfrm>
          <a:prstGeom prst="roundRect">
            <a:avLst>
              <a:gd name="adj" fmla="val 2381"/>
            </a:avLst>
          </a:prstGeom>
          <a:solidFill>
            <a:srgbClr val="FFFFFF"/>
          </a:solidFill>
          <a:ln w="9525">
            <a:solidFill>
              <a:srgbClr val="B4BCC8"/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2554224" y="1426464"/>
            <a:ext cx="1901952" cy="182880"/>
          </a:xfrm>
          <a:prstGeom prst="rect">
            <a:avLst/>
          </a:prstGeom>
          <a:solidFill>
            <a:srgbClr val="F4F6FA"/>
          </a:solidFill>
          <a:ln/>
        </p:spPr>
      </p:sp>
      <p:sp>
        <p:nvSpPr>
          <p:cNvPr id="50" name="Shape 47"/>
          <p:cNvSpPr/>
          <p:nvPr/>
        </p:nvSpPr>
        <p:spPr>
          <a:xfrm>
            <a:off x="2618232" y="1485900"/>
            <a:ext cx="54864" cy="54864"/>
          </a:xfrm>
          <a:prstGeom prst="ellipse">
            <a:avLst/>
          </a:prstGeom>
          <a:solidFill>
            <a:srgbClr val="F28B82"/>
          </a:solidFill>
          <a:ln/>
        </p:spPr>
      </p:sp>
      <p:sp>
        <p:nvSpPr>
          <p:cNvPr id="51" name="Shape 48"/>
          <p:cNvSpPr/>
          <p:nvPr/>
        </p:nvSpPr>
        <p:spPr>
          <a:xfrm>
            <a:off x="2709672" y="1485900"/>
            <a:ext cx="54864" cy="54864"/>
          </a:xfrm>
          <a:prstGeom prst="ellipse">
            <a:avLst/>
          </a:prstGeom>
          <a:solidFill>
            <a:srgbClr val="FDD663"/>
          </a:solidFill>
          <a:ln/>
        </p:spPr>
      </p:sp>
      <p:sp>
        <p:nvSpPr>
          <p:cNvPr id="52" name="Shape 49"/>
          <p:cNvSpPr/>
          <p:nvPr/>
        </p:nvSpPr>
        <p:spPr>
          <a:xfrm>
            <a:off x="2801112" y="1485900"/>
            <a:ext cx="54864" cy="54864"/>
          </a:xfrm>
          <a:prstGeom prst="ellipse">
            <a:avLst/>
          </a:prstGeom>
          <a:solidFill>
            <a:srgbClr val="81C995"/>
          </a:solidFill>
          <a:ln/>
        </p:spPr>
      </p:sp>
      <p:sp>
        <p:nvSpPr>
          <p:cNvPr id="53" name="Shape 50"/>
          <p:cNvSpPr/>
          <p:nvPr/>
        </p:nvSpPr>
        <p:spPr>
          <a:xfrm>
            <a:off x="2654808" y="1691640"/>
            <a:ext cx="521208" cy="384048"/>
          </a:xfrm>
          <a:prstGeom prst="roundRect">
            <a:avLst>
              <a:gd name="adj" fmla="val 7143"/>
            </a:avLst>
          </a:prstGeom>
          <a:solidFill>
            <a:srgbClr val="F4F6FA"/>
          </a:solidFill>
          <a:ln/>
        </p:spPr>
      </p:sp>
      <p:sp>
        <p:nvSpPr>
          <p:cNvPr id="54" name="Shape 51"/>
          <p:cNvSpPr/>
          <p:nvPr/>
        </p:nvSpPr>
        <p:spPr>
          <a:xfrm>
            <a:off x="2718816" y="1746504"/>
            <a:ext cx="274320" cy="45720"/>
          </a:xfrm>
          <a:prstGeom prst="rect">
            <a:avLst/>
          </a:prstGeom>
          <a:solidFill>
            <a:srgbClr val="C9D1DD"/>
          </a:solidFill>
          <a:ln/>
        </p:spPr>
      </p:sp>
      <p:sp>
        <p:nvSpPr>
          <p:cNvPr id="55" name="Text 52"/>
          <p:cNvSpPr txBox="1"/>
          <p:nvPr/>
        </p:nvSpPr>
        <p:spPr>
          <a:xfrm>
            <a:off x="2718816" y="1819656"/>
            <a:ext cx="4389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B1220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6/6</a:t>
            </a:r>
            <a:endParaRPr lang="en-US" sz="1100" dirty="0"/>
          </a:p>
        </p:txBody>
      </p:sp>
      <p:sp>
        <p:nvSpPr>
          <p:cNvPr id="56" name="Shape 53"/>
          <p:cNvSpPr/>
          <p:nvPr/>
        </p:nvSpPr>
        <p:spPr>
          <a:xfrm>
            <a:off x="3230880" y="1691640"/>
            <a:ext cx="521208" cy="384048"/>
          </a:xfrm>
          <a:prstGeom prst="roundRect">
            <a:avLst>
              <a:gd name="adj" fmla="val 7143"/>
            </a:avLst>
          </a:prstGeom>
          <a:solidFill>
            <a:srgbClr val="F4F6FA"/>
          </a:solidFill>
          <a:ln/>
        </p:spPr>
      </p:sp>
      <p:sp>
        <p:nvSpPr>
          <p:cNvPr id="57" name="Shape 54"/>
          <p:cNvSpPr/>
          <p:nvPr/>
        </p:nvSpPr>
        <p:spPr>
          <a:xfrm>
            <a:off x="3294888" y="1746504"/>
            <a:ext cx="274320" cy="45720"/>
          </a:xfrm>
          <a:prstGeom prst="rect">
            <a:avLst/>
          </a:prstGeom>
          <a:solidFill>
            <a:srgbClr val="C9D1DD"/>
          </a:solidFill>
          <a:ln/>
        </p:spPr>
      </p:sp>
      <p:sp>
        <p:nvSpPr>
          <p:cNvPr id="58" name="Text 55"/>
          <p:cNvSpPr txBox="1"/>
          <p:nvPr/>
        </p:nvSpPr>
        <p:spPr>
          <a:xfrm>
            <a:off x="3294888" y="1819656"/>
            <a:ext cx="4389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1</a:t>
            </a:r>
            <a:endParaRPr lang="en-US" sz="1100" dirty="0"/>
          </a:p>
        </p:txBody>
      </p:sp>
      <p:sp>
        <p:nvSpPr>
          <p:cNvPr id="59" name="Shape 56"/>
          <p:cNvSpPr/>
          <p:nvPr/>
        </p:nvSpPr>
        <p:spPr>
          <a:xfrm>
            <a:off x="3806952" y="1691640"/>
            <a:ext cx="521208" cy="384048"/>
          </a:xfrm>
          <a:prstGeom prst="roundRect">
            <a:avLst>
              <a:gd name="adj" fmla="val 7143"/>
            </a:avLst>
          </a:prstGeom>
          <a:solidFill>
            <a:srgbClr val="F4F6FA"/>
          </a:solidFill>
          <a:ln/>
        </p:spPr>
      </p:sp>
      <p:sp>
        <p:nvSpPr>
          <p:cNvPr id="60" name="Shape 57"/>
          <p:cNvSpPr/>
          <p:nvPr/>
        </p:nvSpPr>
        <p:spPr>
          <a:xfrm>
            <a:off x="3870960" y="1746504"/>
            <a:ext cx="274320" cy="45720"/>
          </a:xfrm>
          <a:prstGeom prst="rect">
            <a:avLst/>
          </a:prstGeom>
          <a:solidFill>
            <a:srgbClr val="C9D1DD"/>
          </a:solidFill>
          <a:ln/>
        </p:spPr>
      </p:sp>
      <p:sp>
        <p:nvSpPr>
          <p:cNvPr id="61" name="Text 58"/>
          <p:cNvSpPr txBox="1"/>
          <p:nvPr/>
        </p:nvSpPr>
        <p:spPr>
          <a:xfrm>
            <a:off x="3870960" y="1819656"/>
            <a:ext cx="4389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1,218</a:t>
            </a:r>
            <a:endParaRPr lang="en-US" sz="1100" dirty="0"/>
          </a:p>
        </p:txBody>
      </p:sp>
      <p:sp>
        <p:nvSpPr>
          <p:cNvPr id="62" name="Shape 59"/>
          <p:cNvSpPr/>
          <p:nvPr/>
        </p:nvSpPr>
        <p:spPr>
          <a:xfrm>
            <a:off x="2654808" y="2167128"/>
            <a:ext cx="1005840" cy="310896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9525">
            <a:solidFill>
              <a:srgbClr val="E3E7EE"/>
            </a:solidFill>
            <a:prstDash val="solid"/>
          </a:ln>
        </p:spPr>
      </p:sp>
      <p:sp>
        <p:nvSpPr>
          <p:cNvPr id="63" name="Shape 60"/>
          <p:cNvSpPr/>
          <p:nvPr/>
        </p:nvSpPr>
        <p:spPr>
          <a:xfrm>
            <a:off x="2709672" y="2276856"/>
            <a:ext cx="91440" cy="9144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64" name="Text 61"/>
          <p:cNvSpPr txBox="1"/>
          <p:nvPr/>
        </p:nvSpPr>
        <p:spPr>
          <a:xfrm>
            <a:off x="2837688" y="2194560"/>
            <a:ext cx="8229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0B1220"/>
                </a:solidFill>
                <a:latin typeface="Barlow SemiBold" pitchFamily="34" charset="0"/>
                <a:ea typeface="Barlow SemiBold" pitchFamily="34" charset="-122"/>
                <a:cs typeface="Barlow SemiBold" pitchFamily="34" charset="-120"/>
              </a:rPr>
              <a:t>Main conveyor</a:t>
            </a:r>
            <a:endParaRPr lang="en-US" sz="650" dirty="0"/>
          </a:p>
        </p:txBody>
      </p:sp>
      <p:sp>
        <p:nvSpPr>
          <p:cNvPr id="65" name="Text 62"/>
          <p:cNvSpPr txBox="1"/>
          <p:nvPr/>
        </p:nvSpPr>
        <p:spPr>
          <a:xfrm>
            <a:off x="2837688" y="2322576"/>
            <a:ext cx="8229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" dirty="0">
                <a:solidFill>
                  <a:srgbClr val="DC262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critical in 4 min</a:t>
            </a:r>
            <a:endParaRPr lang="en-US" sz="600" dirty="0"/>
          </a:p>
        </p:txBody>
      </p:sp>
      <p:sp>
        <p:nvSpPr>
          <p:cNvPr id="66" name="Shape 63"/>
          <p:cNvSpPr/>
          <p:nvPr/>
        </p:nvSpPr>
        <p:spPr>
          <a:xfrm>
            <a:off x="2654808" y="2532888"/>
            <a:ext cx="1005840" cy="310896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9525">
            <a:solidFill>
              <a:srgbClr val="E3E7EE"/>
            </a:solidFill>
            <a:prstDash val="solid"/>
          </a:ln>
        </p:spPr>
      </p:sp>
      <p:sp>
        <p:nvSpPr>
          <p:cNvPr id="67" name="Shape 64"/>
          <p:cNvSpPr/>
          <p:nvPr/>
        </p:nvSpPr>
        <p:spPr>
          <a:xfrm>
            <a:off x="2709672" y="2642616"/>
            <a:ext cx="91440" cy="9144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68" name="Text 65"/>
          <p:cNvSpPr txBox="1"/>
          <p:nvPr/>
        </p:nvSpPr>
        <p:spPr>
          <a:xfrm>
            <a:off x="2837688" y="2560320"/>
            <a:ext cx="8229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0B1220"/>
                </a:solidFill>
                <a:latin typeface="Barlow SemiBold" pitchFamily="34" charset="0"/>
                <a:ea typeface="Barlow SemiBold" pitchFamily="34" charset="-122"/>
                <a:cs typeface="Barlow SemiBold" pitchFamily="34" charset="-120"/>
              </a:rPr>
              <a:t>Air compressor</a:t>
            </a:r>
            <a:endParaRPr lang="en-US" sz="650" dirty="0"/>
          </a:p>
        </p:txBody>
      </p:sp>
      <p:sp>
        <p:nvSpPr>
          <p:cNvPr id="69" name="Text 66"/>
          <p:cNvSpPr txBox="1"/>
          <p:nvPr/>
        </p:nvSpPr>
        <p:spPr>
          <a:xfrm>
            <a:off x="2837688" y="2688336"/>
            <a:ext cx="8229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" dirty="0">
                <a:solidFill>
                  <a:srgbClr val="16A34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normal</a:t>
            </a:r>
            <a:endParaRPr lang="en-US" sz="600" dirty="0"/>
          </a:p>
        </p:txBody>
      </p:sp>
      <p:sp>
        <p:nvSpPr>
          <p:cNvPr id="70" name="Shape 67"/>
          <p:cNvSpPr/>
          <p:nvPr/>
        </p:nvSpPr>
        <p:spPr>
          <a:xfrm>
            <a:off x="2654808" y="2898648"/>
            <a:ext cx="1005840" cy="310896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9525">
            <a:solidFill>
              <a:srgbClr val="E3E7EE"/>
            </a:solidFill>
            <a:prstDash val="solid"/>
          </a:ln>
        </p:spPr>
      </p:sp>
      <p:sp>
        <p:nvSpPr>
          <p:cNvPr id="71" name="Shape 68"/>
          <p:cNvSpPr/>
          <p:nvPr/>
        </p:nvSpPr>
        <p:spPr>
          <a:xfrm>
            <a:off x="2709672" y="3008376"/>
            <a:ext cx="91440" cy="9144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72" name="Text 69"/>
          <p:cNvSpPr txBox="1"/>
          <p:nvPr/>
        </p:nvSpPr>
        <p:spPr>
          <a:xfrm>
            <a:off x="2837688" y="2926080"/>
            <a:ext cx="8229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0B1220"/>
                </a:solidFill>
                <a:latin typeface="Barlow SemiBold" pitchFamily="34" charset="0"/>
                <a:ea typeface="Barlow SemiBold" pitchFamily="34" charset="-122"/>
                <a:cs typeface="Barlow SemiBold" pitchFamily="34" charset="-120"/>
              </a:rPr>
              <a:t>Sealer</a:t>
            </a:r>
            <a:endParaRPr lang="en-US" sz="650" dirty="0"/>
          </a:p>
        </p:txBody>
      </p:sp>
      <p:sp>
        <p:nvSpPr>
          <p:cNvPr id="73" name="Text 70"/>
          <p:cNvSpPr txBox="1"/>
          <p:nvPr/>
        </p:nvSpPr>
        <p:spPr>
          <a:xfrm>
            <a:off x="2837688" y="3054096"/>
            <a:ext cx="8229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" dirty="0">
                <a:solidFill>
                  <a:srgbClr val="16A34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normal</a:t>
            </a:r>
            <a:endParaRPr lang="en-US" sz="600" dirty="0"/>
          </a:p>
        </p:txBody>
      </p:sp>
      <p:sp>
        <p:nvSpPr>
          <p:cNvPr id="74" name="Shape 71"/>
          <p:cNvSpPr/>
          <p:nvPr/>
        </p:nvSpPr>
        <p:spPr>
          <a:xfrm>
            <a:off x="3715512" y="2167128"/>
            <a:ext cx="640080" cy="1042416"/>
          </a:xfrm>
          <a:prstGeom prst="roundRect">
            <a:avLst>
              <a:gd name="adj" fmla="val 5714"/>
            </a:avLst>
          </a:prstGeom>
          <a:solidFill>
            <a:srgbClr val="F1EBFE"/>
          </a:solidFill>
          <a:ln/>
        </p:spPr>
      </p:sp>
      <p:sp>
        <p:nvSpPr>
          <p:cNvPr id="75" name="Text 72"/>
          <p:cNvSpPr txBox="1"/>
          <p:nvPr/>
        </p:nvSpPr>
        <p:spPr>
          <a:xfrm>
            <a:off x="3770376" y="2203704"/>
            <a:ext cx="548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7C3AED"/>
                </a:solidFill>
                <a:latin typeface="Barlow SemiBold" pitchFamily="34" charset="0"/>
                <a:ea typeface="Barlow SemiBold" pitchFamily="34" charset="-122"/>
                <a:cs typeface="Barlow SemiBold" pitchFamily="34" charset="-120"/>
              </a:rPr>
              <a:t>Ask Muse</a:t>
            </a:r>
            <a:endParaRPr lang="en-US" sz="700" dirty="0"/>
          </a:p>
        </p:txBody>
      </p:sp>
      <p:sp>
        <p:nvSpPr>
          <p:cNvPr id="76" name="Shape 73"/>
          <p:cNvSpPr/>
          <p:nvPr/>
        </p:nvSpPr>
        <p:spPr>
          <a:xfrm>
            <a:off x="3770376" y="2404872"/>
            <a:ext cx="502920" cy="45720"/>
          </a:xfrm>
          <a:prstGeom prst="rect">
            <a:avLst/>
          </a:prstGeom>
          <a:solidFill>
            <a:srgbClr val="D9C8FB"/>
          </a:solidFill>
          <a:ln/>
        </p:spPr>
      </p:sp>
      <p:sp>
        <p:nvSpPr>
          <p:cNvPr id="77" name="Shape 74"/>
          <p:cNvSpPr/>
          <p:nvPr/>
        </p:nvSpPr>
        <p:spPr>
          <a:xfrm>
            <a:off x="3770376" y="2514600"/>
            <a:ext cx="457200" cy="45720"/>
          </a:xfrm>
          <a:prstGeom prst="rect">
            <a:avLst/>
          </a:prstGeom>
          <a:solidFill>
            <a:srgbClr val="D9C8FB"/>
          </a:solidFill>
          <a:ln/>
        </p:spPr>
      </p:sp>
      <p:sp>
        <p:nvSpPr>
          <p:cNvPr id="78" name="Shape 75"/>
          <p:cNvSpPr/>
          <p:nvPr/>
        </p:nvSpPr>
        <p:spPr>
          <a:xfrm>
            <a:off x="3770376" y="2624328"/>
            <a:ext cx="384048" cy="45720"/>
          </a:xfrm>
          <a:prstGeom prst="rect">
            <a:avLst/>
          </a:prstGeom>
          <a:solidFill>
            <a:srgbClr val="D9C8FB"/>
          </a:solidFill>
          <a:ln/>
        </p:spPr>
      </p:sp>
      <p:sp>
        <p:nvSpPr>
          <p:cNvPr id="79" name="Shape 76"/>
          <p:cNvSpPr/>
          <p:nvPr/>
        </p:nvSpPr>
        <p:spPr>
          <a:xfrm>
            <a:off x="3944112" y="2788920"/>
            <a:ext cx="292608" cy="292608"/>
          </a:xfrm>
          <a:prstGeom prst="ellipse">
            <a:avLst/>
          </a:prstGeom>
          <a:solidFill>
            <a:srgbClr val="7C3AED"/>
          </a:solidFill>
          <a:ln/>
        </p:spPr>
      </p:sp>
      <p:pic>
        <p:nvPicPr>
          <p:cNvPr id="8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98976" y="2843784"/>
            <a:ext cx="182880" cy="182880"/>
          </a:xfrm>
          <a:prstGeom prst="rect">
            <a:avLst/>
          </a:prstGeom>
        </p:spPr>
      </p:pic>
      <p:sp>
        <p:nvSpPr>
          <p:cNvPr id="81" name="Shape 77"/>
          <p:cNvSpPr/>
          <p:nvPr/>
        </p:nvSpPr>
        <p:spPr>
          <a:xfrm>
            <a:off x="2654808" y="3300984"/>
            <a:ext cx="1700784" cy="694944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9525">
            <a:solidFill>
              <a:srgbClr val="E3E7EE"/>
            </a:solidFill>
            <a:prstDash val="solid"/>
          </a:ln>
        </p:spPr>
      </p:sp>
      <p:sp>
        <p:nvSpPr>
          <p:cNvPr id="82" name="Shape 78"/>
          <p:cNvSpPr/>
          <p:nvPr/>
        </p:nvSpPr>
        <p:spPr>
          <a:xfrm>
            <a:off x="2700528" y="3429000"/>
            <a:ext cx="1609344" cy="914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83" name="Text 79"/>
          <p:cNvSpPr txBox="1"/>
          <p:nvPr/>
        </p:nvSpPr>
        <p:spPr>
          <a:xfrm>
            <a:off x="4099560" y="3319272"/>
            <a:ext cx="2194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50" dirty="0">
                <a:solidFill>
                  <a:srgbClr val="DC262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crit</a:t>
            </a:r>
            <a:endParaRPr lang="en-US" sz="550" dirty="0"/>
          </a:p>
        </p:txBody>
      </p:sp>
      <p:sp>
        <p:nvSpPr>
          <p:cNvPr id="84" name="Shape 80"/>
          <p:cNvSpPr/>
          <p:nvPr/>
        </p:nvSpPr>
        <p:spPr>
          <a:xfrm>
            <a:off x="2746248" y="3749040"/>
            <a:ext cx="457200" cy="91440"/>
          </a:xfrm>
          <a:prstGeom prst="line">
            <a:avLst/>
          </a:prstGeom>
          <a:noFill/>
          <a:ln w="12700">
            <a:solidFill>
              <a:srgbClr val="2563EB"/>
            </a:solidFill>
            <a:prstDash val="solid"/>
          </a:ln>
        </p:spPr>
      </p:sp>
      <p:sp>
        <p:nvSpPr>
          <p:cNvPr id="85" name="Shape 81"/>
          <p:cNvSpPr/>
          <p:nvPr/>
        </p:nvSpPr>
        <p:spPr>
          <a:xfrm flipV="1">
            <a:off x="3203448" y="3575304"/>
            <a:ext cx="457200" cy="173736"/>
          </a:xfrm>
          <a:prstGeom prst="line">
            <a:avLst/>
          </a:prstGeom>
          <a:noFill/>
          <a:ln w="12700">
            <a:solidFill>
              <a:srgbClr val="2563EB"/>
            </a:solidFill>
            <a:prstDash val="solid"/>
          </a:ln>
        </p:spPr>
      </p:sp>
      <p:sp>
        <p:nvSpPr>
          <p:cNvPr id="86" name="Shape 82"/>
          <p:cNvSpPr/>
          <p:nvPr/>
        </p:nvSpPr>
        <p:spPr>
          <a:xfrm flipV="1">
            <a:off x="3660648" y="3447288"/>
            <a:ext cx="548640" cy="128016"/>
          </a:xfrm>
          <a:prstGeom prst="line">
            <a:avLst/>
          </a:prstGeom>
          <a:noFill/>
          <a:ln w="12700">
            <a:solidFill>
              <a:srgbClr val="DC2626"/>
            </a:solidFill>
            <a:prstDash val="dash"/>
          </a:ln>
        </p:spPr>
      </p:sp>
      <p:sp>
        <p:nvSpPr>
          <p:cNvPr id="87" name="Text 83"/>
          <p:cNvSpPr txBox="1"/>
          <p:nvPr/>
        </p:nvSpPr>
        <p:spPr>
          <a:xfrm>
            <a:off x="2545080" y="4224528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E7490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-120"/>
              </a:rPr>
              <a:t>02</a:t>
            </a:r>
            <a:endParaRPr lang="en-US" sz="800" dirty="0"/>
          </a:p>
        </p:txBody>
      </p:sp>
      <p:sp>
        <p:nvSpPr>
          <p:cNvPr id="88" name="Text 84"/>
          <p:cNvSpPr txBox="1"/>
          <p:nvPr/>
        </p:nvSpPr>
        <p:spPr>
          <a:xfrm>
            <a:off x="2837688" y="4206240"/>
            <a:ext cx="1627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Overview</a:t>
            </a:r>
            <a:endParaRPr lang="en-US" sz="1400" dirty="0"/>
          </a:p>
        </p:txBody>
      </p:sp>
      <p:sp>
        <p:nvSpPr>
          <p:cNvPr id="89" name="Text 85"/>
          <p:cNvSpPr txBox="1"/>
          <p:nvPr/>
        </p:nvSpPr>
        <p:spPr>
          <a:xfrm>
            <a:off x="2545080" y="449884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A455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The live line, forecasts and Ask Muse</a:t>
            </a:r>
            <a:endParaRPr lang="en-US" sz="850" dirty="0"/>
          </a:p>
        </p:txBody>
      </p:sp>
      <p:sp>
        <p:nvSpPr>
          <p:cNvPr id="90" name="Shape 86"/>
          <p:cNvSpPr/>
          <p:nvPr/>
        </p:nvSpPr>
        <p:spPr>
          <a:xfrm>
            <a:off x="4501896" y="2766060"/>
            <a:ext cx="140208" cy="0"/>
          </a:xfrm>
          <a:prstGeom prst="line">
            <a:avLst/>
          </a:prstGeom>
          <a:noFill/>
          <a:ln w="12700">
            <a:solidFill>
              <a:srgbClr val="9AA4B2"/>
            </a:solidFill>
            <a:prstDash val="solid"/>
            <a:tailEnd type="triangle"/>
          </a:ln>
        </p:spPr>
      </p:sp>
      <p:sp>
        <p:nvSpPr>
          <p:cNvPr id="91" name="Shape 87"/>
          <p:cNvSpPr/>
          <p:nvPr/>
        </p:nvSpPr>
        <p:spPr>
          <a:xfrm>
            <a:off x="4678680" y="1417320"/>
            <a:ext cx="1920240" cy="2697480"/>
          </a:xfrm>
          <a:prstGeom prst="roundRect">
            <a:avLst>
              <a:gd name="adj" fmla="val 2381"/>
            </a:avLst>
          </a:prstGeom>
          <a:solidFill>
            <a:srgbClr val="FFFFFF"/>
          </a:solidFill>
          <a:ln w="9525">
            <a:solidFill>
              <a:srgbClr val="B4BCC8"/>
            </a:solidFill>
            <a:prstDash val="solid"/>
          </a:ln>
        </p:spPr>
      </p:sp>
      <p:sp>
        <p:nvSpPr>
          <p:cNvPr id="92" name="Shape 88"/>
          <p:cNvSpPr/>
          <p:nvPr/>
        </p:nvSpPr>
        <p:spPr>
          <a:xfrm>
            <a:off x="4687824" y="1426464"/>
            <a:ext cx="1901952" cy="182880"/>
          </a:xfrm>
          <a:prstGeom prst="rect">
            <a:avLst/>
          </a:prstGeom>
          <a:solidFill>
            <a:srgbClr val="F4F6FA"/>
          </a:solidFill>
          <a:ln/>
        </p:spPr>
      </p:sp>
      <p:sp>
        <p:nvSpPr>
          <p:cNvPr id="93" name="Shape 89"/>
          <p:cNvSpPr/>
          <p:nvPr/>
        </p:nvSpPr>
        <p:spPr>
          <a:xfrm>
            <a:off x="4751832" y="1485900"/>
            <a:ext cx="54864" cy="54864"/>
          </a:xfrm>
          <a:prstGeom prst="ellipse">
            <a:avLst/>
          </a:prstGeom>
          <a:solidFill>
            <a:srgbClr val="F28B82"/>
          </a:solidFill>
          <a:ln/>
        </p:spPr>
      </p:sp>
      <p:sp>
        <p:nvSpPr>
          <p:cNvPr id="94" name="Shape 90"/>
          <p:cNvSpPr/>
          <p:nvPr/>
        </p:nvSpPr>
        <p:spPr>
          <a:xfrm>
            <a:off x="4843272" y="1485900"/>
            <a:ext cx="54864" cy="54864"/>
          </a:xfrm>
          <a:prstGeom prst="ellipse">
            <a:avLst/>
          </a:prstGeom>
          <a:solidFill>
            <a:srgbClr val="FDD663"/>
          </a:solidFill>
          <a:ln/>
        </p:spPr>
      </p:sp>
      <p:sp>
        <p:nvSpPr>
          <p:cNvPr id="95" name="Shape 91"/>
          <p:cNvSpPr/>
          <p:nvPr/>
        </p:nvSpPr>
        <p:spPr>
          <a:xfrm>
            <a:off x="4934712" y="1485900"/>
            <a:ext cx="54864" cy="54864"/>
          </a:xfrm>
          <a:prstGeom prst="ellipse">
            <a:avLst/>
          </a:prstGeom>
          <a:solidFill>
            <a:srgbClr val="81C995"/>
          </a:solidFill>
          <a:ln/>
        </p:spPr>
      </p:sp>
      <p:sp>
        <p:nvSpPr>
          <p:cNvPr id="96" name="Shape 92"/>
          <p:cNvSpPr/>
          <p:nvPr/>
        </p:nvSpPr>
        <p:spPr>
          <a:xfrm>
            <a:off x="4788408" y="1691640"/>
            <a:ext cx="566928" cy="164592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 w="9525">
            <a:solidFill>
              <a:srgbClr val="DC2626"/>
            </a:solidFill>
            <a:prstDash val="solid"/>
          </a:ln>
        </p:spPr>
      </p:sp>
      <p:sp>
        <p:nvSpPr>
          <p:cNvPr id="97" name="Text 93"/>
          <p:cNvSpPr txBox="1"/>
          <p:nvPr/>
        </p:nvSpPr>
        <p:spPr>
          <a:xfrm>
            <a:off x="4788408" y="1691640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spc="80" kern="0" dirty="0">
                <a:solidFill>
                  <a:srgbClr val="FFFFFF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-120"/>
              </a:rPr>
              <a:t>CRITICAL</a:t>
            </a:r>
            <a:endParaRPr lang="en-US" sz="550" dirty="0"/>
          </a:p>
        </p:txBody>
      </p:sp>
      <p:sp>
        <p:nvSpPr>
          <p:cNvPr id="98" name="Shape 94"/>
          <p:cNvSpPr/>
          <p:nvPr/>
        </p:nvSpPr>
        <p:spPr>
          <a:xfrm>
            <a:off x="5410200" y="1691640"/>
            <a:ext cx="786384" cy="164592"/>
          </a:xfrm>
          <a:prstGeom prst="roundRect">
            <a:avLst>
              <a:gd name="adj" fmla="val 50000"/>
            </a:avLst>
          </a:prstGeom>
          <a:solidFill>
            <a:srgbClr val="E8F7EE"/>
          </a:solidFill>
          <a:ln w="9525">
            <a:solidFill>
              <a:srgbClr val="E8F7EE"/>
            </a:solidFill>
            <a:prstDash val="solid"/>
          </a:ln>
        </p:spPr>
      </p:sp>
      <p:sp>
        <p:nvSpPr>
          <p:cNvPr id="99" name="Text 95"/>
          <p:cNvSpPr txBox="1"/>
          <p:nvPr/>
        </p:nvSpPr>
        <p:spPr>
          <a:xfrm>
            <a:off x="5410200" y="1691640"/>
            <a:ext cx="786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spc="80" kern="0" dirty="0">
                <a:solidFill>
                  <a:srgbClr val="16A34A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-120"/>
              </a:rPr>
              <a:t>ACKNOWLEDGED</a:t>
            </a:r>
            <a:endParaRPr lang="en-US" sz="550" dirty="0"/>
          </a:p>
        </p:txBody>
      </p:sp>
      <p:sp>
        <p:nvSpPr>
          <p:cNvPr id="100" name="Text 96"/>
          <p:cNvSpPr txBox="1"/>
          <p:nvPr/>
        </p:nvSpPr>
        <p:spPr>
          <a:xfrm>
            <a:off x="4788408" y="1892808"/>
            <a:ext cx="17007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0B1220"/>
                </a:solidFill>
                <a:latin typeface="Barlow SemiBold" pitchFamily="34" charset="0"/>
                <a:ea typeface="Barlow SemiBold" pitchFamily="34" charset="-122"/>
                <a:cs typeface="Barlow SemiBold" pitchFamily="34" charset="-120"/>
              </a:rPr>
              <a:t>Main conveyor: vibration trend</a:t>
            </a:r>
            <a:endParaRPr lang="en-US" sz="750" dirty="0"/>
          </a:p>
        </p:txBody>
      </p:sp>
      <p:sp>
        <p:nvSpPr>
          <p:cNvPr id="101" name="Shape 97"/>
          <p:cNvSpPr/>
          <p:nvPr/>
        </p:nvSpPr>
        <p:spPr>
          <a:xfrm>
            <a:off x="4788408" y="2130552"/>
            <a:ext cx="1700784" cy="402336"/>
          </a:xfrm>
          <a:prstGeom prst="roundRect">
            <a:avLst>
              <a:gd name="adj" fmla="val 6818"/>
            </a:avLst>
          </a:prstGeom>
          <a:solidFill>
            <a:srgbClr val="EAF1FF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102" name="Text 98"/>
          <p:cNvSpPr txBox="1"/>
          <p:nvPr/>
        </p:nvSpPr>
        <p:spPr>
          <a:xfrm>
            <a:off x="4843272" y="2157984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0B1220"/>
                </a:solidFill>
                <a:latin typeface="Barlow SemiBold" pitchFamily="34" charset="0"/>
                <a:ea typeface="Barlow SemiBold" pitchFamily="34" charset="-122"/>
                <a:cs typeface="Barlow SemiBold" pitchFamily="34" charset="-120"/>
              </a:rPr>
              <a:t>#1 Bearing wear</a:t>
            </a:r>
            <a:endParaRPr lang="en-US" sz="700" dirty="0"/>
          </a:p>
        </p:txBody>
      </p:sp>
      <p:sp>
        <p:nvSpPr>
          <p:cNvPr id="103" name="Shape 99"/>
          <p:cNvSpPr/>
          <p:nvPr/>
        </p:nvSpPr>
        <p:spPr>
          <a:xfrm>
            <a:off x="5849112" y="2167128"/>
            <a:ext cx="603504" cy="1371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16A34A"/>
            </a:solidFill>
            <a:prstDash val="solid"/>
          </a:ln>
        </p:spPr>
      </p:sp>
      <p:sp>
        <p:nvSpPr>
          <p:cNvPr id="104" name="Text 100"/>
          <p:cNvSpPr txBox="1"/>
          <p:nvPr/>
        </p:nvSpPr>
        <p:spPr>
          <a:xfrm>
            <a:off x="5849112" y="2167128"/>
            <a:ext cx="60350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spc="80" kern="0" dirty="0">
                <a:solidFill>
                  <a:srgbClr val="16A34A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-120"/>
              </a:rPr>
              <a:t>STRONG</a:t>
            </a:r>
            <a:endParaRPr lang="en-US" sz="500" dirty="0"/>
          </a:p>
        </p:txBody>
      </p:sp>
      <p:sp>
        <p:nvSpPr>
          <p:cNvPr id="105" name="Text 101"/>
          <p:cNvSpPr txBox="1"/>
          <p:nvPr/>
        </p:nvSpPr>
        <p:spPr>
          <a:xfrm>
            <a:off x="4843272" y="2331720"/>
            <a:ext cx="91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dirty="0">
                <a:solidFill>
                  <a:srgbClr val="16A34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+</a:t>
            </a:r>
            <a:endParaRPr lang="en-US" sz="700" dirty="0"/>
          </a:p>
        </p:txBody>
      </p:sp>
      <p:sp>
        <p:nvSpPr>
          <p:cNvPr id="106" name="Shape 102"/>
          <p:cNvSpPr/>
          <p:nvPr/>
        </p:nvSpPr>
        <p:spPr>
          <a:xfrm>
            <a:off x="4953000" y="2386584"/>
            <a:ext cx="548640" cy="45720"/>
          </a:xfrm>
          <a:prstGeom prst="rect">
            <a:avLst/>
          </a:prstGeom>
          <a:solidFill>
            <a:srgbClr val="E6EAF0"/>
          </a:solidFill>
          <a:ln/>
        </p:spPr>
      </p:sp>
      <p:sp>
        <p:nvSpPr>
          <p:cNvPr id="107" name="Text 103"/>
          <p:cNvSpPr txBox="1"/>
          <p:nvPr/>
        </p:nvSpPr>
        <p:spPr>
          <a:xfrm>
            <a:off x="5629656" y="2331720"/>
            <a:ext cx="91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dirty="0">
                <a:solidFill>
                  <a:srgbClr val="DC262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–</a:t>
            </a:r>
            <a:endParaRPr lang="en-US" sz="700" dirty="0"/>
          </a:p>
        </p:txBody>
      </p:sp>
      <p:sp>
        <p:nvSpPr>
          <p:cNvPr id="108" name="Shape 104"/>
          <p:cNvSpPr/>
          <p:nvPr/>
        </p:nvSpPr>
        <p:spPr>
          <a:xfrm>
            <a:off x="5739384" y="2386584"/>
            <a:ext cx="548640" cy="45720"/>
          </a:xfrm>
          <a:prstGeom prst="rect">
            <a:avLst/>
          </a:prstGeom>
          <a:solidFill>
            <a:srgbClr val="E6EAF0"/>
          </a:solidFill>
          <a:ln/>
        </p:spPr>
      </p:sp>
      <p:sp>
        <p:nvSpPr>
          <p:cNvPr id="109" name="Shape 105"/>
          <p:cNvSpPr/>
          <p:nvPr/>
        </p:nvSpPr>
        <p:spPr>
          <a:xfrm>
            <a:off x="4788408" y="2587752"/>
            <a:ext cx="1700784" cy="402336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9525">
            <a:solidFill>
              <a:srgbClr val="E3E7EE"/>
            </a:solidFill>
            <a:prstDash val="solid"/>
          </a:ln>
        </p:spPr>
      </p:sp>
      <p:sp>
        <p:nvSpPr>
          <p:cNvPr id="110" name="Text 106"/>
          <p:cNvSpPr txBox="1"/>
          <p:nvPr/>
        </p:nvSpPr>
        <p:spPr>
          <a:xfrm>
            <a:off x="4843272" y="2615184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0B1220"/>
                </a:solidFill>
                <a:latin typeface="Barlow SemiBold" pitchFamily="34" charset="0"/>
                <a:ea typeface="Barlow SemiBold" pitchFamily="34" charset="-122"/>
                <a:cs typeface="Barlow SemiBold" pitchFamily="34" charset="-120"/>
              </a:rPr>
              <a:t>#2 Overload / jam</a:t>
            </a:r>
            <a:endParaRPr lang="en-US" sz="700" dirty="0"/>
          </a:p>
        </p:txBody>
      </p:sp>
      <p:sp>
        <p:nvSpPr>
          <p:cNvPr id="111" name="Shape 107"/>
          <p:cNvSpPr/>
          <p:nvPr/>
        </p:nvSpPr>
        <p:spPr>
          <a:xfrm>
            <a:off x="5849112" y="2624328"/>
            <a:ext cx="603504" cy="1371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7706"/>
            </a:solidFill>
            <a:prstDash val="solid"/>
          </a:ln>
        </p:spPr>
      </p:sp>
      <p:sp>
        <p:nvSpPr>
          <p:cNvPr id="112" name="Text 108"/>
          <p:cNvSpPr txBox="1"/>
          <p:nvPr/>
        </p:nvSpPr>
        <p:spPr>
          <a:xfrm>
            <a:off x="5849112" y="2624328"/>
            <a:ext cx="60350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spc="80" kern="0" dirty="0">
                <a:solidFill>
                  <a:srgbClr val="D97706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-120"/>
              </a:rPr>
              <a:t>WEAK</a:t>
            </a:r>
            <a:endParaRPr lang="en-US" sz="500" dirty="0"/>
          </a:p>
        </p:txBody>
      </p:sp>
      <p:sp>
        <p:nvSpPr>
          <p:cNvPr id="113" name="Text 109"/>
          <p:cNvSpPr txBox="1"/>
          <p:nvPr/>
        </p:nvSpPr>
        <p:spPr>
          <a:xfrm>
            <a:off x="4843272" y="2788920"/>
            <a:ext cx="91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dirty="0">
                <a:solidFill>
                  <a:srgbClr val="16A34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+</a:t>
            </a:r>
            <a:endParaRPr lang="en-US" sz="700" dirty="0"/>
          </a:p>
        </p:txBody>
      </p:sp>
      <p:sp>
        <p:nvSpPr>
          <p:cNvPr id="114" name="Shape 110"/>
          <p:cNvSpPr/>
          <p:nvPr/>
        </p:nvSpPr>
        <p:spPr>
          <a:xfrm>
            <a:off x="4953000" y="2843784"/>
            <a:ext cx="548640" cy="45720"/>
          </a:xfrm>
          <a:prstGeom prst="rect">
            <a:avLst/>
          </a:prstGeom>
          <a:solidFill>
            <a:srgbClr val="E6EAF0"/>
          </a:solidFill>
          <a:ln/>
        </p:spPr>
      </p:sp>
      <p:sp>
        <p:nvSpPr>
          <p:cNvPr id="115" name="Text 111"/>
          <p:cNvSpPr txBox="1"/>
          <p:nvPr/>
        </p:nvSpPr>
        <p:spPr>
          <a:xfrm>
            <a:off x="5629656" y="2788920"/>
            <a:ext cx="91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dirty="0">
                <a:solidFill>
                  <a:srgbClr val="DC262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–</a:t>
            </a:r>
            <a:endParaRPr lang="en-US" sz="700" dirty="0"/>
          </a:p>
        </p:txBody>
      </p:sp>
      <p:sp>
        <p:nvSpPr>
          <p:cNvPr id="116" name="Shape 112"/>
          <p:cNvSpPr/>
          <p:nvPr/>
        </p:nvSpPr>
        <p:spPr>
          <a:xfrm>
            <a:off x="5739384" y="2843784"/>
            <a:ext cx="548640" cy="45720"/>
          </a:xfrm>
          <a:prstGeom prst="rect">
            <a:avLst/>
          </a:prstGeom>
          <a:solidFill>
            <a:srgbClr val="E6EAF0"/>
          </a:solidFill>
          <a:ln/>
        </p:spPr>
      </p:sp>
      <p:sp>
        <p:nvSpPr>
          <p:cNvPr id="117" name="Shape 113"/>
          <p:cNvSpPr/>
          <p:nvPr/>
        </p:nvSpPr>
        <p:spPr>
          <a:xfrm>
            <a:off x="4788408" y="3044952"/>
            <a:ext cx="1700784" cy="402336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9525">
            <a:solidFill>
              <a:srgbClr val="E3E7EE"/>
            </a:solidFill>
            <a:prstDash val="solid"/>
          </a:ln>
        </p:spPr>
      </p:sp>
      <p:sp>
        <p:nvSpPr>
          <p:cNvPr id="118" name="Text 114"/>
          <p:cNvSpPr txBox="1"/>
          <p:nvPr/>
        </p:nvSpPr>
        <p:spPr>
          <a:xfrm>
            <a:off x="4843272" y="3072384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0B1220"/>
                </a:solidFill>
                <a:latin typeface="Barlow SemiBold" pitchFamily="34" charset="0"/>
                <a:ea typeface="Barlow SemiBold" pitchFamily="34" charset="-122"/>
                <a:cs typeface="Barlow SemiBold" pitchFamily="34" charset="-120"/>
              </a:rPr>
              <a:t>#3 Cooling fan</a:t>
            </a:r>
            <a:endParaRPr lang="en-US" sz="700" dirty="0"/>
          </a:p>
        </p:txBody>
      </p:sp>
      <p:sp>
        <p:nvSpPr>
          <p:cNvPr id="119" name="Shape 115"/>
          <p:cNvSpPr/>
          <p:nvPr/>
        </p:nvSpPr>
        <p:spPr>
          <a:xfrm>
            <a:off x="5849112" y="3081528"/>
            <a:ext cx="603504" cy="1371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6B7686"/>
            </a:solidFill>
            <a:prstDash val="solid"/>
          </a:ln>
        </p:spPr>
      </p:sp>
      <p:sp>
        <p:nvSpPr>
          <p:cNvPr id="120" name="Text 116"/>
          <p:cNvSpPr txBox="1"/>
          <p:nvPr/>
        </p:nvSpPr>
        <p:spPr>
          <a:xfrm>
            <a:off x="5849112" y="3081528"/>
            <a:ext cx="60350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spc="80" kern="0" dirty="0">
                <a:solidFill>
                  <a:srgbClr val="6B7686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-120"/>
              </a:rPr>
              <a:t>INCONCLUSIVE</a:t>
            </a:r>
            <a:endParaRPr lang="en-US" sz="500" dirty="0"/>
          </a:p>
        </p:txBody>
      </p:sp>
      <p:sp>
        <p:nvSpPr>
          <p:cNvPr id="121" name="Text 117"/>
          <p:cNvSpPr txBox="1"/>
          <p:nvPr/>
        </p:nvSpPr>
        <p:spPr>
          <a:xfrm>
            <a:off x="4843272" y="3246120"/>
            <a:ext cx="91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dirty="0">
                <a:solidFill>
                  <a:srgbClr val="16A34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+</a:t>
            </a:r>
            <a:endParaRPr lang="en-US" sz="700" dirty="0"/>
          </a:p>
        </p:txBody>
      </p:sp>
      <p:sp>
        <p:nvSpPr>
          <p:cNvPr id="122" name="Shape 118"/>
          <p:cNvSpPr/>
          <p:nvPr/>
        </p:nvSpPr>
        <p:spPr>
          <a:xfrm>
            <a:off x="4953000" y="3300984"/>
            <a:ext cx="548640" cy="45720"/>
          </a:xfrm>
          <a:prstGeom prst="rect">
            <a:avLst/>
          </a:prstGeom>
          <a:solidFill>
            <a:srgbClr val="E6EAF0"/>
          </a:solidFill>
          <a:ln/>
        </p:spPr>
      </p:sp>
      <p:sp>
        <p:nvSpPr>
          <p:cNvPr id="123" name="Text 119"/>
          <p:cNvSpPr txBox="1"/>
          <p:nvPr/>
        </p:nvSpPr>
        <p:spPr>
          <a:xfrm>
            <a:off x="5629656" y="3246120"/>
            <a:ext cx="91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dirty="0">
                <a:solidFill>
                  <a:srgbClr val="DC262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–</a:t>
            </a:r>
            <a:endParaRPr lang="en-US" sz="700" dirty="0"/>
          </a:p>
        </p:txBody>
      </p:sp>
      <p:sp>
        <p:nvSpPr>
          <p:cNvPr id="124" name="Shape 120"/>
          <p:cNvSpPr/>
          <p:nvPr/>
        </p:nvSpPr>
        <p:spPr>
          <a:xfrm>
            <a:off x="5739384" y="3300984"/>
            <a:ext cx="548640" cy="45720"/>
          </a:xfrm>
          <a:prstGeom prst="rect">
            <a:avLst/>
          </a:prstGeom>
          <a:solidFill>
            <a:srgbClr val="E6EAF0"/>
          </a:solidFill>
          <a:ln/>
        </p:spPr>
      </p:sp>
      <p:sp>
        <p:nvSpPr>
          <p:cNvPr id="125" name="Text 121"/>
          <p:cNvSpPr txBox="1"/>
          <p:nvPr/>
        </p:nvSpPr>
        <p:spPr>
          <a:xfrm>
            <a:off x="4788408" y="3502152"/>
            <a:ext cx="17007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3A455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Check first: IR-gun the drive-end bearing</a:t>
            </a:r>
            <a:endParaRPr lang="en-US" sz="650" dirty="0"/>
          </a:p>
        </p:txBody>
      </p:sp>
      <p:sp>
        <p:nvSpPr>
          <p:cNvPr id="126" name="Shape 122"/>
          <p:cNvSpPr/>
          <p:nvPr/>
        </p:nvSpPr>
        <p:spPr>
          <a:xfrm>
            <a:off x="4788408" y="3703320"/>
            <a:ext cx="804672" cy="274320"/>
          </a:xfrm>
          <a:prstGeom prst="roundRect">
            <a:avLst>
              <a:gd name="adj" fmla="val 10000"/>
            </a:avLst>
          </a:prstGeom>
          <a:solidFill>
            <a:srgbClr val="2563EB"/>
          </a:solidFill>
          <a:ln/>
        </p:spPr>
      </p:sp>
      <p:sp>
        <p:nvSpPr>
          <p:cNvPr id="127" name="Text 123"/>
          <p:cNvSpPr txBox="1"/>
          <p:nvPr/>
        </p:nvSpPr>
        <p:spPr>
          <a:xfrm>
            <a:off x="4788408" y="3703320"/>
            <a:ext cx="804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FFFFFF"/>
                </a:solidFill>
                <a:latin typeface="Barlow SemiBold" pitchFamily="34" charset="0"/>
                <a:ea typeface="Barlow SemiBold" pitchFamily="34" charset="-122"/>
                <a:cs typeface="Barlow SemiBold" pitchFamily="34" charset="-120"/>
              </a:rPr>
              <a:t>Work orders</a:t>
            </a:r>
            <a:endParaRPr lang="en-US" sz="680" dirty="0"/>
          </a:p>
        </p:txBody>
      </p:sp>
      <p:sp>
        <p:nvSpPr>
          <p:cNvPr id="128" name="Shape 124"/>
          <p:cNvSpPr/>
          <p:nvPr/>
        </p:nvSpPr>
        <p:spPr>
          <a:xfrm>
            <a:off x="5647944" y="3703320"/>
            <a:ext cx="841248" cy="274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C2626"/>
            </a:solidFill>
            <a:prstDash val="solid"/>
          </a:ln>
        </p:spPr>
      </p:sp>
      <p:sp>
        <p:nvSpPr>
          <p:cNvPr id="129" name="Text 125"/>
          <p:cNvSpPr txBox="1"/>
          <p:nvPr/>
        </p:nvSpPr>
        <p:spPr>
          <a:xfrm>
            <a:off x="5647944" y="3703320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DC2626"/>
                </a:solidFill>
                <a:latin typeface="Barlow SemiBold" pitchFamily="34" charset="0"/>
                <a:ea typeface="Barlow SemiBold" pitchFamily="34" charset="-122"/>
                <a:cs typeface="Barlow SemiBold" pitchFamily="34" charset="-120"/>
              </a:rPr>
              <a:t>Call on-call</a:t>
            </a:r>
            <a:endParaRPr lang="en-US" sz="680" dirty="0"/>
          </a:p>
        </p:txBody>
      </p:sp>
      <p:sp>
        <p:nvSpPr>
          <p:cNvPr id="130" name="Text 126"/>
          <p:cNvSpPr txBox="1"/>
          <p:nvPr/>
        </p:nvSpPr>
        <p:spPr>
          <a:xfrm>
            <a:off x="4678680" y="4224528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C3AED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-120"/>
              </a:rPr>
              <a:t>03</a:t>
            </a:r>
            <a:endParaRPr lang="en-US" sz="800" dirty="0"/>
          </a:p>
        </p:txBody>
      </p:sp>
      <p:sp>
        <p:nvSpPr>
          <p:cNvPr id="131" name="Text 127"/>
          <p:cNvSpPr txBox="1"/>
          <p:nvPr/>
        </p:nvSpPr>
        <p:spPr>
          <a:xfrm>
            <a:off x="4971288" y="4206240"/>
            <a:ext cx="1627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Incident</a:t>
            </a:r>
            <a:endParaRPr lang="en-US" sz="1400" dirty="0"/>
          </a:p>
        </p:txBody>
      </p:sp>
      <p:sp>
        <p:nvSpPr>
          <p:cNvPr id="132" name="Text 128"/>
          <p:cNvSpPr txBox="1"/>
          <p:nvPr/>
        </p:nvSpPr>
        <p:spPr>
          <a:xfrm>
            <a:off x="4678680" y="449884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A455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Ranked causes, evidence, checks</a:t>
            </a:r>
            <a:endParaRPr lang="en-US" sz="850" dirty="0"/>
          </a:p>
        </p:txBody>
      </p:sp>
      <p:sp>
        <p:nvSpPr>
          <p:cNvPr id="133" name="Shape 129"/>
          <p:cNvSpPr/>
          <p:nvPr/>
        </p:nvSpPr>
        <p:spPr>
          <a:xfrm>
            <a:off x="6635496" y="2766060"/>
            <a:ext cx="140208" cy="0"/>
          </a:xfrm>
          <a:prstGeom prst="line">
            <a:avLst/>
          </a:prstGeom>
          <a:noFill/>
          <a:ln w="12700">
            <a:solidFill>
              <a:srgbClr val="9AA4B2"/>
            </a:solidFill>
            <a:prstDash val="solid"/>
            <a:tailEnd type="triangle"/>
          </a:ln>
        </p:spPr>
      </p:sp>
      <p:sp>
        <p:nvSpPr>
          <p:cNvPr id="134" name="Shape 130"/>
          <p:cNvSpPr/>
          <p:nvPr/>
        </p:nvSpPr>
        <p:spPr>
          <a:xfrm>
            <a:off x="6812280" y="1417320"/>
            <a:ext cx="1920240" cy="2697480"/>
          </a:xfrm>
          <a:prstGeom prst="roundRect">
            <a:avLst>
              <a:gd name="adj" fmla="val 2381"/>
            </a:avLst>
          </a:prstGeom>
          <a:solidFill>
            <a:srgbClr val="FFFFFF"/>
          </a:solidFill>
          <a:ln w="9525">
            <a:solidFill>
              <a:srgbClr val="B4BCC8"/>
            </a:solidFill>
            <a:prstDash val="solid"/>
          </a:ln>
        </p:spPr>
      </p:sp>
      <p:sp>
        <p:nvSpPr>
          <p:cNvPr id="135" name="Shape 131"/>
          <p:cNvSpPr/>
          <p:nvPr/>
        </p:nvSpPr>
        <p:spPr>
          <a:xfrm>
            <a:off x="6821424" y="1426464"/>
            <a:ext cx="1901952" cy="182880"/>
          </a:xfrm>
          <a:prstGeom prst="rect">
            <a:avLst/>
          </a:prstGeom>
          <a:solidFill>
            <a:srgbClr val="F4F6FA"/>
          </a:solidFill>
          <a:ln/>
        </p:spPr>
      </p:sp>
      <p:sp>
        <p:nvSpPr>
          <p:cNvPr id="136" name="Shape 132"/>
          <p:cNvSpPr/>
          <p:nvPr/>
        </p:nvSpPr>
        <p:spPr>
          <a:xfrm>
            <a:off x="6885432" y="1485900"/>
            <a:ext cx="54864" cy="54864"/>
          </a:xfrm>
          <a:prstGeom prst="ellipse">
            <a:avLst/>
          </a:prstGeom>
          <a:solidFill>
            <a:srgbClr val="F28B82"/>
          </a:solidFill>
          <a:ln/>
        </p:spPr>
      </p:sp>
      <p:sp>
        <p:nvSpPr>
          <p:cNvPr id="137" name="Shape 133"/>
          <p:cNvSpPr/>
          <p:nvPr/>
        </p:nvSpPr>
        <p:spPr>
          <a:xfrm>
            <a:off x="6976872" y="1485900"/>
            <a:ext cx="54864" cy="54864"/>
          </a:xfrm>
          <a:prstGeom prst="ellipse">
            <a:avLst/>
          </a:prstGeom>
          <a:solidFill>
            <a:srgbClr val="FDD663"/>
          </a:solidFill>
          <a:ln/>
        </p:spPr>
      </p:sp>
      <p:sp>
        <p:nvSpPr>
          <p:cNvPr id="138" name="Shape 134"/>
          <p:cNvSpPr/>
          <p:nvPr/>
        </p:nvSpPr>
        <p:spPr>
          <a:xfrm>
            <a:off x="7068312" y="1485900"/>
            <a:ext cx="54864" cy="54864"/>
          </a:xfrm>
          <a:prstGeom prst="ellipse">
            <a:avLst/>
          </a:prstGeom>
          <a:solidFill>
            <a:srgbClr val="81C995"/>
          </a:solidFill>
          <a:ln/>
        </p:spPr>
      </p:sp>
      <p:sp>
        <p:nvSpPr>
          <p:cNvPr id="139" name="Shape 135"/>
          <p:cNvSpPr/>
          <p:nvPr/>
        </p:nvSpPr>
        <p:spPr>
          <a:xfrm>
            <a:off x="7498080" y="1709928"/>
            <a:ext cx="548640" cy="548640"/>
          </a:xfrm>
          <a:prstGeom prst="ellipse">
            <a:avLst/>
          </a:prstGeom>
          <a:solidFill>
            <a:srgbClr val="FDECEC"/>
          </a:solidFill>
          <a:ln/>
        </p:spPr>
      </p:sp>
      <p:sp>
        <p:nvSpPr>
          <p:cNvPr id="140" name="Shape 136"/>
          <p:cNvSpPr/>
          <p:nvPr/>
        </p:nvSpPr>
        <p:spPr>
          <a:xfrm>
            <a:off x="7580376" y="1792224"/>
            <a:ext cx="384048" cy="384048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14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2672" y="1874520"/>
            <a:ext cx="219456" cy="219456"/>
          </a:xfrm>
          <a:prstGeom prst="rect">
            <a:avLst/>
          </a:prstGeom>
        </p:spPr>
      </p:pic>
      <p:sp>
        <p:nvSpPr>
          <p:cNvPr id="142" name="Text 137"/>
          <p:cNvSpPr txBox="1"/>
          <p:nvPr/>
        </p:nvSpPr>
        <p:spPr>
          <a:xfrm>
            <a:off x="6922008" y="2313432"/>
            <a:ext cx="17007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580" dirty="0">
                <a:solidFill>
                  <a:srgbClr val="3A455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Muse calling Maintenance lead  00:18</a:t>
            </a:r>
            <a:endParaRPr lang="en-US" sz="580" dirty="0"/>
          </a:p>
        </p:txBody>
      </p:sp>
      <p:sp>
        <p:nvSpPr>
          <p:cNvPr id="143" name="Shape 138"/>
          <p:cNvSpPr/>
          <p:nvPr/>
        </p:nvSpPr>
        <p:spPr>
          <a:xfrm>
            <a:off x="6922008" y="2569464"/>
            <a:ext cx="1536192" cy="603504"/>
          </a:xfrm>
          <a:prstGeom prst="roundRect">
            <a:avLst>
              <a:gd name="adj" fmla="val 7576"/>
            </a:avLst>
          </a:prstGeom>
          <a:solidFill>
            <a:srgbClr val="F1EBFE"/>
          </a:solidFill>
          <a:ln/>
        </p:spPr>
      </p:sp>
      <p:sp>
        <p:nvSpPr>
          <p:cNvPr id="144" name="Text 139"/>
          <p:cNvSpPr txBox="1"/>
          <p:nvPr/>
        </p:nvSpPr>
        <p:spPr>
          <a:xfrm>
            <a:off x="6976872" y="2587752"/>
            <a:ext cx="14264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dirty="0">
                <a:solidFill>
                  <a:srgbClr val="0B122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“Main conveyor vibration is rising toward its limit. Likely a worn bearing. Check the drive-end bearing first.”</a:t>
            </a:r>
            <a:endParaRPr lang="en-US" sz="660" dirty="0"/>
          </a:p>
        </p:txBody>
      </p:sp>
      <p:sp>
        <p:nvSpPr>
          <p:cNvPr id="145" name="Shape 140"/>
          <p:cNvSpPr/>
          <p:nvPr/>
        </p:nvSpPr>
        <p:spPr>
          <a:xfrm>
            <a:off x="7251192" y="3246120"/>
            <a:ext cx="1371600" cy="292608"/>
          </a:xfrm>
          <a:prstGeom prst="roundRect">
            <a:avLst>
              <a:gd name="adj" fmla="val 15625"/>
            </a:avLst>
          </a:prstGeom>
          <a:solidFill>
            <a:srgbClr val="E8F7EE"/>
          </a:solidFill>
          <a:ln/>
        </p:spPr>
      </p:sp>
      <p:sp>
        <p:nvSpPr>
          <p:cNvPr id="146" name="Text 141"/>
          <p:cNvSpPr txBox="1"/>
          <p:nvPr/>
        </p:nvSpPr>
        <p:spPr>
          <a:xfrm>
            <a:off x="7306056" y="3246120"/>
            <a:ext cx="1289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dirty="0">
                <a:solidFill>
                  <a:srgbClr val="0B122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“Acknowledged. Ten minutes.”</a:t>
            </a:r>
            <a:endParaRPr lang="en-US" sz="660" dirty="0"/>
          </a:p>
        </p:txBody>
      </p:sp>
      <p:sp>
        <p:nvSpPr>
          <p:cNvPr id="147" name="Shape 142"/>
          <p:cNvSpPr/>
          <p:nvPr/>
        </p:nvSpPr>
        <p:spPr>
          <a:xfrm>
            <a:off x="6922008" y="3685032"/>
            <a:ext cx="786384" cy="1828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16A34A"/>
            </a:solidFill>
            <a:prstDash val="solid"/>
          </a:ln>
        </p:spPr>
      </p:sp>
      <p:sp>
        <p:nvSpPr>
          <p:cNvPr id="148" name="Text 143"/>
          <p:cNvSpPr txBox="1"/>
          <p:nvPr/>
        </p:nvSpPr>
        <p:spPr>
          <a:xfrm>
            <a:off x="6922008" y="3685032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spc="80" kern="0" dirty="0">
                <a:solidFill>
                  <a:srgbClr val="16A34A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-120"/>
              </a:rPr>
              <a:t>ACKNOWLEDGED</a:t>
            </a:r>
            <a:endParaRPr lang="en-US" sz="550" dirty="0"/>
          </a:p>
        </p:txBody>
      </p:sp>
      <p:sp>
        <p:nvSpPr>
          <p:cNvPr id="149" name="Shape 144"/>
          <p:cNvSpPr/>
          <p:nvPr/>
        </p:nvSpPr>
        <p:spPr>
          <a:xfrm>
            <a:off x="7763256" y="3685032"/>
            <a:ext cx="713232" cy="1828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16A34A"/>
            </a:solidFill>
            <a:prstDash val="solid"/>
          </a:ln>
        </p:spPr>
      </p:sp>
      <p:sp>
        <p:nvSpPr>
          <p:cNvPr id="150" name="Text 145"/>
          <p:cNvSpPr txBox="1"/>
          <p:nvPr/>
        </p:nvSpPr>
        <p:spPr>
          <a:xfrm>
            <a:off x="7763256" y="3685032"/>
            <a:ext cx="713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spc="80" kern="0" dirty="0">
                <a:solidFill>
                  <a:srgbClr val="16A34A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-120"/>
              </a:rPr>
              <a:t>ETA 10 MIN</a:t>
            </a:r>
            <a:endParaRPr lang="en-US" sz="550" dirty="0"/>
          </a:p>
        </p:txBody>
      </p:sp>
      <p:sp>
        <p:nvSpPr>
          <p:cNvPr id="151" name="Text 146"/>
          <p:cNvSpPr txBox="1"/>
          <p:nvPr/>
        </p:nvSpPr>
        <p:spPr>
          <a:xfrm>
            <a:off x="6812280" y="4224528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C2626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-120"/>
              </a:rPr>
              <a:t>04</a:t>
            </a:r>
            <a:endParaRPr lang="en-US" sz="800" dirty="0"/>
          </a:p>
        </p:txBody>
      </p:sp>
      <p:sp>
        <p:nvSpPr>
          <p:cNvPr id="152" name="Text 147"/>
          <p:cNvSpPr txBox="1"/>
          <p:nvPr/>
        </p:nvSpPr>
        <p:spPr>
          <a:xfrm>
            <a:off x="7104888" y="4206240"/>
            <a:ext cx="1627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The call</a:t>
            </a:r>
            <a:endParaRPr lang="en-US" sz="1400" dirty="0"/>
          </a:p>
        </p:txBody>
      </p:sp>
      <p:sp>
        <p:nvSpPr>
          <p:cNvPr id="153" name="Text 148"/>
          <p:cNvSpPr txBox="1"/>
          <p:nvPr/>
        </p:nvSpPr>
        <p:spPr>
          <a:xfrm>
            <a:off x="6812280" y="449884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A455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Muse phones the on-call engineer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66760" y="4846320"/>
            <a:ext cx="36576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A0A8B5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411480" y="621792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200" kern="0" dirty="0">
                <a:solidFill>
                  <a:srgbClr val="2563EB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-120"/>
              </a:rPr>
              <a:t>06 / ARCHITECTURE DIAGRAM OF THE PROPOSED SOLUTION (1 OF 2)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82296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0B1220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Two Cloud Run services. Vertex AI does the thinking</a:t>
            </a:r>
            <a:endParaRPr lang="en-US" sz="2500" dirty="0"/>
          </a:p>
        </p:txBody>
      </p:sp>
      <p:sp>
        <p:nvSpPr>
          <p:cNvPr id="5" name="Shape 2"/>
          <p:cNvSpPr/>
          <p:nvPr/>
        </p:nvSpPr>
        <p:spPr>
          <a:xfrm>
            <a:off x="685800" y="1371600"/>
            <a:ext cx="1920240" cy="512064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12700">
            <a:solidFill>
              <a:srgbClr val="C9D1DD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426464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0B1220"/>
                </a:solidFill>
                <a:latin typeface="Barlow SemiBold" pitchFamily="34" charset="0"/>
                <a:ea typeface="Barlow SemiBold" pitchFamily="34" charset="-122"/>
                <a:cs typeface="Barlow SemiBold" pitchFamily="34" charset="-120"/>
              </a:rPr>
              <a:t>Browser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1627632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60" dirty="0">
                <a:solidFill>
                  <a:srgbClr val="3A455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Dashboard, live stream, voice copilot</a:t>
            </a:r>
            <a:endParaRPr lang="en-US" sz="760" dirty="0"/>
          </a:p>
        </p:txBody>
      </p:sp>
      <p:sp>
        <p:nvSpPr>
          <p:cNvPr id="8" name="Shape 5"/>
          <p:cNvSpPr/>
          <p:nvPr/>
        </p:nvSpPr>
        <p:spPr>
          <a:xfrm>
            <a:off x="3566160" y="1371600"/>
            <a:ext cx="2286000" cy="512064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12700">
            <a:solidFill>
              <a:srgbClr val="C9D1DD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657600" y="1426464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0B1220"/>
                </a:solidFill>
                <a:latin typeface="Barlow SemiBold" pitchFamily="34" charset="0"/>
                <a:ea typeface="Barlow SemiBold" pitchFamily="34" charset="-122"/>
                <a:cs typeface="Barlow SemiBold" pitchFamily="34" charset="-120"/>
              </a:rPr>
              <a:t>Machines and PLC gateways</a:t>
            </a:r>
            <a:endParaRPr lang="en-US" sz="950" dirty="0"/>
          </a:p>
        </p:txBody>
      </p:sp>
      <p:sp>
        <p:nvSpPr>
          <p:cNvPr id="10" name="Text 7"/>
          <p:cNvSpPr txBox="1"/>
          <p:nvPr/>
        </p:nvSpPr>
        <p:spPr>
          <a:xfrm>
            <a:off x="3657600" y="1627632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60" dirty="0">
                <a:solidFill>
                  <a:srgbClr val="3A455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POST /v1/telemetry with a device key</a:t>
            </a:r>
            <a:endParaRPr lang="en-US" sz="760" dirty="0"/>
          </a:p>
        </p:txBody>
      </p:sp>
      <p:sp>
        <p:nvSpPr>
          <p:cNvPr id="11" name="Shape 8"/>
          <p:cNvSpPr/>
          <p:nvPr/>
        </p:nvSpPr>
        <p:spPr>
          <a:xfrm>
            <a:off x="411480" y="2057400"/>
            <a:ext cx="8321040" cy="2011680"/>
          </a:xfrm>
          <a:prstGeom prst="roundRect">
            <a:avLst>
              <a:gd name="adj" fmla="val 2273"/>
            </a:avLst>
          </a:prstGeom>
          <a:solidFill>
            <a:srgbClr val="F7F9FD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440680" y="2093976"/>
            <a:ext cx="31821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spc="150" kern="0" dirty="0">
                <a:solidFill>
                  <a:srgbClr val="2563EB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-120"/>
              </a:rPr>
              <a:t>GOOGLE CLOUD · ASIA-SOUTHEAST1</a:t>
            </a:r>
            <a:endParaRPr lang="en-US" sz="750" dirty="0"/>
          </a:p>
        </p:txBody>
      </p:sp>
      <p:sp>
        <p:nvSpPr>
          <p:cNvPr id="13" name="Shape 10"/>
          <p:cNvSpPr/>
          <p:nvPr/>
        </p:nvSpPr>
        <p:spPr>
          <a:xfrm>
            <a:off x="566928" y="2395728"/>
            <a:ext cx="214884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58368" y="2450592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0B1220"/>
                </a:solidFill>
                <a:latin typeface="Barlow SemiBold" pitchFamily="34" charset="0"/>
                <a:ea typeface="Barlow SemiBold" pitchFamily="34" charset="-122"/>
                <a:cs typeface="Barlow SemiBold" pitchFamily="34" charset="-120"/>
              </a:rPr>
              <a:t>Cloud Run · frontend</a:t>
            </a:r>
            <a:endParaRPr lang="en-US" sz="950" dirty="0"/>
          </a:p>
        </p:txBody>
      </p:sp>
      <p:sp>
        <p:nvSpPr>
          <p:cNvPr id="15" name="Text 12"/>
          <p:cNvSpPr txBox="1"/>
          <p:nvPr/>
        </p:nvSpPr>
        <p:spPr>
          <a:xfrm>
            <a:off x="658368" y="2651760"/>
            <a:ext cx="1965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60" dirty="0">
                <a:solidFill>
                  <a:srgbClr val="3A455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Next.js 16, React 19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3A455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3D factory, line builder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3A455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Scales to zero</a:t>
            </a:r>
            <a:endParaRPr lang="en-US" sz="760" dirty="0"/>
          </a:p>
        </p:txBody>
      </p:sp>
      <p:sp>
        <p:nvSpPr>
          <p:cNvPr id="16" name="Shape 13"/>
          <p:cNvSpPr/>
          <p:nvPr/>
        </p:nvSpPr>
        <p:spPr>
          <a:xfrm>
            <a:off x="2971800" y="2395728"/>
            <a:ext cx="3063240" cy="155448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5875">
            <a:solidFill>
              <a:srgbClr val="2563EB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3063240" y="2441448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0B1220"/>
                </a:solidFill>
                <a:latin typeface="Barlow SemiBold" pitchFamily="34" charset="0"/>
                <a:ea typeface="Barlow SemiBold" pitchFamily="34" charset="-122"/>
                <a:cs typeface="Barlow SemiBold" pitchFamily="34" charset="-120"/>
              </a:rPr>
              <a:t>Cloud Run · backend (FastAPI, always on)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3063240" y="2715768"/>
            <a:ext cx="1389888" cy="338328"/>
          </a:xfrm>
          <a:prstGeom prst="roundRect">
            <a:avLst>
              <a:gd name="adj" fmla="val 10811"/>
            </a:avLst>
          </a:prstGeom>
          <a:solidFill>
            <a:srgbClr val="F4F6FA"/>
          </a:solidFill>
          <a:ln/>
        </p:spPr>
      </p:sp>
      <p:sp>
        <p:nvSpPr>
          <p:cNvPr id="19" name="Shape 16"/>
          <p:cNvSpPr/>
          <p:nvPr/>
        </p:nvSpPr>
        <p:spPr>
          <a:xfrm>
            <a:off x="3136392" y="2843784"/>
            <a:ext cx="82296" cy="82296"/>
          </a:xfrm>
          <a:prstGeom prst="ellipse">
            <a:avLst/>
          </a:prstGeom>
          <a:solidFill>
            <a:srgbClr val="0E7490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3264408" y="2715768"/>
            <a:ext cx="117043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0B122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Ingest and detection</a:t>
            </a:r>
            <a:endParaRPr lang="en-US" sz="760" dirty="0"/>
          </a:p>
        </p:txBody>
      </p:sp>
      <p:sp>
        <p:nvSpPr>
          <p:cNvPr id="21" name="Shape 18"/>
          <p:cNvSpPr/>
          <p:nvPr/>
        </p:nvSpPr>
        <p:spPr>
          <a:xfrm>
            <a:off x="4526280" y="2715768"/>
            <a:ext cx="1389888" cy="338328"/>
          </a:xfrm>
          <a:prstGeom prst="roundRect">
            <a:avLst>
              <a:gd name="adj" fmla="val 10811"/>
            </a:avLst>
          </a:prstGeom>
          <a:solidFill>
            <a:srgbClr val="F4F6FA"/>
          </a:solidFill>
          <a:ln/>
        </p:spPr>
      </p:sp>
      <p:sp>
        <p:nvSpPr>
          <p:cNvPr id="22" name="Shape 19"/>
          <p:cNvSpPr/>
          <p:nvPr/>
        </p:nvSpPr>
        <p:spPr>
          <a:xfrm>
            <a:off x="4599432" y="2843784"/>
            <a:ext cx="82296" cy="82296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4727448" y="2715768"/>
            <a:ext cx="117043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0B122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Incidents and escalation</a:t>
            </a:r>
            <a:endParaRPr lang="en-US" sz="760" dirty="0"/>
          </a:p>
        </p:txBody>
      </p:sp>
      <p:sp>
        <p:nvSpPr>
          <p:cNvPr id="24" name="Shape 21"/>
          <p:cNvSpPr/>
          <p:nvPr/>
        </p:nvSpPr>
        <p:spPr>
          <a:xfrm>
            <a:off x="3063240" y="3118104"/>
            <a:ext cx="1389888" cy="338328"/>
          </a:xfrm>
          <a:prstGeom prst="roundRect">
            <a:avLst>
              <a:gd name="adj" fmla="val 10811"/>
            </a:avLst>
          </a:prstGeom>
          <a:solidFill>
            <a:srgbClr val="F4F6FA"/>
          </a:solidFill>
          <a:ln/>
        </p:spPr>
      </p:sp>
      <p:sp>
        <p:nvSpPr>
          <p:cNvPr id="25" name="Shape 22"/>
          <p:cNvSpPr/>
          <p:nvPr/>
        </p:nvSpPr>
        <p:spPr>
          <a:xfrm>
            <a:off x="3136392" y="3246120"/>
            <a:ext cx="82296" cy="82296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3264408" y="3118104"/>
            <a:ext cx="117043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0B122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ADK agent runner</a:t>
            </a:r>
            <a:endParaRPr lang="en-US" sz="760" dirty="0"/>
          </a:p>
        </p:txBody>
      </p:sp>
      <p:sp>
        <p:nvSpPr>
          <p:cNvPr id="27" name="Shape 24"/>
          <p:cNvSpPr/>
          <p:nvPr/>
        </p:nvSpPr>
        <p:spPr>
          <a:xfrm>
            <a:off x="4526280" y="3118104"/>
            <a:ext cx="1389888" cy="338328"/>
          </a:xfrm>
          <a:prstGeom prst="roundRect">
            <a:avLst>
              <a:gd name="adj" fmla="val 10811"/>
            </a:avLst>
          </a:prstGeom>
          <a:solidFill>
            <a:srgbClr val="F4F6FA"/>
          </a:solidFill>
          <a:ln/>
        </p:spPr>
      </p:sp>
      <p:sp>
        <p:nvSpPr>
          <p:cNvPr id="28" name="Shape 25"/>
          <p:cNvSpPr/>
          <p:nvPr/>
        </p:nvSpPr>
        <p:spPr>
          <a:xfrm>
            <a:off x="4599432" y="3246120"/>
            <a:ext cx="82296" cy="82296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4727448" y="3118104"/>
            <a:ext cx="117043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0B122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Muse copilot, Live relay</a:t>
            </a:r>
            <a:endParaRPr lang="en-US" sz="760" dirty="0"/>
          </a:p>
        </p:txBody>
      </p:sp>
      <p:sp>
        <p:nvSpPr>
          <p:cNvPr id="30" name="Shape 27"/>
          <p:cNvSpPr/>
          <p:nvPr/>
        </p:nvSpPr>
        <p:spPr>
          <a:xfrm>
            <a:off x="3063240" y="3520440"/>
            <a:ext cx="1389888" cy="338328"/>
          </a:xfrm>
          <a:prstGeom prst="roundRect">
            <a:avLst>
              <a:gd name="adj" fmla="val 10811"/>
            </a:avLst>
          </a:prstGeom>
          <a:solidFill>
            <a:srgbClr val="F4F6FA"/>
          </a:solidFill>
          <a:ln/>
        </p:spPr>
      </p:sp>
      <p:sp>
        <p:nvSpPr>
          <p:cNvPr id="31" name="Shape 28"/>
          <p:cNvSpPr/>
          <p:nvPr/>
        </p:nvSpPr>
        <p:spPr>
          <a:xfrm>
            <a:off x="3136392" y="3648456"/>
            <a:ext cx="82296" cy="82296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32" name="Text 29"/>
          <p:cNvSpPr txBox="1"/>
          <p:nvPr/>
        </p:nvSpPr>
        <p:spPr>
          <a:xfrm>
            <a:off x="3264408" y="3520440"/>
            <a:ext cx="117043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0B122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Voice and email</a:t>
            </a:r>
            <a:endParaRPr lang="en-US" sz="760" dirty="0"/>
          </a:p>
        </p:txBody>
      </p:sp>
      <p:sp>
        <p:nvSpPr>
          <p:cNvPr id="33" name="Shape 30"/>
          <p:cNvSpPr/>
          <p:nvPr/>
        </p:nvSpPr>
        <p:spPr>
          <a:xfrm>
            <a:off x="4526280" y="3520440"/>
            <a:ext cx="1389888" cy="338328"/>
          </a:xfrm>
          <a:prstGeom prst="roundRect">
            <a:avLst>
              <a:gd name="adj" fmla="val 10811"/>
            </a:avLst>
          </a:prstGeom>
          <a:solidFill>
            <a:srgbClr val="F4F6FA"/>
          </a:solidFill>
          <a:ln/>
        </p:spPr>
      </p:sp>
      <p:sp>
        <p:nvSpPr>
          <p:cNvPr id="34" name="Shape 31"/>
          <p:cNvSpPr/>
          <p:nvPr/>
        </p:nvSpPr>
        <p:spPr>
          <a:xfrm>
            <a:off x="4599432" y="3648456"/>
            <a:ext cx="82296" cy="82296"/>
          </a:xfrm>
          <a:prstGeom prst="ellipse">
            <a:avLst/>
          </a:prstGeom>
          <a:solidFill>
            <a:srgbClr val="3A4556"/>
          </a:solidFill>
          <a:ln/>
        </p:spPr>
      </p:sp>
      <p:sp>
        <p:nvSpPr>
          <p:cNvPr id="35" name="Text 32"/>
          <p:cNvSpPr txBox="1"/>
          <p:nvPr/>
        </p:nvSpPr>
        <p:spPr>
          <a:xfrm>
            <a:off x="4727448" y="3520440"/>
            <a:ext cx="117043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0B122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SQLite hot path, SSE</a:t>
            </a:r>
            <a:endParaRPr lang="en-US" sz="760" dirty="0"/>
          </a:p>
        </p:txBody>
      </p:sp>
      <p:sp>
        <p:nvSpPr>
          <p:cNvPr id="36" name="Shape 33"/>
          <p:cNvSpPr/>
          <p:nvPr/>
        </p:nvSpPr>
        <p:spPr>
          <a:xfrm>
            <a:off x="6291072" y="2395728"/>
            <a:ext cx="2331720" cy="896112"/>
          </a:xfrm>
          <a:prstGeom prst="roundRect">
            <a:avLst>
              <a:gd name="adj" fmla="val 5102"/>
            </a:avLst>
          </a:prstGeom>
          <a:solidFill>
            <a:srgbClr val="F1EB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6382512" y="2450592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7C3AED"/>
                </a:solidFill>
                <a:latin typeface="Barlow SemiBold" pitchFamily="34" charset="0"/>
                <a:ea typeface="Barlow SemiBold" pitchFamily="34" charset="-122"/>
                <a:cs typeface="Barlow SemiBold" pitchFamily="34" charset="-120"/>
              </a:rPr>
              <a:t>Vertex AI</a:t>
            </a:r>
            <a:endParaRPr lang="en-US" sz="950" dirty="0"/>
          </a:p>
        </p:txBody>
      </p:sp>
      <p:sp>
        <p:nvSpPr>
          <p:cNvPr id="38" name="Text 35"/>
          <p:cNvSpPr txBox="1"/>
          <p:nvPr/>
        </p:nvSpPr>
        <p:spPr>
          <a:xfrm>
            <a:off x="6382512" y="2651760"/>
            <a:ext cx="2148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60" dirty="0">
                <a:solidFill>
                  <a:srgbClr val="3A455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Gemini 2.5 Flash and Pro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3A455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Agent Development Kit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3A455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Gemini Live native audio</a:t>
            </a:r>
            <a:endParaRPr lang="en-US" sz="760" dirty="0"/>
          </a:p>
        </p:txBody>
      </p:sp>
      <p:sp>
        <p:nvSpPr>
          <p:cNvPr id="39" name="Shape 36"/>
          <p:cNvSpPr/>
          <p:nvPr/>
        </p:nvSpPr>
        <p:spPr>
          <a:xfrm>
            <a:off x="6291072" y="3364992"/>
            <a:ext cx="2331720" cy="585216"/>
          </a:xfrm>
          <a:prstGeom prst="roundRect">
            <a:avLst>
              <a:gd name="adj" fmla="val 7813"/>
            </a:avLst>
          </a:prstGeom>
          <a:solidFill>
            <a:srgbClr val="E6F6F9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6382512" y="3419856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0E7490"/>
                </a:solidFill>
                <a:latin typeface="Barlow SemiBold" pitchFamily="34" charset="0"/>
                <a:ea typeface="Barlow SemiBold" pitchFamily="34" charset="-122"/>
                <a:cs typeface="Barlow SemiBold" pitchFamily="34" charset="-120"/>
              </a:rPr>
              <a:t>Data</a:t>
            </a:r>
            <a:endParaRPr lang="en-US" sz="950" dirty="0"/>
          </a:p>
        </p:txBody>
      </p:sp>
      <p:sp>
        <p:nvSpPr>
          <p:cNvPr id="41" name="Text 38"/>
          <p:cNvSpPr txBox="1"/>
          <p:nvPr/>
        </p:nvSpPr>
        <p:spPr>
          <a:xfrm>
            <a:off x="6382512" y="3621024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30" dirty="0">
                <a:solidFill>
                  <a:srgbClr val="3A455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Firestore · Pub/Sub → BigQuery</a:t>
            </a:r>
            <a:endParaRPr lang="en-US" sz="730" dirty="0"/>
          </a:p>
          <a:p>
            <a:pPr indent="0" marL="0">
              <a:buNone/>
            </a:pPr>
            <a:r>
              <a:rPr lang="en-US" sz="730" dirty="0">
                <a:solidFill>
                  <a:srgbClr val="3A455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Cloud Storage (manuals, photos)</a:t>
            </a:r>
            <a:endParaRPr lang="en-US" sz="730" dirty="0"/>
          </a:p>
        </p:txBody>
      </p:sp>
      <p:sp>
        <p:nvSpPr>
          <p:cNvPr id="42" name="Text 39"/>
          <p:cNvSpPr txBox="1"/>
          <p:nvPr/>
        </p:nvSpPr>
        <p:spPr>
          <a:xfrm>
            <a:off x="566928" y="342900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" dirty="0">
                <a:solidFill>
                  <a:srgbClr val="6B768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Also: Secret Manager · Cloud Logging · Cloud Build → Artifact Registry · Firebase Auth</a:t>
            </a:r>
            <a:endParaRPr lang="en-US" sz="720" dirty="0"/>
          </a:p>
        </p:txBody>
      </p:sp>
      <p:sp>
        <p:nvSpPr>
          <p:cNvPr id="43" name="Text 40"/>
          <p:cNvSpPr txBox="1"/>
          <p:nvPr/>
        </p:nvSpPr>
        <p:spPr>
          <a:xfrm>
            <a:off x="411480" y="4224528"/>
            <a:ext cx="2377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80" dirty="0">
                <a:solidFill>
                  <a:srgbClr val="0B1220"/>
                </a:solidFill>
                <a:latin typeface="Barlow SemiBold" pitchFamily="34" charset="0"/>
                <a:ea typeface="Barlow SemiBold" pitchFamily="34" charset="-122"/>
                <a:cs typeface="Barlow SemiBold" pitchFamily="34" charset="-120"/>
              </a:rPr>
              <a:t>Why this shape. </a:t>
            </a:r>
            <a:pPr indent="0" marL="0">
              <a:buNone/>
            </a:pPr>
            <a:r>
              <a:rPr lang="en-US" sz="780" dirty="0">
                <a:solidFill>
                  <a:srgbClr val="3A455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Detection runs inside the backend on every reading. Only incidents reach Vertex AI, which keeps latency and cost low.</a:t>
            </a:r>
            <a:endParaRPr lang="en-US" sz="780" dirty="0"/>
          </a:p>
        </p:txBody>
      </p:sp>
      <p:sp>
        <p:nvSpPr>
          <p:cNvPr id="44" name="Shape 41"/>
          <p:cNvSpPr/>
          <p:nvPr/>
        </p:nvSpPr>
        <p:spPr>
          <a:xfrm>
            <a:off x="2971800" y="4261104"/>
            <a:ext cx="1783080" cy="548640"/>
          </a:xfrm>
          <a:prstGeom prst="roundRect">
            <a:avLst>
              <a:gd name="adj" fmla="val 8333"/>
            </a:avLst>
          </a:prstGeom>
          <a:solidFill>
            <a:srgbClr val="FDECEC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3063240" y="4315968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DC2626"/>
                </a:solidFill>
                <a:latin typeface="Barlow SemiBold" pitchFamily="34" charset="0"/>
                <a:ea typeface="Barlow SemiBold" pitchFamily="34" charset="-122"/>
                <a:cs typeface="Barlow SemiBold" pitchFamily="34" charset="-120"/>
              </a:rPr>
              <a:t>Dograh voice agents</a:t>
            </a:r>
            <a:endParaRPr lang="en-US" sz="950" dirty="0"/>
          </a:p>
        </p:txBody>
      </p:sp>
      <p:sp>
        <p:nvSpPr>
          <p:cNvPr id="46" name="Text 43"/>
          <p:cNvSpPr txBox="1"/>
          <p:nvPr/>
        </p:nvSpPr>
        <p:spPr>
          <a:xfrm>
            <a:off x="3063240" y="4517136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60" dirty="0">
                <a:solidFill>
                  <a:srgbClr val="3A455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Gemini Live, TeleCMI SIP</a:t>
            </a:r>
            <a:endParaRPr lang="en-US" sz="760" dirty="0"/>
          </a:p>
        </p:txBody>
      </p:sp>
      <p:sp>
        <p:nvSpPr>
          <p:cNvPr id="47" name="Shape 44"/>
          <p:cNvSpPr/>
          <p:nvPr/>
        </p:nvSpPr>
        <p:spPr>
          <a:xfrm>
            <a:off x="4983480" y="4261104"/>
            <a:ext cx="1143000" cy="5486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C9D1DD"/>
            </a:solidFill>
            <a:prstDash val="solid"/>
          </a:ln>
        </p:spPr>
      </p:sp>
      <p:sp>
        <p:nvSpPr>
          <p:cNvPr id="48" name="Text 45"/>
          <p:cNvSpPr txBox="1"/>
          <p:nvPr/>
        </p:nvSpPr>
        <p:spPr>
          <a:xfrm>
            <a:off x="5074920" y="431596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0B1220"/>
                </a:solidFill>
                <a:latin typeface="Barlow SemiBold" pitchFamily="34" charset="0"/>
                <a:ea typeface="Barlow SemiBold" pitchFamily="34" charset="-122"/>
                <a:cs typeface="Barlow SemiBold" pitchFamily="34" charset="-120"/>
              </a:rPr>
              <a:t>On-call phone</a:t>
            </a:r>
            <a:endParaRPr lang="en-US" sz="950" dirty="0"/>
          </a:p>
        </p:txBody>
      </p:sp>
      <p:sp>
        <p:nvSpPr>
          <p:cNvPr id="49" name="Shape 46"/>
          <p:cNvSpPr/>
          <p:nvPr/>
        </p:nvSpPr>
        <p:spPr>
          <a:xfrm>
            <a:off x="6446520" y="4261104"/>
            <a:ext cx="914400" cy="5486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6537960" y="4315968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0B1220"/>
                </a:solidFill>
                <a:latin typeface="Barlow SemiBold" pitchFamily="34" charset="0"/>
                <a:ea typeface="Barlow SemiBold" pitchFamily="34" charset="-122"/>
                <a:cs typeface="Barlow SemiBold" pitchFamily="34" charset="-120"/>
              </a:rPr>
              <a:t>Resend</a:t>
            </a:r>
            <a:endParaRPr lang="en-US" sz="950" dirty="0"/>
          </a:p>
        </p:txBody>
      </p:sp>
      <p:sp>
        <p:nvSpPr>
          <p:cNvPr id="51" name="Text 48"/>
          <p:cNvSpPr txBox="1"/>
          <p:nvPr/>
        </p:nvSpPr>
        <p:spPr>
          <a:xfrm>
            <a:off x="6537960" y="4517136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60" dirty="0">
                <a:solidFill>
                  <a:srgbClr val="3A455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email API</a:t>
            </a:r>
            <a:endParaRPr lang="en-US" sz="760" dirty="0"/>
          </a:p>
        </p:txBody>
      </p:sp>
      <p:sp>
        <p:nvSpPr>
          <p:cNvPr id="52" name="Shape 49"/>
          <p:cNvSpPr/>
          <p:nvPr/>
        </p:nvSpPr>
        <p:spPr>
          <a:xfrm>
            <a:off x="7589520" y="4261104"/>
            <a:ext cx="1143000" cy="5486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C9D1DD"/>
            </a:solidFill>
            <a:prstDash val="solid"/>
          </a:ln>
        </p:spPr>
      </p:sp>
      <p:sp>
        <p:nvSpPr>
          <p:cNvPr id="53" name="Text 50"/>
          <p:cNvSpPr txBox="1"/>
          <p:nvPr/>
        </p:nvSpPr>
        <p:spPr>
          <a:xfrm>
            <a:off x="7680960" y="431596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0B1220"/>
                </a:solidFill>
                <a:latin typeface="Barlow SemiBold" pitchFamily="34" charset="0"/>
                <a:ea typeface="Barlow SemiBold" pitchFamily="34" charset="-122"/>
                <a:cs typeface="Barlow SemiBold" pitchFamily="34" charset="-120"/>
              </a:rPr>
              <a:t>Inbox</a:t>
            </a:r>
            <a:endParaRPr lang="en-US" sz="950" dirty="0"/>
          </a:p>
        </p:txBody>
      </p:sp>
      <p:sp>
        <p:nvSpPr>
          <p:cNvPr id="54" name="Shape 51"/>
          <p:cNvSpPr/>
          <p:nvPr/>
        </p:nvSpPr>
        <p:spPr>
          <a:xfrm>
            <a:off x="1645920" y="1883664"/>
            <a:ext cx="0" cy="512064"/>
          </a:xfrm>
          <a:prstGeom prst="line">
            <a:avLst/>
          </a:prstGeom>
          <a:noFill/>
          <a:ln w="1270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55" name="Shape 52"/>
          <p:cNvSpPr/>
          <p:nvPr/>
        </p:nvSpPr>
        <p:spPr>
          <a:xfrm>
            <a:off x="4709160" y="1883664"/>
            <a:ext cx="0" cy="512064"/>
          </a:xfrm>
          <a:prstGeom prst="line">
            <a:avLst/>
          </a:prstGeom>
          <a:noFill/>
          <a:ln w="12700">
            <a:solidFill>
              <a:srgbClr val="0E7490"/>
            </a:solidFill>
            <a:prstDash val="solid"/>
            <a:tailEnd type="triangle"/>
          </a:ln>
        </p:spPr>
      </p:sp>
      <p:sp>
        <p:nvSpPr>
          <p:cNvPr id="56" name="Shape 53"/>
          <p:cNvSpPr/>
          <p:nvPr/>
        </p:nvSpPr>
        <p:spPr>
          <a:xfrm>
            <a:off x="2715768" y="2852928"/>
            <a:ext cx="256032" cy="0"/>
          </a:xfrm>
          <a:prstGeom prst="line">
            <a:avLst/>
          </a:prstGeom>
          <a:noFill/>
          <a:ln w="12700">
            <a:solidFill>
              <a:srgbClr val="2563EB"/>
            </a:solidFill>
            <a:prstDash val="solid"/>
            <a:headEnd type="triangle"/>
            <a:tailEnd type="triangle"/>
          </a:ln>
        </p:spPr>
      </p:sp>
      <p:sp>
        <p:nvSpPr>
          <p:cNvPr id="57" name="Shape 54"/>
          <p:cNvSpPr/>
          <p:nvPr/>
        </p:nvSpPr>
        <p:spPr>
          <a:xfrm>
            <a:off x="6035040" y="2834640"/>
            <a:ext cx="256032" cy="0"/>
          </a:xfrm>
          <a:prstGeom prst="line">
            <a:avLst/>
          </a:prstGeom>
          <a:noFill/>
          <a:ln w="12700">
            <a:solidFill>
              <a:srgbClr val="7C3AED"/>
            </a:solidFill>
            <a:prstDash val="solid"/>
            <a:headEnd type="triangle"/>
            <a:tailEnd type="triangle"/>
          </a:ln>
        </p:spPr>
      </p:sp>
      <p:sp>
        <p:nvSpPr>
          <p:cNvPr id="58" name="Shape 55"/>
          <p:cNvSpPr/>
          <p:nvPr/>
        </p:nvSpPr>
        <p:spPr>
          <a:xfrm>
            <a:off x="6035040" y="3657600"/>
            <a:ext cx="256032" cy="0"/>
          </a:xfrm>
          <a:prstGeom prst="line">
            <a:avLst/>
          </a:prstGeom>
          <a:noFill/>
          <a:ln w="12700">
            <a:solidFill>
              <a:srgbClr val="0E7490"/>
            </a:solidFill>
            <a:prstDash val="solid"/>
            <a:tailEnd type="triangle"/>
          </a:ln>
        </p:spPr>
      </p:sp>
      <p:sp>
        <p:nvSpPr>
          <p:cNvPr id="59" name="Shape 56"/>
          <p:cNvSpPr/>
          <p:nvPr/>
        </p:nvSpPr>
        <p:spPr>
          <a:xfrm>
            <a:off x="3840480" y="3950208"/>
            <a:ext cx="0" cy="310896"/>
          </a:xfrm>
          <a:prstGeom prst="line">
            <a:avLst/>
          </a:prstGeom>
          <a:noFill/>
          <a:ln w="12700">
            <a:solidFill>
              <a:srgbClr val="DC2626"/>
            </a:solidFill>
            <a:prstDash val="solid"/>
            <a:tailEnd type="triangle"/>
          </a:ln>
        </p:spPr>
      </p:sp>
      <p:sp>
        <p:nvSpPr>
          <p:cNvPr id="60" name="Shape 57"/>
          <p:cNvSpPr/>
          <p:nvPr/>
        </p:nvSpPr>
        <p:spPr>
          <a:xfrm>
            <a:off x="4754880" y="4535424"/>
            <a:ext cx="228600" cy="0"/>
          </a:xfrm>
          <a:prstGeom prst="line">
            <a:avLst/>
          </a:prstGeom>
          <a:noFill/>
          <a:ln w="12700">
            <a:solidFill>
              <a:srgbClr val="DC2626"/>
            </a:solidFill>
            <a:prstDash val="solid"/>
            <a:tailEnd type="triangle"/>
          </a:ln>
        </p:spPr>
      </p:sp>
      <p:sp>
        <p:nvSpPr>
          <p:cNvPr id="61" name="Shape 58"/>
          <p:cNvSpPr/>
          <p:nvPr/>
        </p:nvSpPr>
        <p:spPr>
          <a:xfrm>
            <a:off x="5852160" y="3950208"/>
            <a:ext cx="0" cy="164592"/>
          </a:xfrm>
          <a:prstGeom prst="line">
            <a:avLst/>
          </a:prstGeom>
          <a:noFill/>
          <a:ln w="12700">
            <a:solidFill>
              <a:srgbClr val="7C3AED"/>
            </a:solidFill>
            <a:prstDash val="solid"/>
          </a:ln>
        </p:spPr>
      </p:sp>
      <p:sp>
        <p:nvSpPr>
          <p:cNvPr id="62" name="Shape 59"/>
          <p:cNvSpPr/>
          <p:nvPr/>
        </p:nvSpPr>
        <p:spPr>
          <a:xfrm>
            <a:off x="5852160" y="4114800"/>
            <a:ext cx="1051560" cy="0"/>
          </a:xfrm>
          <a:prstGeom prst="line">
            <a:avLst/>
          </a:prstGeom>
          <a:noFill/>
          <a:ln w="12700">
            <a:solidFill>
              <a:srgbClr val="7C3AED"/>
            </a:solidFill>
            <a:prstDash val="solid"/>
          </a:ln>
        </p:spPr>
      </p:sp>
      <p:sp>
        <p:nvSpPr>
          <p:cNvPr id="63" name="Shape 60"/>
          <p:cNvSpPr/>
          <p:nvPr/>
        </p:nvSpPr>
        <p:spPr>
          <a:xfrm>
            <a:off x="6903720" y="4114800"/>
            <a:ext cx="0" cy="146304"/>
          </a:xfrm>
          <a:prstGeom prst="line">
            <a:avLst/>
          </a:prstGeom>
          <a:noFill/>
          <a:ln w="12700">
            <a:solidFill>
              <a:srgbClr val="7C3AED"/>
            </a:solidFill>
            <a:prstDash val="solid"/>
            <a:tailEnd type="triangle"/>
          </a:ln>
        </p:spPr>
      </p:sp>
      <p:sp>
        <p:nvSpPr>
          <p:cNvPr id="64" name="Shape 61"/>
          <p:cNvSpPr/>
          <p:nvPr/>
        </p:nvSpPr>
        <p:spPr>
          <a:xfrm>
            <a:off x="7360920" y="4535424"/>
            <a:ext cx="228600" cy="0"/>
          </a:xfrm>
          <a:prstGeom prst="line">
            <a:avLst/>
          </a:prstGeom>
          <a:noFill/>
          <a:ln w="12700">
            <a:solidFill>
              <a:srgbClr val="7C3AED"/>
            </a:solidFill>
            <a:prstDash val="solid"/>
            <a:tailEnd type="triangle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66760" y="4846320"/>
            <a:ext cx="36576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A0A8B5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411480" y="621792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200" kern="0" dirty="0">
                <a:solidFill>
                  <a:srgbClr val="2563EB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-120"/>
              </a:rPr>
              <a:t>06 / ARCHITECTURE DIAGRAM OF THE PROPOSED SOLUTION (2 OF 2)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82296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0B1220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The investigation is a pipeline, not a prompt</a:t>
            </a:r>
            <a:endParaRPr lang="en-US" sz="2500" dirty="0"/>
          </a:p>
        </p:txBody>
      </p:sp>
      <p:sp>
        <p:nvSpPr>
          <p:cNvPr id="5" name="Shape 2"/>
          <p:cNvSpPr/>
          <p:nvPr/>
        </p:nvSpPr>
        <p:spPr>
          <a:xfrm>
            <a:off x="411480" y="1389888"/>
            <a:ext cx="1188720" cy="932688"/>
          </a:xfrm>
          <a:prstGeom prst="roundRect">
            <a:avLst>
              <a:gd name="adj" fmla="val 4902"/>
            </a:avLst>
          </a:prstGeom>
          <a:solidFill>
            <a:srgbClr val="FEF3E2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502920" y="1444752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50" kern="0" dirty="0">
                <a:solidFill>
                  <a:srgbClr val="D97706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-120"/>
              </a:rPr>
              <a:t>TRIGGER</a:t>
            </a:r>
            <a:endParaRPr lang="en-US" sz="750" dirty="0"/>
          </a:p>
        </p:txBody>
      </p:sp>
      <p:sp>
        <p:nvSpPr>
          <p:cNvPr id="7" name="Text 4"/>
          <p:cNvSpPr txBox="1"/>
          <p:nvPr/>
        </p:nvSpPr>
        <p:spPr>
          <a:xfrm>
            <a:off x="502920" y="1645920"/>
            <a:ext cx="10241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20" dirty="0">
                <a:solidFill>
                  <a:srgbClr val="0B122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An incident opens or escalates. One run per incident at a time.</a:t>
            </a:r>
            <a:endParaRPr lang="en-US" sz="820" dirty="0"/>
          </a:p>
        </p:txBody>
      </p:sp>
      <p:sp>
        <p:nvSpPr>
          <p:cNvPr id="8" name="Shape 5"/>
          <p:cNvSpPr/>
          <p:nvPr/>
        </p:nvSpPr>
        <p:spPr>
          <a:xfrm>
            <a:off x="1600200" y="1856232"/>
            <a:ext cx="182880" cy="0"/>
          </a:xfrm>
          <a:prstGeom prst="line">
            <a:avLst/>
          </a:prstGeom>
          <a:noFill/>
          <a:ln w="12700">
            <a:solidFill>
              <a:srgbClr val="3A4556"/>
            </a:solidFill>
            <a:prstDash val="solid"/>
            <a:tailEnd type="triangle"/>
          </a:ln>
        </p:spPr>
      </p:sp>
      <p:sp>
        <p:nvSpPr>
          <p:cNvPr id="9" name="Shape 6"/>
          <p:cNvSpPr/>
          <p:nvPr/>
        </p:nvSpPr>
        <p:spPr>
          <a:xfrm>
            <a:off x="1783080" y="1389888"/>
            <a:ext cx="6949440" cy="2212848"/>
          </a:xfrm>
          <a:prstGeom prst="roundRect">
            <a:avLst>
              <a:gd name="adj" fmla="val 2066"/>
            </a:avLst>
          </a:prstGeom>
          <a:solidFill>
            <a:srgbClr val="FBF9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892808" y="1426464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C3AED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-120"/>
              </a:rPr>
              <a:t>SequentialAgent  batchguard_investigation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1874520" y="1664208"/>
            <a:ext cx="2011680" cy="1847088"/>
          </a:xfrm>
          <a:prstGeom prst="roundRect">
            <a:avLst>
              <a:gd name="adj" fmla="val 1980"/>
            </a:avLst>
          </a:prstGeom>
          <a:solidFill>
            <a:srgbClr val="FFFFFF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1947672" y="169164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0E7490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-120"/>
              </a:rPr>
              <a:t>ParallelAgent  gather</a:t>
            </a:r>
            <a:endParaRPr lang="en-US" sz="680" dirty="0"/>
          </a:p>
        </p:txBody>
      </p:sp>
      <p:sp>
        <p:nvSpPr>
          <p:cNvPr id="13" name="Shape 10"/>
          <p:cNvSpPr/>
          <p:nvPr/>
        </p:nvSpPr>
        <p:spPr>
          <a:xfrm>
            <a:off x="1929384" y="1901952"/>
            <a:ext cx="1901952" cy="896112"/>
          </a:xfrm>
          <a:prstGeom prst="roundRect">
            <a:avLst>
              <a:gd name="adj" fmla="val 4082"/>
            </a:avLst>
          </a:prstGeom>
          <a:solidFill>
            <a:srgbClr val="F4F6FA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1984248" y="1947672"/>
            <a:ext cx="181051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30" dirty="0">
                <a:solidFill>
                  <a:srgbClr val="0E7490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-120"/>
              </a:rPr>
              <a:t>context_builder</a:t>
            </a:r>
            <a:endParaRPr lang="en-US" sz="630" dirty="0"/>
          </a:p>
        </p:txBody>
      </p:sp>
      <p:sp>
        <p:nvSpPr>
          <p:cNvPr id="15" name="Shape 12"/>
          <p:cNvSpPr/>
          <p:nvPr/>
        </p:nvSpPr>
        <p:spPr>
          <a:xfrm>
            <a:off x="3374136" y="1947672"/>
            <a:ext cx="384048" cy="1371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E7490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3374136" y="1947672"/>
            <a:ext cx="384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spc="80" kern="0" dirty="0">
                <a:solidFill>
                  <a:srgbClr val="0E7490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-120"/>
              </a:rPr>
              <a:t>FLASH</a:t>
            </a:r>
            <a:endParaRPr lang="en-US" sz="550" dirty="0"/>
          </a:p>
        </p:txBody>
      </p:sp>
      <p:sp>
        <p:nvSpPr>
          <p:cNvPr id="17" name="Text 14"/>
          <p:cNvSpPr txBox="1"/>
          <p:nvPr/>
        </p:nvSpPr>
        <p:spPr>
          <a:xfrm>
            <a:off x="1984248" y="2139696"/>
            <a:ext cx="1810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60" dirty="0">
                <a:solidFill>
                  <a:srgbClr val="0B122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Readings for every parameter, baselines, events, neighbours and past incidents, as a factual summary.</a:t>
            </a:r>
            <a:endParaRPr lang="en-US" sz="760" dirty="0"/>
          </a:p>
        </p:txBody>
      </p:sp>
      <p:sp>
        <p:nvSpPr>
          <p:cNvPr id="18" name="Text 15"/>
          <p:cNvSpPr txBox="1"/>
          <p:nvPr/>
        </p:nvSpPr>
        <p:spPr>
          <a:xfrm>
            <a:off x="1984248" y="2542032"/>
            <a:ext cx="1810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580" dirty="0">
                <a:solidFill>
                  <a:srgbClr val="0E749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get_readings  get_baseline  get_events</a:t>
            </a:r>
            <a:endParaRPr lang="en-US" sz="580" dirty="0"/>
          </a:p>
          <a:p>
            <a:pPr indent="0" marL="0">
              <a:buNone/>
            </a:pPr>
            <a:r>
              <a:rPr lang="en-US" sz="580" dirty="0">
                <a:solidFill>
                  <a:srgbClr val="0E749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get_line_neighbours  get_past_incidents</a:t>
            </a:r>
            <a:endParaRPr lang="en-US" sz="580" dirty="0"/>
          </a:p>
        </p:txBody>
      </p:sp>
      <p:sp>
        <p:nvSpPr>
          <p:cNvPr id="19" name="Shape 16"/>
          <p:cNvSpPr/>
          <p:nvPr/>
        </p:nvSpPr>
        <p:spPr>
          <a:xfrm>
            <a:off x="1929384" y="2834640"/>
            <a:ext cx="1901952" cy="640080"/>
          </a:xfrm>
          <a:prstGeom prst="roundRect">
            <a:avLst>
              <a:gd name="adj" fmla="val 5714"/>
            </a:avLst>
          </a:prstGeom>
          <a:solidFill>
            <a:srgbClr val="F4F6FA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1984248" y="2880360"/>
            <a:ext cx="181051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30" dirty="0">
                <a:solidFill>
                  <a:srgbClr val="0E7490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-120"/>
              </a:rPr>
              <a:t>retriever</a:t>
            </a:r>
            <a:endParaRPr lang="en-US" sz="630" dirty="0"/>
          </a:p>
        </p:txBody>
      </p:sp>
      <p:sp>
        <p:nvSpPr>
          <p:cNvPr id="21" name="Shape 18"/>
          <p:cNvSpPr/>
          <p:nvPr/>
        </p:nvSpPr>
        <p:spPr>
          <a:xfrm>
            <a:off x="3374136" y="2880360"/>
            <a:ext cx="384048" cy="1371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E7490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3374136" y="2880360"/>
            <a:ext cx="384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spc="80" kern="0" dirty="0">
                <a:solidFill>
                  <a:srgbClr val="0E7490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-120"/>
              </a:rPr>
              <a:t>FLASH</a:t>
            </a:r>
            <a:endParaRPr lang="en-US" sz="550" dirty="0"/>
          </a:p>
        </p:txBody>
      </p:sp>
      <p:sp>
        <p:nvSpPr>
          <p:cNvPr id="23" name="Text 20"/>
          <p:cNvSpPr txBox="1"/>
          <p:nvPr/>
        </p:nvSpPr>
        <p:spPr>
          <a:xfrm>
            <a:off x="1984248" y="3072384"/>
            <a:ext cx="18105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60" dirty="0">
                <a:solidFill>
                  <a:srgbClr val="0B122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Up to three symptom queries. Manual passages, verbatim, with pages.</a:t>
            </a:r>
            <a:endParaRPr lang="en-US" sz="760" dirty="0"/>
          </a:p>
        </p:txBody>
      </p:sp>
      <p:sp>
        <p:nvSpPr>
          <p:cNvPr id="24" name="Text 21"/>
          <p:cNvSpPr txBox="1"/>
          <p:nvPr/>
        </p:nvSpPr>
        <p:spPr>
          <a:xfrm>
            <a:off x="1984248" y="3310128"/>
            <a:ext cx="18105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580" dirty="0">
                <a:solidFill>
                  <a:srgbClr val="0E749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get_manual_sections</a:t>
            </a:r>
            <a:endParaRPr lang="en-US" sz="580" dirty="0"/>
          </a:p>
        </p:txBody>
      </p:sp>
      <p:sp>
        <p:nvSpPr>
          <p:cNvPr id="25" name="Shape 22"/>
          <p:cNvSpPr/>
          <p:nvPr/>
        </p:nvSpPr>
        <p:spPr>
          <a:xfrm>
            <a:off x="4069080" y="1664208"/>
            <a:ext cx="1069848" cy="1847088"/>
          </a:xfrm>
          <a:prstGeom prst="roundRect">
            <a:avLst>
              <a:gd name="adj" fmla="val 3419"/>
            </a:avLst>
          </a:prstGeom>
          <a:solidFill>
            <a:srgbClr val="F4F6FA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4123944" y="1709928"/>
            <a:ext cx="97840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30" dirty="0">
                <a:solidFill>
                  <a:srgbClr val="7C3AED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-120"/>
              </a:rPr>
              <a:t>hypothesis_generator</a:t>
            </a:r>
            <a:endParaRPr lang="en-US" sz="630" dirty="0"/>
          </a:p>
        </p:txBody>
      </p:sp>
      <p:sp>
        <p:nvSpPr>
          <p:cNvPr id="27" name="Shape 24"/>
          <p:cNvSpPr/>
          <p:nvPr/>
        </p:nvSpPr>
        <p:spPr>
          <a:xfrm>
            <a:off x="4123944" y="1883664"/>
            <a:ext cx="384048" cy="1371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7C3AED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4123944" y="1883664"/>
            <a:ext cx="384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spc="80" kern="0" dirty="0">
                <a:solidFill>
                  <a:srgbClr val="7C3AED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-120"/>
              </a:rPr>
              <a:t>FLASH</a:t>
            </a:r>
            <a:endParaRPr lang="en-US" sz="550" dirty="0"/>
          </a:p>
        </p:txBody>
      </p:sp>
      <p:sp>
        <p:nvSpPr>
          <p:cNvPr id="29" name="Text 26"/>
          <p:cNvSpPr txBox="1"/>
          <p:nvPr/>
        </p:nvSpPr>
        <p:spPr>
          <a:xfrm>
            <a:off x="4123944" y="2066544"/>
            <a:ext cx="978408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60" dirty="0">
                <a:solidFill>
                  <a:srgbClr val="0B122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Three to five causes, each with what it explains and what it does not.</a:t>
            </a:r>
            <a:endParaRPr lang="en-US" sz="760" dirty="0"/>
          </a:p>
        </p:txBody>
      </p:sp>
      <p:sp>
        <p:nvSpPr>
          <p:cNvPr id="30" name="Shape 27"/>
          <p:cNvSpPr/>
          <p:nvPr/>
        </p:nvSpPr>
        <p:spPr>
          <a:xfrm>
            <a:off x="3904488" y="2587752"/>
            <a:ext cx="146304" cy="0"/>
          </a:xfrm>
          <a:prstGeom prst="line">
            <a:avLst/>
          </a:prstGeom>
          <a:noFill/>
          <a:ln w="12700">
            <a:solidFill>
              <a:srgbClr val="3A4556"/>
            </a:solidFill>
            <a:prstDash val="solid"/>
            <a:tailEnd type="triangle"/>
          </a:ln>
        </p:spPr>
      </p:sp>
      <p:sp>
        <p:nvSpPr>
          <p:cNvPr id="31" name="Shape 28"/>
          <p:cNvSpPr/>
          <p:nvPr/>
        </p:nvSpPr>
        <p:spPr>
          <a:xfrm>
            <a:off x="5230368" y="1664208"/>
            <a:ext cx="1069848" cy="1847088"/>
          </a:xfrm>
          <a:prstGeom prst="roundRect">
            <a:avLst>
              <a:gd name="adj" fmla="val 3419"/>
            </a:avLst>
          </a:prstGeom>
          <a:solidFill>
            <a:srgbClr val="F4F6FA"/>
          </a:solidFill>
          <a:ln/>
        </p:spPr>
      </p:sp>
      <p:sp>
        <p:nvSpPr>
          <p:cNvPr id="32" name="Text 29"/>
          <p:cNvSpPr txBox="1"/>
          <p:nvPr/>
        </p:nvSpPr>
        <p:spPr>
          <a:xfrm>
            <a:off x="5285232" y="1709928"/>
            <a:ext cx="97840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30" dirty="0">
                <a:solidFill>
                  <a:srgbClr val="7C3AED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-120"/>
              </a:rPr>
              <a:t>evaluator</a:t>
            </a:r>
            <a:endParaRPr lang="en-US" sz="630" dirty="0"/>
          </a:p>
        </p:txBody>
      </p:sp>
      <p:sp>
        <p:nvSpPr>
          <p:cNvPr id="33" name="Shape 30"/>
          <p:cNvSpPr/>
          <p:nvPr/>
        </p:nvSpPr>
        <p:spPr>
          <a:xfrm>
            <a:off x="5285232" y="1883664"/>
            <a:ext cx="384048" cy="1371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7C3AED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5285232" y="1883664"/>
            <a:ext cx="384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spc="80" kern="0" dirty="0">
                <a:solidFill>
                  <a:srgbClr val="7C3AED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-120"/>
              </a:rPr>
              <a:t>PRO</a:t>
            </a:r>
            <a:endParaRPr lang="en-US" sz="550" dirty="0"/>
          </a:p>
        </p:txBody>
      </p:sp>
      <p:sp>
        <p:nvSpPr>
          <p:cNvPr id="35" name="Text 32"/>
          <p:cNvSpPr txBox="1"/>
          <p:nvPr/>
        </p:nvSpPr>
        <p:spPr>
          <a:xfrm>
            <a:off x="5285232" y="2066544"/>
            <a:ext cx="978408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60" dirty="0">
                <a:solidFill>
                  <a:srgbClr val="0B122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Evidence for, against and missing per cause, a support label, a ranking.</a:t>
            </a:r>
            <a:endParaRPr lang="en-US" sz="760" dirty="0"/>
          </a:p>
        </p:txBody>
      </p:sp>
      <p:sp>
        <p:nvSpPr>
          <p:cNvPr id="36" name="Text 33"/>
          <p:cNvSpPr txBox="1"/>
          <p:nvPr/>
        </p:nvSpPr>
        <p:spPr>
          <a:xfrm>
            <a:off x="5285232" y="3255264"/>
            <a:ext cx="9784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580" dirty="0">
                <a:solidFill>
                  <a:srgbClr val="0E749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compute_correlation</a:t>
            </a:r>
            <a:endParaRPr lang="en-US" sz="580" dirty="0"/>
          </a:p>
          <a:p>
            <a:pPr indent="0" marL="0">
              <a:buNone/>
            </a:pPr>
            <a:r>
              <a:rPr lang="en-US" sz="580" dirty="0">
                <a:solidFill>
                  <a:srgbClr val="0E749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get_baseline  get_readings</a:t>
            </a:r>
            <a:endParaRPr lang="en-US" sz="580" dirty="0"/>
          </a:p>
        </p:txBody>
      </p:sp>
      <p:sp>
        <p:nvSpPr>
          <p:cNvPr id="37" name="Shape 34"/>
          <p:cNvSpPr/>
          <p:nvPr/>
        </p:nvSpPr>
        <p:spPr>
          <a:xfrm>
            <a:off x="5065776" y="2587752"/>
            <a:ext cx="146304" cy="0"/>
          </a:xfrm>
          <a:prstGeom prst="line">
            <a:avLst/>
          </a:prstGeom>
          <a:noFill/>
          <a:ln w="12700">
            <a:solidFill>
              <a:srgbClr val="3A4556"/>
            </a:solidFill>
            <a:prstDash val="solid"/>
            <a:tailEnd type="triangle"/>
          </a:ln>
        </p:spPr>
      </p:sp>
      <p:sp>
        <p:nvSpPr>
          <p:cNvPr id="38" name="Shape 35"/>
          <p:cNvSpPr/>
          <p:nvPr/>
        </p:nvSpPr>
        <p:spPr>
          <a:xfrm>
            <a:off x="6391656" y="1664208"/>
            <a:ext cx="1069848" cy="1847088"/>
          </a:xfrm>
          <a:prstGeom prst="roundRect">
            <a:avLst>
              <a:gd name="adj" fmla="val 3419"/>
            </a:avLst>
          </a:prstGeom>
          <a:solidFill>
            <a:srgbClr val="F4F6FA"/>
          </a:solidFill>
          <a:ln/>
        </p:spPr>
      </p:sp>
      <p:sp>
        <p:nvSpPr>
          <p:cNvPr id="39" name="Text 36"/>
          <p:cNvSpPr txBox="1"/>
          <p:nvPr/>
        </p:nvSpPr>
        <p:spPr>
          <a:xfrm>
            <a:off x="6446520" y="1709928"/>
            <a:ext cx="97840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30" dirty="0">
                <a:solidFill>
                  <a:srgbClr val="7C3AED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-120"/>
              </a:rPr>
              <a:t>recommender</a:t>
            </a:r>
            <a:endParaRPr lang="en-US" sz="630" dirty="0"/>
          </a:p>
        </p:txBody>
      </p:sp>
      <p:sp>
        <p:nvSpPr>
          <p:cNvPr id="40" name="Shape 37"/>
          <p:cNvSpPr/>
          <p:nvPr/>
        </p:nvSpPr>
        <p:spPr>
          <a:xfrm>
            <a:off x="6446520" y="1883664"/>
            <a:ext cx="384048" cy="1371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7C3AED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6446520" y="1883664"/>
            <a:ext cx="384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spc="80" kern="0" dirty="0">
                <a:solidFill>
                  <a:srgbClr val="7C3AED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-120"/>
              </a:rPr>
              <a:t>FLASH</a:t>
            </a:r>
            <a:endParaRPr lang="en-US" sz="550" dirty="0"/>
          </a:p>
        </p:txBody>
      </p:sp>
      <p:sp>
        <p:nvSpPr>
          <p:cNvPr id="42" name="Text 39"/>
          <p:cNvSpPr txBox="1"/>
          <p:nvPr/>
        </p:nvSpPr>
        <p:spPr>
          <a:xfrm>
            <a:off x="6446520" y="2066544"/>
            <a:ext cx="978408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60" dirty="0">
                <a:solidFill>
                  <a:srgbClr val="0B122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Checks in order, most telling first, each with a safety note and page.</a:t>
            </a:r>
            <a:endParaRPr lang="en-US" sz="760" dirty="0"/>
          </a:p>
        </p:txBody>
      </p:sp>
      <p:sp>
        <p:nvSpPr>
          <p:cNvPr id="43" name="Shape 40"/>
          <p:cNvSpPr/>
          <p:nvPr/>
        </p:nvSpPr>
        <p:spPr>
          <a:xfrm>
            <a:off x="6227064" y="2587752"/>
            <a:ext cx="146304" cy="0"/>
          </a:xfrm>
          <a:prstGeom prst="line">
            <a:avLst/>
          </a:prstGeom>
          <a:noFill/>
          <a:ln w="12700">
            <a:solidFill>
              <a:srgbClr val="3A4556"/>
            </a:solidFill>
            <a:prstDash val="solid"/>
            <a:tailEnd type="triangle"/>
          </a:ln>
        </p:spPr>
      </p:sp>
      <p:sp>
        <p:nvSpPr>
          <p:cNvPr id="44" name="Shape 41"/>
          <p:cNvSpPr/>
          <p:nvPr/>
        </p:nvSpPr>
        <p:spPr>
          <a:xfrm>
            <a:off x="7552944" y="1664208"/>
            <a:ext cx="1069848" cy="1847088"/>
          </a:xfrm>
          <a:prstGeom prst="roundRect">
            <a:avLst>
              <a:gd name="adj" fmla="val 3419"/>
            </a:avLst>
          </a:prstGeom>
          <a:solidFill>
            <a:srgbClr val="F4F6FA"/>
          </a:solidFill>
          <a:ln/>
        </p:spPr>
      </p:sp>
      <p:sp>
        <p:nvSpPr>
          <p:cNvPr id="45" name="Text 42"/>
          <p:cNvSpPr txBox="1"/>
          <p:nvPr/>
        </p:nvSpPr>
        <p:spPr>
          <a:xfrm>
            <a:off x="7607808" y="1709928"/>
            <a:ext cx="97840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30" dirty="0">
                <a:solidFill>
                  <a:srgbClr val="7C3AED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-120"/>
              </a:rPr>
              <a:t>reporter</a:t>
            </a:r>
            <a:endParaRPr lang="en-US" sz="630" dirty="0"/>
          </a:p>
        </p:txBody>
      </p:sp>
      <p:sp>
        <p:nvSpPr>
          <p:cNvPr id="46" name="Shape 43"/>
          <p:cNvSpPr/>
          <p:nvPr/>
        </p:nvSpPr>
        <p:spPr>
          <a:xfrm>
            <a:off x="7607808" y="1883664"/>
            <a:ext cx="384048" cy="1371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7C3AED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7607808" y="1883664"/>
            <a:ext cx="384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spc="80" kern="0" dirty="0">
                <a:solidFill>
                  <a:srgbClr val="7C3AED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-120"/>
              </a:rPr>
              <a:t>FLASH</a:t>
            </a:r>
            <a:endParaRPr lang="en-US" sz="550" dirty="0"/>
          </a:p>
        </p:txBody>
      </p:sp>
      <p:sp>
        <p:nvSpPr>
          <p:cNvPr id="48" name="Text 45"/>
          <p:cNvSpPr txBox="1"/>
          <p:nvPr/>
        </p:nvSpPr>
        <p:spPr>
          <a:xfrm>
            <a:off x="7607808" y="2066544"/>
            <a:ext cx="978408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60" dirty="0">
                <a:solidFill>
                  <a:srgbClr val="0B122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 schema-checked IncidentReport and a call script under 20 seconds.</a:t>
            </a:r>
            <a:endParaRPr lang="en-US" sz="760" dirty="0"/>
          </a:p>
        </p:txBody>
      </p:sp>
      <p:sp>
        <p:nvSpPr>
          <p:cNvPr id="49" name="Text 46"/>
          <p:cNvSpPr txBox="1"/>
          <p:nvPr/>
        </p:nvSpPr>
        <p:spPr>
          <a:xfrm>
            <a:off x="7607808" y="3255264"/>
            <a:ext cx="9784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580" dirty="0">
                <a:solidFill>
                  <a:srgbClr val="0E749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output_schema=</a:t>
            </a:r>
            <a:endParaRPr lang="en-US" sz="580" dirty="0"/>
          </a:p>
          <a:p>
            <a:pPr indent="0" marL="0">
              <a:buNone/>
            </a:pPr>
            <a:r>
              <a:rPr lang="en-US" sz="580" dirty="0">
                <a:solidFill>
                  <a:srgbClr val="0E749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IncidentReport</a:t>
            </a:r>
            <a:endParaRPr lang="en-US" sz="580" dirty="0"/>
          </a:p>
        </p:txBody>
      </p:sp>
      <p:sp>
        <p:nvSpPr>
          <p:cNvPr id="50" name="Shape 47"/>
          <p:cNvSpPr/>
          <p:nvPr/>
        </p:nvSpPr>
        <p:spPr>
          <a:xfrm>
            <a:off x="7388352" y="2587752"/>
            <a:ext cx="146304" cy="0"/>
          </a:xfrm>
          <a:prstGeom prst="line">
            <a:avLst/>
          </a:prstGeom>
          <a:noFill/>
          <a:ln w="12700">
            <a:solidFill>
              <a:srgbClr val="3A4556"/>
            </a:solidFill>
            <a:prstDash val="solid"/>
            <a:tailEnd type="triangle"/>
          </a:ln>
        </p:spPr>
      </p:sp>
      <p:sp>
        <p:nvSpPr>
          <p:cNvPr id="51" name="Text 48"/>
          <p:cNvSpPr txBox="1"/>
          <p:nvPr/>
        </p:nvSpPr>
        <p:spPr>
          <a:xfrm>
            <a:off x="1874520" y="3630168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20" i="1" dirty="0">
                <a:solidFill>
                  <a:srgbClr val="7C3AE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Every stage: numbers only from tools, cite manual pages, support is a label not a probability, and no stage can change a machine.</a:t>
            </a:r>
            <a:endParaRPr lang="en-US" sz="720" dirty="0"/>
          </a:p>
        </p:txBody>
      </p:sp>
      <p:sp>
        <p:nvSpPr>
          <p:cNvPr id="52" name="Shape 49"/>
          <p:cNvSpPr/>
          <p:nvPr/>
        </p:nvSpPr>
        <p:spPr>
          <a:xfrm>
            <a:off x="411480" y="4041648"/>
            <a:ext cx="91440" cy="9144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53" name="Text 50"/>
          <p:cNvSpPr txBox="1"/>
          <p:nvPr/>
        </p:nvSpPr>
        <p:spPr>
          <a:xfrm>
            <a:off x="576072" y="395935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B1220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Number guardrail</a:t>
            </a:r>
            <a:endParaRPr lang="en-US" sz="1250" dirty="0"/>
          </a:p>
        </p:txBody>
      </p:sp>
      <p:sp>
        <p:nvSpPr>
          <p:cNvPr id="54" name="Text 51"/>
          <p:cNvSpPr txBox="1"/>
          <p:nvPr/>
        </p:nvSpPr>
        <p:spPr>
          <a:xfrm>
            <a:off x="411480" y="4242816"/>
            <a:ext cx="18516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80" dirty="0">
                <a:solidFill>
                  <a:srgbClr val="3A455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Each number is matched against recent readings, limits, manual pages and neighbour values within 0.5 %. Anything else becomes [unverified].</a:t>
            </a:r>
            <a:endParaRPr lang="en-US" sz="780" dirty="0"/>
          </a:p>
        </p:txBody>
      </p:sp>
      <p:sp>
        <p:nvSpPr>
          <p:cNvPr id="55" name="Shape 52"/>
          <p:cNvSpPr/>
          <p:nvPr/>
        </p:nvSpPr>
        <p:spPr>
          <a:xfrm>
            <a:off x="2491740" y="3977640"/>
            <a:ext cx="0" cy="841248"/>
          </a:xfrm>
          <a:prstGeom prst="line">
            <a:avLst/>
          </a:prstGeom>
          <a:noFill/>
          <a:ln w="9525">
            <a:solidFill>
              <a:srgbClr val="E3E7EE"/>
            </a:solidFill>
            <a:prstDash val="solid"/>
          </a:ln>
        </p:spPr>
      </p:sp>
      <p:sp>
        <p:nvSpPr>
          <p:cNvPr id="56" name="Shape 53"/>
          <p:cNvSpPr/>
          <p:nvPr/>
        </p:nvSpPr>
        <p:spPr>
          <a:xfrm>
            <a:off x="2628900" y="4041648"/>
            <a:ext cx="91440" cy="91440"/>
          </a:xfrm>
          <a:prstGeom prst="ellipse">
            <a:avLst/>
          </a:prstGeom>
          <a:solidFill>
            <a:srgbClr val="0E7490"/>
          </a:solidFill>
          <a:ln/>
        </p:spPr>
      </p:sp>
      <p:sp>
        <p:nvSpPr>
          <p:cNvPr id="57" name="Text 54"/>
          <p:cNvSpPr txBox="1"/>
          <p:nvPr/>
        </p:nvSpPr>
        <p:spPr>
          <a:xfrm>
            <a:off x="2793492" y="395935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B1220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Store and broadcast</a:t>
            </a:r>
            <a:endParaRPr lang="en-US" sz="1250" dirty="0"/>
          </a:p>
        </p:txBody>
      </p:sp>
      <p:sp>
        <p:nvSpPr>
          <p:cNvPr id="58" name="Text 55"/>
          <p:cNvSpPr txBox="1"/>
          <p:nvPr/>
        </p:nvSpPr>
        <p:spPr>
          <a:xfrm>
            <a:off x="2628900" y="4242816"/>
            <a:ext cx="18516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80" dirty="0">
                <a:solidFill>
                  <a:srgbClr val="3A455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The report is saved, pushed live to every dashboard and mirrored to Firestore. The tool trace is kept per run.</a:t>
            </a:r>
            <a:endParaRPr lang="en-US" sz="780" dirty="0"/>
          </a:p>
        </p:txBody>
      </p:sp>
      <p:sp>
        <p:nvSpPr>
          <p:cNvPr id="59" name="Shape 56"/>
          <p:cNvSpPr/>
          <p:nvPr/>
        </p:nvSpPr>
        <p:spPr>
          <a:xfrm>
            <a:off x="4572000" y="3977640"/>
            <a:ext cx="0" cy="841248"/>
          </a:xfrm>
          <a:prstGeom prst="line">
            <a:avLst/>
          </a:prstGeom>
          <a:noFill/>
          <a:ln w="9525">
            <a:solidFill>
              <a:srgbClr val="E3E7EE"/>
            </a:solidFill>
            <a:prstDash val="solid"/>
          </a:ln>
        </p:spPr>
      </p:sp>
      <p:sp>
        <p:nvSpPr>
          <p:cNvPr id="60" name="Shape 57"/>
          <p:cNvSpPr/>
          <p:nvPr/>
        </p:nvSpPr>
        <p:spPr>
          <a:xfrm>
            <a:off x="4709160" y="4041648"/>
            <a:ext cx="91440" cy="9144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61" name="Text 58"/>
          <p:cNvSpPr txBox="1"/>
          <p:nvPr/>
        </p:nvSpPr>
        <p:spPr>
          <a:xfrm>
            <a:off x="4873752" y="395935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B1220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Notify</a:t>
            </a:r>
            <a:endParaRPr lang="en-US" sz="1250" dirty="0"/>
          </a:p>
        </p:txBody>
      </p:sp>
      <p:sp>
        <p:nvSpPr>
          <p:cNvPr id="62" name="Text 59"/>
          <p:cNvSpPr txBox="1"/>
          <p:nvPr/>
        </p:nvSpPr>
        <p:spPr>
          <a:xfrm>
            <a:off x="4709160" y="4242816"/>
            <a:ext cx="18516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80" dirty="0">
                <a:solidFill>
                  <a:srgbClr val="3A455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 report-ready email goes out. The call script and first check fill the phone call.</a:t>
            </a:r>
            <a:endParaRPr lang="en-US" sz="780" dirty="0"/>
          </a:p>
        </p:txBody>
      </p:sp>
      <p:sp>
        <p:nvSpPr>
          <p:cNvPr id="63" name="Shape 60"/>
          <p:cNvSpPr/>
          <p:nvPr/>
        </p:nvSpPr>
        <p:spPr>
          <a:xfrm>
            <a:off x="6652260" y="3977640"/>
            <a:ext cx="0" cy="841248"/>
          </a:xfrm>
          <a:prstGeom prst="line">
            <a:avLst/>
          </a:prstGeom>
          <a:noFill/>
          <a:ln w="9525">
            <a:solidFill>
              <a:srgbClr val="E3E7EE"/>
            </a:solidFill>
            <a:prstDash val="solid"/>
          </a:ln>
        </p:spPr>
      </p:sp>
      <p:sp>
        <p:nvSpPr>
          <p:cNvPr id="64" name="Shape 61"/>
          <p:cNvSpPr/>
          <p:nvPr/>
        </p:nvSpPr>
        <p:spPr>
          <a:xfrm>
            <a:off x="6789420" y="4041648"/>
            <a:ext cx="91440" cy="91440"/>
          </a:xfrm>
          <a:prstGeom prst="ellipse">
            <a:avLst/>
          </a:prstGeom>
          <a:solidFill>
            <a:srgbClr val="3A4556"/>
          </a:solidFill>
          <a:ln/>
        </p:spPr>
      </p:sp>
      <p:sp>
        <p:nvSpPr>
          <p:cNvPr id="65" name="Text 62"/>
          <p:cNvSpPr txBox="1"/>
          <p:nvPr/>
        </p:nvSpPr>
        <p:spPr>
          <a:xfrm>
            <a:off x="6954012" y="395935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B1220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Fallback</a:t>
            </a:r>
            <a:endParaRPr lang="en-US" sz="1250" dirty="0"/>
          </a:p>
        </p:txBody>
      </p:sp>
      <p:sp>
        <p:nvSpPr>
          <p:cNvPr id="66" name="Text 63"/>
          <p:cNvSpPr txBox="1"/>
          <p:nvPr/>
        </p:nvSpPr>
        <p:spPr>
          <a:xfrm>
            <a:off x="6789420" y="4242816"/>
            <a:ext cx="18516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80" dirty="0">
                <a:solidFill>
                  <a:srgbClr val="3A455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If Gemini fails twice, a rule-based investigator uses the same tools and a fault-signature library.</a:t>
            </a:r>
            <a:endParaRPr lang="en-US" sz="780" dirty="0"/>
          </a:p>
        </p:txBody>
      </p:sp>
      <p:sp>
        <p:nvSpPr>
          <p:cNvPr id="67" name="Shape 64"/>
          <p:cNvSpPr/>
          <p:nvPr/>
        </p:nvSpPr>
        <p:spPr>
          <a:xfrm>
            <a:off x="8458200" y="3602736"/>
            <a:ext cx="0" cy="219456"/>
          </a:xfrm>
          <a:prstGeom prst="line">
            <a:avLst/>
          </a:prstGeom>
          <a:noFill/>
          <a:ln w="12700">
            <a:solidFill>
              <a:srgbClr val="3A4556"/>
            </a:solidFill>
            <a:prstDash val="solid"/>
          </a:ln>
        </p:spPr>
      </p:sp>
      <p:sp>
        <p:nvSpPr>
          <p:cNvPr id="68" name="Shape 65"/>
          <p:cNvSpPr/>
          <p:nvPr/>
        </p:nvSpPr>
        <p:spPr>
          <a:xfrm flipH="1">
            <a:off x="457200" y="3822192"/>
            <a:ext cx="8001000" cy="0"/>
          </a:xfrm>
          <a:prstGeom prst="line">
            <a:avLst/>
          </a:prstGeom>
          <a:noFill/>
          <a:ln w="12700">
            <a:solidFill>
              <a:srgbClr val="3A4556"/>
            </a:solidFill>
            <a:prstDash val="solid"/>
          </a:ln>
        </p:spPr>
      </p:sp>
      <p:sp>
        <p:nvSpPr>
          <p:cNvPr id="69" name="Shape 66"/>
          <p:cNvSpPr/>
          <p:nvPr/>
        </p:nvSpPr>
        <p:spPr>
          <a:xfrm>
            <a:off x="457200" y="3822192"/>
            <a:ext cx="0" cy="164592"/>
          </a:xfrm>
          <a:prstGeom prst="line">
            <a:avLst/>
          </a:prstGeom>
          <a:noFill/>
          <a:ln w="12700">
            <a:solidFill>
              <a:srgbClr val="3A4556"/>
            </a:solidFill>
            <a:prstDash val="solid"/>
            <a:tailEnd type="triangle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66760" y="4846320"/>
            <a:ext cx="36576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A0A8B5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411480" y="621792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200" kern="0" dirty="0">
                <a:solidFill>
                  <a:srgbClr val="2563EB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-120"/>
              </a:rPr>
              <a:t>07 / TECHNOLOGIES TO BE USED IN THE SOLUTION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82296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0B1220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Built on the Google Cloud stack the brief asked for</a:t>
            </a:r>
            <a:endParaRPr lang="en-US" sz="2500" dirty="0"/>
          </a:p>
        </p:txBody>
      </p:sp>
      <p:sp>
        <p:nvSpPr>
          <p:cNvPr id="5" name="Shape 2"/>
          <p:cNvSpPr/>
          <p:nvPr/>
        </p:nvSpPr>
        <p:spPr>
          <a:xfrm>
            <a:off x="411480" y="1417320"/>
            <a:ext cx="5349240" cy="0"/>
          </a:xfrm>
          <a:prstGeom prst="line">
            <a:avLst/>
          </a:prstGeom>
          <a:noFill/>
          <a:ln w="9525">
            <a:solidFill>
              <a:srgbClr val="E3E7EE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508760"/>
            <a:ext cx="237744" cy="237744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758952" y="1435608"/>
            <a:ext cx="14630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220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Gemini on Vertex AI</a:t>
            </a:r>
            <a:endParaRPr lang="en-US" sz="1200" dirty="0"/>
          </a:p>
        </p:txBody>
      </p:sp>
      <p:sp>
        <p:nvSpPr>
          <p:cNvPr id="8" name="Shape 4"/>
          <p:cNvSpPr/>
          <p:nvPr/>
        </p:nvSpPr>
        <p:spPr>
          <a:xfrm>
            <a:off x="2240280" y="1591056"/>
            <a:ext cx="82296" cy="82296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2404872" y="1435608"/>
            <a:ext cx="334670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A455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2.5 Flash reads manuals, gathers evidence, chats, reads photos and call outcomes. 2.5 Pro weighs the hypotheses.</a:t>
            </a:r>
            <a:endParaRPr lang="en-US" sz="800" dirty="0"/>
          </a:p>
        </p:txBody>
      </p:sp>
      <p:sp>
        <p:nvSpPr>
          <p:cNvPr id="10" name="Shape 6"/>
          <p:cNvSpPr/>
          <p:nvPr/>
        </p:nvSpPr>
        <p:spPr>
          <a:xfrm>
            <a:off x="411480" y="1828800"/>
            <a:ext cx="5349240" cy="0"/>
          </a:xfrm>
          <a:prstGeom prst="line">
            <a:avLst/>
          </a:prstGeom>
          <a:noFill/>
          <a:ln w="9525">
            <a:solidFill>
              <a:srgbClr val="E3E7EE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920240"/>
            <a:ext cx="237744" cy="237744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758952" y="1847088"/>
            <a:ext cx="14630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220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Vertex AI</a:t>
            </a:r>
            <a:endParaRPr lang="en-US" sz="1200" dirty="0"/>
          </a:p>
        </p:txBody>
      </p:sp>
      <p:sp>
        <p:nvSpPr>
          <p:cNvPr id="13" name="Shape 8"/>
          <p:cNvSpPr/>
          <p:nvPr/>
        </p:nvSpPr>
        <p:spPr>
          <a:xfrm>
            <a:off x="2240280" y="2002536"/>
            <a:ext cx="82296" cy="82296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14" name="Text 9"/>
          <p:cNvSpPr txBox="1"/>
          <p:nvPr/>
        </p:nvSpPr>
        <p:spPr>
          <a:xfrm>
            <a:off x="2404872" y="1847088"/>
            <a:ext cx="334670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A455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Agent Development Kit runs the six-stage investigation. Gemini Live native audio powers the voice copilot.</a:t>
            </a:r>
            <a:endParaRPr lang="en-US" sz="800" dirty="0"/>
          </a:p>
        </p:txBody>
      </p:sp>
      <p:sp>
        <p:nvSpPr>
          <p:cNvPr id="15" name="Shape 10"/>
          <p:cNvSpPr/>
          <p:nvPr/>
        </p:nvSpPr>
        <p:spPr>
          <a:xfrm>
            <a:off x="411480" y="2240280"/>
            <a:ext cx="5349240" cy="0"/>
          </a:xfrm>
          <a:prstGeom prst="line">
            <a:avLst/>
          </a:prstGeom>
          <a:noFill/>
          <a:ln w="9525">
            <a:solidFill>
              <a:srgbClr val="E3E7EE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331720"/>
            <a:ext cx="237744" cy="237744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758952" y="2258568"/>
            <a:ext cx="14630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220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BigQuery</a:t>
            </a:r>
            <a:endParaRPr lang="en-US" sz="1200" dirty="0"/>
          </a:p>
        </p:txBody>
      </p:sp>
      <p:sp>
        <p:nvSpPr>
          <p:cNvPr id="18" name="Shape 12"/>
          <p:cNvSpPr/>
          <p:nvPr/>
        </p:nvSpPr>
        <p:spPr>
          <a:xfrm>
            <a:off x="2240280" y="2414016"/>
            <a:ext cx="82296" cy="82296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19" name="Text 13"/>
          <p:cNvSpPr txBox="1"/>
          <p:nvPr/>
        </p:nvSpPr>
        <p:spPr>
          <a:xfrm>
            <a:off x="2404872" y="2258568"/>
            <a:ext cx="334670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A455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Stores every reading through a Pub/Sub BigQuery subscription, for long-window history and analysis.</a:t>
            </a:r>
            <a:endParaRPr lang="en-US" sz="800" dirty="0"/>
          </a:p>
        </p:txBody>
      </p:sp>
      <p:sp>
        <p:nvSpPr>
          <p:cNvPr id="20" name="Shape 14"/>
          <p:cNvSpPr/>
          <p:nvPr/>
        </p:nvSpPr>
        <p:spPr>
          <a:xfrm>
            <a:off x="411480" y="2651760"/>
            <a:ext cx="5349240" cy="0"/>
          </a:xfrm>
          <a:prstGeom prst="line">
            <a:avLst/>
          </a:prstGeom>
          <a:noFill/>
          <a:ln w="9525">
            <a:solidFill>
              <a:srgbClr val="E3E7EE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2743200"/>
            <a:ext cx="237744" cy="237744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758952" y="2670048"/>
            <a:ext cx="14630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220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Cloud Storage</a:t>
            </a:r>
            <a:endParaRPr lang="en-US" sz="1200" dirty="0"/>
          </a:p>
        </p:txBody>
      </p:sp>
      <p:sp>
        <p:nvSpPr>
          <p:cNvPr id="23" name="Shape 16"/>
          <p:cNvSpPr/>
          <p:nvPr/>
        </p:nvSpPr>
        <p:spPr>
          <a:xfrm>
            <a:off x="2240280" y="2825496"/>
            <a:ext cx="82296" cy="82296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24" name="Text 17"/>
          <p:cNvSpPr txBox="1"/>
          <p:nvPr/>
        </p:nvSpPr>
        <p:spPr>
          <a:xfrm>
            <a:off x="2404872" y="2670048"/>
            <a:ext cx="334670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A455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Keeps uploaded manuals and datasheets, and technicians' photo evidence.</a:t>
            </a:r>
            <a:endParaRPr lang="en-US" sz="800" dirty="0"/>
          </a:p>
        </p:txBody>
      </p:sp>
      <p:sp>
        <p:nvSpPr>
          <p:cNvPr id="25" name="Shape 18"/>
          <p:cNvSpPr/>
          <p:nvPr/>
        </p:nvSpPr>
        <p:spPr>
          <a:xfrm>
            <a:off x="411480" y="3063240"/>
            <a:ext cx="5349240" cy="0"/>
          </a:xfrm>
          <a:prstGeom prst="line">
            <a:avLst/>
          </a:prstGeom>
          <a:noFill/>
          <a:ln w="9525">
            <a:solidFill>
              <a:srgbClr val="E3E7EE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480" y="3154680"/>
            <a:ext cx="237744" cy="237744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758952" y="3081528"/>
            <a:ext cx="14630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220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Vision and image analysis</a:t>
            </a:r>
            <a:endParaRPr lang="en-US" sz="1200" dirty="0"/>
          </a:p>
        </p:txBody>
      </p:sp>
      <p:sp>
        <p:nvSpPr>
          <p:cNvPr id="28" name="Shape 20"/>
          <p:cNvSpPr/>
          <p:nvPr/>
        </p:nvSpPr>
        <p:spPr>
          <a:xfrm>
            <a:off x="2240280" y="3236976"/>
            <a:ext cx="82296" cy="82296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29" name="Text 21"/>
          <p:cNvSpPr txBox="1"/>
          <p:nvPr/>
        </p:nvSpPr>
        <p:spPr>
          <a:xfrm>
            <a:off x="2404872" y="3081528"/>
            <a:ext cx="334670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A455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Gemini multimodal reads scanned manuals and photos against the ranked causes.</a:t>
            </a:r>
            <a:endParaRPr lang="en-US" sz="800" dirty="0"/>
          </a:p>
        </p:txBody>
      </p:sp>
      <p:sp>
        <p:nvSpPr>
          <p:cNvPr id="30" name="Shape 22"/>
          <p:cNvSpPr/>
          <p:nvPr/>
        </p:nvSpPr>
        <p:spPr>
          <a:xfrm>
            <a:off x="411480" y="3474720"/>
            <a:ext cx="5349240" cy="0"/>
          </a:xfrm>
          <a:prstGeom prst="line">
            <a:avLst/>
          </a:prstGeom>
          <a:noFill/>
          <a:ln w="9525">
            <a:solidFill>
              <a:srgbClr val="E3E7EE"/>
            </a:solidFill>
            <a:prstDash val="solid"/>
          </a:ln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1480" y="3566160"/>
            <a:ext cx="237744" cy="237744"/>
          </a:xfrm>
          <a:prstGeom prst="rect">
            <a:avLst/>
          </a:prstGeom>
        </p:spPr>
      </p:pic>
      <p:sp>
        <p:nvSpPr>
          <p:cNvPr id="32" name="Text 23"/>
          <p:cNvSpPr txBox="1"/>
          <p:nvPr/>
        </p:nvSpPr>
        <p:spPr>
          <a:xfrm>
            <a:off x="758952" y="3493008"/>
            <a:ext cx="14630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220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Pub/Sub</a:t>
            </a:r>
            <a:endParaRPr lang="en-US" sz="1200" dirty="0"/>
          </a:p>
        </p:txBody>
      </p:sp>
      <p:sp>
        <p:nvSpPr>
          <p:cNvPr id="33" name="Shape 24"/>
          <p:cNvSpPr/>
          <p:nvPr/>
        </p:nvSpPr>
        <p:spPr>
          <a:xfrm>
            <a:off x="2240280" y="3648456"/>
            <a:ext cx="82296" cy="82296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34" name="Text 25"/>
          <p:cNvSpPr txBox="1"/>
          <p:nvPr/>
        </p:nvSpPr>
        <p:spPr>
          <a:xfrm>
            <a:off x="2404872" y="3493008"/>
            <a:ext cx="334670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A455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The telemetry topic carries every reading from ingest to the warehouse.</a:t>
            </a:r>
            <a:endParaRPr lang="en-US" sz="800" dirty="0"/>
          </a:p>
        </p:txBody>
      </p:sp>
      <p:sp>
        <p:nvSpPr>
          <p:cNvPr id="35" name="Shape 26"/>
          <p:cNvSpPr/>
          <p:nvPr/>
        </p:nvSpPr>
        <p:spPr>
          <a:xfrm>
            <a:off x="411480" y="3886200"/>
            <a:ext cx="5349240" cy="0"/>
          </a:xfrm>
          <a:prstGeom prst="line">
            <a:avLst/>
          </a:prstGeom>
          <a:noFill/>
          <a:ln w="9525">
            <a:solidFill>
              <a:srgbClr val="E3E7EE"/>
            </a:solidFill>
            <a:prstDash val="solid"/>
          </a:ln>
        </p:spPr>
      </p:sp>
      <p:pic>
        <p:nvPicPr>
          <p:cNvPr id="3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1480" y="3977640"/>
            <a:ext cx="237744" cy="237744"/>
          </a:xfrm>
          <a:prstGeom prst="rect">
            <a:avLst/>
          </a:prstGeom>
        </p:spPr>
      </p:pic>
      <p:sp>
        <p:nvSpPr>
          <p:cNvPr id="37" name="Text 27"/>
          <p:cNvSpPr txBox="1"/>
          <p:nvPr/>
        </p:nvSpPr>
        <p:spPr>
          <a:xfrm>
            <a:off x="758952" y="3904488"/>
            <a:ext cx="14630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220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Dataflow</a:t>
            </a:r>
            <a:endParaRPr lang="en-US" sz="1200" dirty="0"/>
          </a:p>
        </p:txBody>
      </p:sp>
      <p:sp>
        <p:nvSpPr>
          <p:cNvPr id="38" name="Shape 28"/>
          <p:cNvSpPr/>
          <p:nvPr/>
        </p:nvSpPr>
        <p:spPr>
          <a:xfrm>
            <a:off x="2240280" y="4059936"/>
            <a:ext cx="82296" cy="82296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39" name="Text 29"/>
          <p:cNvSpPr txBox="1"/>
          <p:nvPr/>
        </p:nvSpPr>
        <p:spPr>
          <a:xfrm>
            <a:off x="2404872" y="3904488"/>
            <a:ext cx="334670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A455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Next: windowed feature pipelines when a customer runs many sites.</a:t>
            </a:r>
            <a:endParaRPr lang="en-US" sz="800" dirty="0"/>
          </a:p>
        </p:txBody>
      </p:sp>
      <p:sp>
        <p:nvSpPr>
          <p:cNvPr id="40" name="Shape 30"/>
          <p:cNvSpPr/>
          <p:nvPr/>
        </p:nvSpPr>
        <p:spPr>
          <a:xfrm>
            <a:off x="411480" y="4297680"/>
            <a:ext cx="5349240" cy="0"/>
          </a:xfrm>
          <a:prstGeom prst="line">
            <a:avLst/>
          </a:prstGeom>
          <a:noFill/>
          <a:ln w="9525">
            <a:solidFill>
              <a:srgbClr val="E3E7EE"/>
            </a:solidFill>
            <a:prstDash val="solid"/>
          </a:ln>
        </p:spPr>
      </p:sp>
      <p:pic>
        <p:nvPicPr>
          <p:cNvPr id="4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1480" y="4389120"/>
            <a:ext cx="237744" cy="237744"/>
          </a:xfrm>
          <a:prstGeom prst="rect">
            <a:avLst/>
          </a:prstGeom>
        </p:spPr>
      </p:pic>
      <p:sp>
        <p:nvSpPr>
          <p:cNvPr id="42" name="Text 31"/>
          <p:cNvSpPr txBox="1"/>
          <p:nvPr/>
        </p:nvSpPr>
        <p:spPr>
          <a:xfrm>
            <a:off x="758952" y="4315968"/>
            <a:ext cx="14630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220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Cloud Run</a:t>
            </a:r>
            <a:endParaRPr lang="en-US" sz="1200" dirty="0"/>
          </a:p>
        </p:txBody>
      </p:sp>
      <p:sp>
        <p:nvSpPr>
          <p:cNvPr id="43" name="Shape 32"/>
          <p:cNvSpPr/>
          <p:nvPr/>
        </p:nvSpPr>
        <p:spPr>
          <a:xfrm>
            <a:off x="2240280" y="4471416"/>
            <a:ext cx="82296" cy="82296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44" name="Text 33"/>
          <p:cNvSpPr txBox="1"/>
          <p:nvPr/>
        </p:nvSpPr>
        <p:spPr>
          <a:xfrm>
            <a:off x="2404872" y="4315968"/>
            <a:ext cx="334670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A455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Runs the frontend (scales to zero) and the backend (always on), built by Cloud Build.</a:t>
            </a:r>
            <a:endParaRPr lang="en-US" sz="800" dirty="0"/>
          </a:p>
        </p:txBody>
      </p:sp>
      <p:sp>
        <p:nvSpPr>
          <p:cNvPr id="45" name="Shape 34"/>
          <p:cNvSpPr/>
          <p:nvPr/>
        </p:nvSpPr>
        <p:spPr>
          <a:xfrm>
            <a:off x="411480" y="4709160"/>
            <a:ext cx="5349240" cy="0"/>
          </a:xfrm>
          <a:prstGeom prst="line">
            <a:avLst/>
          </a:prstGeom>
          <a:noFill/>
          <a:ln w="9525">
            <a:solidFill>
              <a:srgbClr val="E3E7EE"/>
            </a:solidFill>
            <a:prstDash val="solid"/>
          </a:ln>
        </p:spPr>
      </p:sp>
      <p:sp>
        <p:nvSpPr>
          <p:cNvPr id="46" name="Text 35"/>
          <p:cNvSpPr txBox="1"/>
          <p:nvPr/>
        </p:nvSpPr>
        <p:spPr>
          <a:xfrm>
            <a:off x="411480" y="4754880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16A34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● </a:t>
            </a:r>
            <a:pPr indent="0" marL="0">
              <a:buNone/>
            </a:pPr>
            <a:r>
              <a:rPr lang="en-US" sz="750" dirty="0">
                <a:solidFill>
                  <a:srgbClr val="6B768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in the prototype    </a:t>
            </a:r>
            <a:pPr indent="0" marL="0">
              <a:buNone/>
            </a:pPr>
            <a:r>
              <a:rPr lang="en-US" sz="750" dirty="0">
                <a:solidFill>
                  <a:srgbClr val="D9770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● </a:t>
            </a:r>
            <a:pPr indent="0" marL="0">
              <a:buNone/>
            </a:pPr>
            <a:r>
              <a:rPr lang="en-US" sz="750" dirty="0">
                <a:solidFill>
                  <a:srgbClr val="6B768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planned</a:t>
            </a:r>
            <a:endParaRPr lang="en-US" sz="750" dirty="0"/>
          </a:p>
        </p:txBody>
      </p:sp>
      <p:sp>
        <p:nvSpPr>
          <p:cNvPr id="47" name="Shape 36"/>
          <p:cNvSpPr/>
          <p:nvPr/>
        </p:nvSpPr>
        <p:spPr>
          <a:xfrm>
            <a:off x="6035040" y="1417320"/>
            <a:ext cx="2697480" cy="1143000"/>
          </a:xfrm>
          <a:prstGeom prst="roundRect">
            <a:avLst>
              <a:gd name="adj" fmla="val 4800"/>
            </a:avLst>
          </a:prstGeom>
          <a:solidFill>
            <a:srgbClr val="0E1A36"/>
          </a:solidFill>
          <a:ln/>
        </p:spPr>
      </p:sp>
      <p:sp>
        <p:nvSpPr>
          <p:cNvPr id="48" name="Text 37"/>
          <p:cNvSpPr txBox="1"/>
          <p:nvPr/>
        </p:nvSpPr>
        <p:spPr>
          <a:xfrm>
            <a:off x="6172200" y="1481328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50" kern="0" dirty="0">
                <a:solidFill>
                  <a:srgbClr val="93C5FD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-120"/>
              </a:rPr>
              <a:t>ALSO ON GOOGLE CLOUD</a:t>
            </a:r>
            <a:endParaRPr lang="en-US" sz="750" dirty="0"/>
          </a:p>
        </p:txBody>
      </p:sp>
      <p:sp>
        <p:nvSpPr>
          <p:cNvPr id="49" name="Text 38"/>
          <p:cNvSpPr txBox="1"/>
          <p:nvPr/>
        </p:nvSpPr>
        <p:spPr>
          <a:xfrm>
            <a:off x="6172200" y="1700784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Firestore</a:t>
            </a:r>
            <a:endParaRPr lang="en-US" sz="8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Secret Manager</a:t>
            </a:r>
            <a:endParaRPr lang="en-US" sz="8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Cloud Logging</a:t>
            </a:r>
            <a:endParaRPr lang="en-US" sz="8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Cloud Build and Artifact Registry</a:t>
            </a:r>
            <a:endParaRPr lang="en-US" sz="8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Firebase Authentication</a:t>
            </a:r>
            <a:endParaRPr lang="en-US" sz="850" dirty="0"/>
          </a:p>
        </p:txBody>
      </p:sp>
      <p:sp>
        <p:nvSpPr>
          <p:cNvPr id="50" name="Text 39"/>
          <p:cNvSpPr txBox="1"/>
          <p:nvPr/>
        </p:nvSpPr>
        <p:spPr>
          <a:xfrm>
            <a:off x="6035040" y="2724912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50" kern="0" dirty="0">
                <a:solidFill>
                  <a:srgbClr val="2563EB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-120"/>
              </a:rPr>
              <a:t>APPLICATION STACK</a:t>
            </a:r>
            <a:endParaRPr lang="en-US" sz="750" dirty="0"/>
          </a:p>
        </p:txBody>
      </p:sp>
      <p:sp>
        <p:nvSpPr>
          <p:cNvPr id="51" name="Text 40"/>
          <p:cNvSpPr txBox="1"/>
          <p:nvPr/>
        </p:nvSpPr>
        <p:spPr>
          <a:xfrm>
            <a:off x="6035040" y="296265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B1220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Frontend</a:t>
            </a:r>
            <a:endParaRPr lang="en-US" sz="1100" dirty="0"/>
          </a:p>
        </p:txBody>
      </p:sp>
      <p:sp>
        <p:nvSpPr>
          <p:cNvPr id="52" name="Text 41"/>
          <p:cNvSpPr txBox="1"/>
          <p:nvPr/>
        </p:nvSpPr>
        <p:spPr>
          <a:xfrm>
            <a:off x="6035040" y="3154680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60" dirty="0">
                <a:solidFill>
                  <a:srgbClr val="3A455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Next.js 16, React 19, TypeScript, Tailwind v4, three.js and React Three Fiber, React Flow, Recharts</a:t>
            </a:r>
            <a:endParaRPr lang="en-US" sz="760" dirty="0"/>
          </a:p>
        </p:txBody>
      </p:sp>
      <p:sp>
        <p:nvSpPr>
          <p:cNvPr id="53" name="Text 42"/>
          <p:cNvSpPr txBox="1"/>
          <p:nvPr/>
        </p:nvSpPr>
        <p:spPr>
          <a:xfrm>
            <a:off x="6035040" y="343814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B1220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Backend</a:t>
            </a:r>
            <a:endParaRPr lang="en-US" sz="1100" dirty="0"/>
          </a:p>
        </p:txBody>
      </p:sp>
      <p:sp>
        <p:nvSpPr>
          <p:cNvPr id="54" name="Text 43"/>
          <p:cNvSpPr txBox="1"/>
          <p:nvPr/>
        </p:nvSpPr>
        <p:spPr>
          <a:xfrm>
            <a:off x="6035040" y="3630168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60" dirty="0">
                <a:solidFill>
                  <a:srgbClr val="3A455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Python 3.12, FastAPI, Pydantic, Google ADK, google-genai, NumPy</a:t>
            </a:r>
            <a:endParaRPr lang="en-US" sz="760" dirty="0"/>
          </a:p>
        </p:txBody>
      </p:sp>
      <p:sp>
        <p:nvSpPr>
          <p:cNvPr id="55" name="Text 44"/>
          <p:cNvSpPr txBox="1"/>
          <p:nvPr/>
        </p:nvSpPr>
        <p:spPr>
          <a:xfrm>
            <a:off x="6035040" y="391363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B1220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Voice and email</a:t>
            </a:r>
            <a:endParaRPr lang="en-US" sz="1100" dirty="0"/>
          </a:p>
        </p:txBody>
      </p:sp>
      <p:sp>
        <p:nvSpPr>
          <p:cNvPr id="56" name="Text 45"/>
          <p:cNvSpPr txBox="1"/>
          <p:nvPr/>
        </p:nvSpPr>
        <p:spPr>
          <a:xfrm>
            <a:off x="6035040" y="4105656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60" dirty="0">
                <a:solidFill>
                  <a:srgbClr val="3A455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Dograh, TeleCMI SIP, Resend</a:t>
            </a:r>
            <a:endParaRPr lang="en-US" sz="760" dirty="0"/>
          </a:p>
        </p:txBody>
      </p:sp>
      <p:pic>
        <p:nvPicPr>
          <p:cNvPr id="57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53328" y="4526280"/>
            <a:ext cx="219456" cy="219456"/>
          </a:xfrm>
          <a:prstGeom prst="rect">
            <a:avLst/>
          </a:prstGeom>
        </p:spPr>
      </p:pic>
      <p:pic>
        <p:nvPicPr>
          <p:cNvPr id="58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91656" y="4526280"/>
            <a:ext cx="219456" cy="219456"/>
          </a:xfrm>
          <a:prstGeom prst="rect">
            <a:avLst/>
          </a:prstGeom>
        </p:spPr>
      </p:pic>
      <p:pic>
        <p:nvPicPr>
          <p:cNvPr id="59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729984" y="4526280"/>
            <a:ext cx="219456" cy="219456"/>
          </a:xfrm>
          <a:prstGeom prst="rect">
            <a:avLst/>
          </a:prstGeom>
        </p:spPr>
      </p:pic>
      <p:pic>
        <p:nvPicPr>
          <p:cNvPr id="60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068312" y="4526280"/>
            <a:ext cx="219456" cy="219456"/>
          </a:xfrm>
          <a:prstGeom prst="rect">
            <a:avLst/>
          </a:prstGeom>
        </p:spPr>
      </p:pic>
      <p:pic>
        <p:nvPicPr>
          <p:cNvPr id="61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406640" y="4526280"/>
            <a:ext cx="219456" cy="219456"/>
          </a:xfrm>
          <a:prstGeom prst="rect">
            <a:avLst/>
          </a:prstGeom>
        </p:spPr>
      </p:pic>
      <p:pic>
        <p:nvPicPr>
          <p:cNvPr id="62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744968" y="4526280"/>
            <a:ext cx="219456" cy="219456"/>
          </a:xfrm>
          <a:prstGeom prst="rect">
            <a:avLst/>
          </a:prstGeom>
        </p:spPr>
      </p:pic>
      <p:pic>
        <p:nvPicPr>
          <p:cNvPr id="63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083296" y="4526280"/>
            <a:ext cx="219456" cy="219456"/>
          </a:xfrm>
          <a:prstGeom prst="rect">
            <a:avLst/>
          </a:prstGeom>
        </p:spPr>
      </p:pic>
      <p:pic>
        <p:nvPicPr>
          <p:cNvPr id="64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421624" y="4526280"/>
            <a:ext cx="219456" cy="21945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66760" y="4846320"/>
            <a:ext cx="36576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A0A8B5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411480" y="621792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200" kern="0" dirty="0">
                <a:solidFill>
                  <a:srgbClr val="2563EB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-120"/>
              </a:rPr>
              <a:t>08 / ESTIMATED IMPLEMENTATION COST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82296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0B1220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About $100 a month runs a plant. One hour of downtime costs more</a:t>
            </a:r>
            <a:endParaRPr lang="en-US" sz="2500" dirty="0"/>
          </a:p>
        </p:txBody>
      </p:sp>
      <p:sp>
        <p:nvSpPr>
          <p:cNvPr id="5" name="Text 2"/>
          <p:cNvSpPr txBox="1"/>
          <p:nvPr/>
        </p:nvSpPr>
        <p:spPr>
          <a:xfrm>
            <a:off x="411480" y="137160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2563EB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≈ $100</a:t>
            </a:r>
            <a:endParaRPr lang="en-US" sz="6400" dirty="0"/>
          </a:p>
        </p:txBody>
      </p:sp>
      <p:sp>
        <p:nvSpPr>
          <p:cNvPr id="6" name="Text 3"/>
          <p:cNvSpPr txBox="1"/>
          <p:nvPr/>
        </p:nvSpPr>
        <p:spPr>
          <a:xfrm>
            <a:off x="411480" y="22402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B1220"/>
                </a:solidFill>
                <a:latin typeface="Barlow SemiBold" pitchFamily="34" charset="0"/>
                <a:ea typeface="Barlow SemiBold" pitchFamily="34" charset="-122"/>
                <a:cs typeface="Barlow SemiBold" pitchFamily="34" charset="-120"/>
              </a:rPr>
              <a:t>per plant, per month, on Google Cloud list prices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411480" y="2615184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dirty="0">
                <a:solidFill>
                  <a:srgbClr val="3A455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Six machines, 21 parameters at 1 Hz (about 54 million readings), around 60 investigations, 40 call minutes and two hours of voice copilot.</a:t>
            </a:r>
            <a:endParaRPr lang="en-US" sz="860" dirty="0"/>
          </a:p>
        </p:txBody>
      </p:sp>
      <p:sp>
        <p:nvSpPr>
          <p:cNvPr id="8" name="Shape 5"/>
          <p:cNvSpPr/>
          <p:nvPr/>
        </p:nvSpPr>
        <p:spPr>
          <a:xfrm>
            <a:off x="411480" y="3429000"/>
            <a:ext cx="2743200" cy="0"/>
          </a:xfrm>
          <a:prstGeom prst="line">
            <a:avLst/>
          </a:prstGeom>
          <a:noFill/>
          <a:ln w="9525">
            <a:solidFill>
              <a:srgbClr val="E3E7EE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11480" y="3502152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A34A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≈ $15 to 25</a:t>
            </a:r>
            <a:endParaRPr lang="en-US" sz="1900" dirty="0"/>
          </a:p>
        </p:txBody>
      </p:sp>
      <p:sp>
        <p:nvSpPr>
          <p:cNvPr id="10" name="Text 7"/>
          <p:cNvSpPr txBox="1"/>
          <p:nvPr/>
        </p:nvSpPr>
        <p:spPr>
          <a:xfrm>
            <a:off x="1709928" y="3502152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3A455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for each additional plant. One backend serves many plants.</a:t>
            </a:r>
            <a:endParaRPr lang="en-US" sz="820" dirty="0"/>
          </a:p>
        </p:txBody>
      </p:sp>
      <p:sp>
        <p:nvSpPr>
          <p:cNvPr id="11" name="Shape 8"/>
          <p:cNvSpPr/>
          <p:nvPr/>
        </p:nvSpPr>
        <p:spPr>
          <a:xfrm>
            <a:off x="411480" y="4114800"/>
            <a:ext cx="2743200" cy="0"/>
          </a:xfrm>
          <a:prstGeom prst="line">
            <a:avLst/>
          </a:prstGeom>
          <a:noFill/>
          <a:ln w="9525">
            <a:solidFill>
              <a:srgbClr val="E3E7EE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11480" y="4187952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7C3AED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$0</a:t>
            </a:r>
            <a:endParaRPr lang="en-US" sz="1900" dirty="0"/>
          </a:p>
        </p:txBody>
      </p:sp>
      <p:sp>
        <p:nvSpPr>
          <p:cNvPr id="13" name="Text 10"/>
          <p:cNvSpPr txBox="1"/>
          <p:nvPr/>
        </p:nvSpPr>
        <p:spPr>
          <a:xfrm>
            <a:off x="1709928" y="4187952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3A455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on servers, SCADA or MES licences. Existing PLCs post over HTTPS.</a:t>
            </a:r>
            <a:endParaRPr lang="en-US" sz="820" dirty="0"/>
          </a:p>
        </p:txBody>
      </p:sp>
      <p:sp>
        <p:nvSpPr>
          <p:cNvPr id="14" name="Text 11"/>
          <p:cNvSpPr txBox="1"/>
          <p:nvPr/>
        </p:nvSpPr>
        <p:spPr>
          <a:xfrm>
            <a:off x="3520440" y="138988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50" kern="0" dirty="0">
                <a:solidFill>
                  <a:srgbClr val="2563EB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-120"/>
              </a:rPr>
              <a:t>MONTHLY BREAKDOWN, USD</a:t>
            </a:r>
            <a:endParaRPr lang="en-US" sz="750" dirty="0"/>
          </a:p>
        </p:txBody>
      </p:sp>
      <p:sp>
        <p:nvSpPr>
          <p:cNvPr id="15" name="Shape 12"/>
          <p:cNvSpPr/>
          <p:nvPr/>
        </p:nvSpPr>
        <p:spPr>
          <a:xfrm>
            <a:off x="3520440" y="1627632"/>
            <a:ext cx="5212080" cy="0"/>
          </a:xfrm>
          <a:prstGeom prst="line">
            <a:avLst/>
          </a:prstGeom>
          <a:noFill/>
          <a:ln w="9525">
            <a:solidFill>
              <a:srgbClr val="E3E7E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3520440" y="16276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0B1220"/>
                </a:solidFill>
                <a:latin typeface="Barlow SemiBold" pitchFamily="34" charset="0"/>
                <a:ea typeface="Barlow SemiBold" pitchFamily="34" charset="-122"/>
                <a:cs typeface="Barlow SemiBold" pitchFamily="34" charset="-120"/>
              </a:rPr>
              <a:t>Cloud Run backend</a:t>
            </a:r>
            <a:endParaRPr lang="en-US" sz="860" dirty="0"/>
          </a:p>
        </p:txBody>
      </p:sp>
      <p:sp>
        <p:nvSpPr>
          <p:cNvPr id="17" name="Text 14"/>
          <p:cNvSpPr txBox="1"/>
          <p:nvPr/>
        </p:nvSpPr>
        <p:spPr>
          <a:xfrm>
            <a:off x="5394960" y="1627632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3A455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1 vCPU, 1 GiB, always on, Singapore</a:t>
            </a:r>
            <a:endParaRPr lang="en-US" sz="780" dirty="0"/>
          </a:p>
        </p:txBody>
      </p:sp>
      <p:sp>
        <p:nvSpPr>
          <p:cNvPr id="18" name="Text 15"/>
          <p:cNvSpPr txBox="1"/>
          <p:nvPr/>
        </p:nvSpPr>
        <p:spPr>
          <a:xfrm>
            <a:off x="7863840" y="1627632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B1220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-120"/>
              </a:rPr>
              <a:t>50 – 70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3520440" y="1901952"/>
            <a:ext cx="5212080" cy="0"/>
          </a:xfrm>
          <a:prstGeom prst="line">
            <a:avLst/>
          </a:prstGeom>
          <a:noFill/>
          <a:ln w="9525">
            <a:solidFill>
              <a:srgbClr val="E3E7EE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3520440" y="1901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0B1220"/>
                </a:solidFill>
                <a:latin typeface="Barlow SemiBold" pitchFamily="34" charset="0"/>
                <a:ea typeface="Barlow SemiBold" pitchFamily="34" charset="-122"/>
                <a:cs typeface="Barlow SemiBold" pitchFamily="34" charset="-120"/>
              </a:rPr>
              <a:t>Cloud Run frontend</a:t>
            </a:r>
            <a:endParaRPr lang="en-US" sz="860" dirty="0"/>
          </a:p>
        </p:txBody>
      </p:sp>
      <p:sp>
        <p:nvSpPr>
          <p:cNvPr id="21" name="Text 18"/>
          <p:cNvSpPr txBox="1"/>
          <p:nvPr/>
        </p:nvSpPr>
        <p:spPr>
          <a:xfrm>
            <a:off x="5394960" y="1901952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3A455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Scales to zero, mostly free tier</a:t>
            </a:r>
            <a:endParaRPr lang="en-US" sz="780" dirty="0"/>
          </a:p>
        </p:txBody>
      </p:sp>
      <p:sp>
        <p:nvSpPr>
          <p:cNvPr id="22" name="Text 19"/>
          <p:cNvSpPr txBox="1"/>
          <p:nvPr/>
        </p:nvSpPr>
        <p:spPr>
          <a:xfrm>
            <a:off x="7863840" y="1901952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B1220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-120"/>
              </a:rPr>
              <a:t>0 – 3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3520440" y="2176272"/>
            <a:ext cx="5212080" cy="0"/>
          </a:xfrm>
          <a:prstGeom prst="line">
            <a:avLst/>
          </a:prstGeom>
          <a:noFill/>
          <a:ln w="9525">
            <a:solidFill>
              <a:srgbClr val="E3E7EE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3520440" y="21762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0B1220"/>
                </a:solidFill>
                <a:latin typeface="Barlow SemiBold" pitchFamily="34" charset="0"/>
                <a:ea typeface="Barlow SemiBold" pitchFamily="34" charset="-122"/>
                <a:cs typeface="Barlow SemiBold" pitchFamily="34" charset="-120"/>
              </a:rPr>
              <a:t>Vertex AI investigations</a:t>
            </a:r>
            <a:endParaRPr lang="en-US" sz="860" dirty="0"/>
          </a:p>
        </p:txBody>
      </p:sp>
      <p:sp>
        <p:nvSpPr>
          <p:cNvPr id="25" name="Text 22"/>
          <p:cNvSpPr txBox="1"/>
          <p:nvPr/>
        </p:nvSpPr>
        <p:spPr>
          <a:xfrm>
            <a:off x="5394960" y="2176272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3A455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~60 runs, ~45k Flash + ~10k Pro tokens each</a:t>
            </a:r>
            <a:endParaRPr lang="en-US" sz="780" dirty="0"/>
          </a:p>
        </p:txBody>
      </p:sp>
      <p:sp>
        <p:nvSpPr>
          <p:cNvPr id="26" name="Text 23"/>
          <p:cNvSpPr txBox="1"/>
          <p:nvPr/>
        </p:nvSpPr>
        <p:spPr>
          <a:xfrm>
            <a:off x="7863840" y="2176272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B1220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-120"/>
              </a:rPr>
              <a:t>3 – 5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3520440" y="2450592"/>
            <a:ext cx="5212080" cy="0"/>
          </a:xfrm>
          <a:prstGeom prst="line">
            <a:avLst/>
          </a:prstGeom>
          <a:noFill/>
          <a:ln w="9525">
            <a:solidFill>
              <a:srgbClr val="E3E7EE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3520440" y="24505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0B1220"/>
                </a:solidFill>
                <a:latin typeface="Barlow SemiBold" pitchFamily="34" charset="0"/>
                <a:ea typeface="Barlow SemiBold" pitchFamily="34" charset="-122"/>
                <a:cs typeface="Barlow SemiBold" pitchFamily="34" charset="-120"/>
              </a:rPr>
              <a:t>Vertex AI other calls</a:t>
            </a:r>
            <a:endParaRPr lang="en-US" sz="860" dirty="0"/>
          </a:p>
        </p:txBody>
      </p:sp>
      <p:sp>
        <p:nvSpPr>
          <p:cNvPr id="29" name="Text 26"/>
          <p:cNvSpPr txBox="1"/>
          <p:nvPr/>
        </p:nvSpPr>
        <p:spPr>
          <a:xfrm>
            <a:off x="5394960" y="2450592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3A455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Manual extraction, chat, vision, call outcomes</a:t>
            </a:r>
            <a:endParaRPr lang="en-US" sz="780" dirty="0"/>
          </a:p>
        </p:txBody>
      </p:sp>
      <p:sp>
        <p:nvSpPr>
          <p:cNvPr id="30" name="Text 27"/>
          <p:cNvSpPr txBox="1"/>
          <p:nvPr/>
        </p:nvSpPr>
        <p:spPr>
          <a:xfrm>
            <a:off x="7863840" y="2450592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B1220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-120"/>
              </a:rPr>
              <a:t>2 – 5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3520440" y="2724912"/>
            <a:ext cx="5212080" cy="0"/>
          </a:xfrm>
          <a:prstGeom prst="line">
            <a:avLst/>
          </a:prstGeom>
          <a:noFill/>
          <a:ln w="9525">
            <a:solidFill>
              <a:srgbClr val="E3E7EE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3520440" y="272491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0B1220"/>
                </a:solidFill>
                <a:latin typeface="Barlow SemiBold" pitchFamily="34" charset="0"/>
                <a:ea typeface="Barlow SemiBold" pitchFamily="34" charset="-122"/>
                <a:cs typeface="Barlow SemiBold" pitchFamily="34" charset="-120"/>
              </a:rPr>
              <a:t>Gemini Live audio</a:t>
            </a:r>
            <a:endParaRPr lang="en-US" sz="860" dirty="0"/>
          </a:p>
        </p:txBody>
      </p:sp>
      <p:sp>
        <p:nvSpPr>
          <p:cNvPr id="33" name="Text 30"/>
          <p:cNvSpPr txBox="1"/>
          <p:nvPr/>
        </p:nvSpPr>
        <p:spPr>
          <a:xfrm>
            <a:off x="5394960" y="2724912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3A455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Voice copilot and phone agent, ~160 min</a:t>
            </a:r>
            <a:endParaRPr lang="en-US" sz="780" dirty="0"/>
          </a:p>
        </p:txBody>
      </p:sp>
      <p:sp>
        <p:nvSpPr>
          <p:cNvPr id="34" name="Text 31"/>
          <p:cNvSpPr txBox="1"/>
          <p:nvPr/>
        </p:nvSpPr>
        <p:spPr>
          <a:xfrm>
            <a:off x="7863840" y="2724912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B1220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-120"/>
              </a:rPr>
              <a:t>3 – 8</a:t>
            </a:r>
            <a:endParaRPr lang="en-US" sz="900" dirty="0"/>
          </a:p>
        </p:txBody>
      </p:sp>
      <p:sp>
        <p:nvSpPr>
          <p:cNvPr id="35" name="Shape 32"/>
          <p:cNvSpPr/>
          <p:nvPr/>
        </p:nvSpPr>
        <p:spPr>
          <a:xfrm>
            <a:off x="3520440" y="2999232"/>
            <a:ext cx="5212080" cy="0"/>
          </a:xfrm>
          <a:prstGeom prst="line">
            <a:avLst/>
          </a:prstGeom>
          <a:noFill/>
          <a:ln w="9525">
            <a:solidFill>
              <a:srgbClr val="E3E7EE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3520440" y="29992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0B1220"/>
                </a:solidFill>
                <a:latin typeface="Barlow SemiBold" pitchFamily="34" charset="0"/>
                <a:ea typeface="Barlow SemiBold" pitchFamily="34" charset="-122"/>
                <a:cs typeface="Barlow SemiBold" pitchFamily="34" charset="-120"/>
              </a:rPr>
              <a:t>Pub/Sub and BigQuery</a:t>
            </a:r>
            <a:endParaRPr lang="en-US" sz="860" dirty="0"/>
          </a:p>
        </p:txBody>
      </p:sp>
      <p:sp>
        <p:nvSpPr>
          <p:cNvPr id="37" name="Text 34"/>
          <p:cNvSpPr txBox="1"/>
          <p:nvPr/>
        </p:nvSpPr>
        <p:spPr>
          <a:xfrm>
            <a:off x="5394960" y="2999232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3A455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54M messages, ~11 GB stored</a:t>
            </a:r>
            <a:endParaRPr lang="en-US" sz="780" dirty="0"/>
          </a:p>
        </p:txBody>
      </p:sp>
      <p:sp>
        <p:nvSpPr>
          <p:cNvPr id="38" name="Text 35"/>
          <p:cNvSpPr txBox="1"/>
          <p:nvPr/>
        </p:nvSpPr>
        <p:spPr>
          <a:xfrm>
            <a:off x="7863840" y="2999232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B1220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-120"/>
              </a:rPr>
              <a:t>3 – 6</a:t>
            </a:r>
            <a:endParaRPr lang="en-US" sz="900" dirty="0"/>
          </a:p>
        </p:txBody>
      </p:sp>
      <p:sp>
        <p:nvSpPr>
          <p:cNvPr id="39" name="Shape 36"/>
          <p:cNvSpPr/>
          <p:nvPr/>
        </p:nvSpPr>
        <p:spPr>
          <a:xfrm>
            <a:off x="3520440" y="3273552"/>
            <a:ext cx="5212080" cy="0"/>
          </a:xfrm>
          <a:prstGeom prst="line">
            <a:avLst/>
          </a:prstGeom>
          <a:noFill/>
          <a:ln w="9525">
            <a:solidFill>
              <a:srgbClr val="E3E7EE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3520440" y="32735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0B1220"/>
                </a:solidFill>
                <a:latin typeface="Barlow SemiBold" pitchFamily="34" charset="0"/>
                <a:ea typeface="Barlow SemiBold" pitchFamily="34" charset="-122"/>
                <a:cs typeface="Barlow SemiBold" pitchFamily="34" charset="-120"/>
              </a:rPr>
              <a:t>Firestore, Storage, Secrets, Logging</a:t>
            </a:r>
            <a:endParaRPr lang="en-US" sz="860" dirty="0"/>
          </a:p>
        </p:txBody>
      </p:sp>
      <p:sp>
        <p:nvSpPr>
          <p:cNvPr id="41" name="Text 38"/>
          <p:cNvSpPr txBox="1"/>
          <p:nvPr/>
        </p:nvSpPr>
        <p:spPr>
          <a:xfrm>
            <a:off x="5394960" y="3273552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3A455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Small volumes</a:t>
            </a:r>
            <a:endParaRPr lang="en-US" sz="780" dirty="0"/>
          </a:p>
        </p:txBody>
      </p:sp>
      <p:sp>
        <p:nvSpPr>
          <p:cNvPr id="42" name="Text 39"/>
          <p:cNvSpPr txBox="1"/>
          <p:nvPr/>
        </p:nvSpPr>
        <p:spPr>
          <a:xfrm>
            <a:off x="7863840" y="3273552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B1220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-120"/>
              </a:rPr>
              <a:t>1 – 3</a:t>
            </a:r>
            <a:endParaRPr lang="en-US" sz="900" dirty="0"/>
          </a:p>
        </p:txBody>
      </p:sp>
      <p:sp>
        <p:nvSpPr>
          <p:cNvPr id="43" name="Shape 40"/>
          <p:cNvSpPr/>
          <p:nvPr/>
        </p:nvSpPr>
        <p:spPr>
          <a:xfrm>
            <a:off x="3520440" y="3547872"/>
            <a:ext cx="5212080" cy="0"/>
          </a:xfrm>
          <a:prstGeom prst="line">
            <a:avLst/>
          </a:prstGeom>
          <a:noFill/>
          <a:ln w="9525">
            <a:solidFill>
              <a:srgbClr val="E3E7EE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3520440" y="35478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0B1220"/>
                </a:solidFill>
                <a:latin typeface="Barlow SemiBold" pitchFamily="34" charset="0"/>
                <a:ea typeface="Barlow SemiBold" pitchFamily="34" charset="-122"/>
                <a:cs typeface="Barlow SemiBold" pitchFamily="34" charset="-120"/>
              </a:rPr>
              <a:t>Phone line and voice server</a:t>
            </a:r>
            <a:endParaRPr lang="en-US" sz="860" dirty="0"/>
          </a:p>
        </p:txBody>
      </p:sp>
      <p:sp>
        <p:nvSpPr>
          <p:cNvPr id="45" name="Text 42"/>
          <p:cNvSpPr txBox="1"/>
          <p:nvPr/>
        </p:nvSpPr>
        <p:spPr>
          <a:xfrm>
            <a:off x="5394960" y="3547872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3A455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TeleCMI minutes, small VM for Dograh</a:t>
            </a:r>
            <a:endParaRPr lang="en-US" sz="780" dirty="0"/>
          </a:p>
        </p:txBody>
      </p:sp>
      <p:sp>
        <p:nvSpPr>
          <p:cNvPr id="46" name="Text 43"/>
          <p:cNvSpPr txBox="1"/>
          <p:nvPr/>
        </p:nvSpPr>
        <p:spPr>
          <a:xfrm>
            <a:off x="7863840" y="3547872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B1220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-120"/>
              </a:rPr>
              <a:t>15 – 30</a:t>
            </a:r>
            <a:endParaRPr lang="en-US" sz="900" dirty="0"/>
          </a:p>
        </p:txBody>
      </p:sp>
      <p:sp>
        <p:nvSpPr>
          <p:cNvPr id="47" name="Shape 44"/>
          <p:cNvSpPr/>
          <p:nvPr/>
        </p:nvSpPr>
        <p:spPr>
          <a:xfrm>
            <a:off x="3520440" y="3822192"/>
            <a:ext cx="5212080" cy="0"/>
          </a:xfrm>
          <a:prstGeom prst="line">
            <a:avLst/>
          </a:prstGeom>
          <a:noFill/>
          <a:ln w="9525">
            <a:solidFill>
              <a:srgbClr val="E3E7EE"/>
            </a:solidFill>
            <a:prstDash val="solid"/>
          </a:ln>
        </p:spPr>
      </p:sp>
      <p:sp>
        <p:nvSpPr>
          <p:cNvPr id="48" name="Text 45"/>
          <p:cNvSpPr txBox="1"/>
          <p:nvPr/>
        </p:nvSpPr>
        <p:spPr>
          <a:xfrm>
            <a:off x="3520440" y="38221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0B1220"/>
                </a:solidFill>
                <a:latin typeface="Barlow SemiBold" pitchFamily="34" charset="0"/>
                <a:ea typeface="Barlow SemiBold" pitchFamily="34" charset="-122"/>
                <a:cs typeface="Barlow SemiBold" pitchFamily="34" charset="-120"/>
              </a:rPr>
              <a:t>Email</a:t>
            </a:r>
            <a:endParaRPr lang="en-US" sz="860" dirty="0"/>
          </a:p>
        </p:txBody>
      </p:sp>
      <p:sp>
        <p:nvSpPr>
          <p:cNvPr id="49" name="Text 46"/>
          <p:cNvSpPr txBox="1"/>
          <p:nvPr/>
        </p:nvSpPr>
        <p:spPr>
          <a:xfrm>
            <a:off x="5394960" y="3822192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3A455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Resend free tier, 3,000 a month</a:t>
            </a:r>
            <a:endParaRPr lang="en-US" sz="780" dirty="0"/>
          </a:p>
        </p:txBody>
      </p:sp>
      <p:sp>
        <p:nvSpPr>
          <p:cNvPr id="50" name="Text 47"/>
          <p:cNvSpPr txBox="1"/>
          <p:nvPr/>
        </p:nvSpPr>
        <p:spPr>
          <a:xfrm>
            <a:off x="7863840" y="3822192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B1220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-120"/>
              </a:rPr>
              <a:t>0</a:t>
            </a:r>
            <a:endParaRPr lang="en-US" sz="900" dirty="0"/>
          </a:p>
        </p:txBody>
      </p:sp>
      <p:sp>
        <p:nvSpPr>
          <p:cNvPr id="51" name="Shape 48"/>
          <p:cNvSpPr/>
          <p:nvPr/>
        </p:nvSpPr>
        <p:spPr>
          <a:xfrm>
            <a:off x="3520440" y="4096512"/>
            <a:ext cx="5212080" cy="347472"/>
          </a:xfrm>
          <a:prstGeom prst="rect">
            <a:avLst/>
          </a:prstGeom>
          <a:solidFill>
            <a:srgbClr val="EAF1FF"/>
          </a:solidFill>
          <a:ln/>
        </p:spPr>
      </p:sp>
      <p:sp>
        <p:nvSpPr>
          <p:cNvPr id="52" name="Text 49"/>
          <p:cNvSpPr txBox="1"/>
          <p:nvPr/>
        </p:nvSpPr>
        <p:spPr>
          <a:xfrm>
            <a:off x="3593592" y="4096512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563EB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Total, first plant</a:t>
            </a:r>
            <a:endParaRPr lang="en-US" sz="1250" dirty="0"/>
          </a:p>
        </p:txBody>
      </p:sp>
      <p:sp>
        <p:nvSpPr>
          <p:cNvPr id="53" name="Text 50"/>
          <p:cNvSpPr txBox="1"/>
          <p:nvPr/>
        </p:nvSpPr>
        <p:spPr>
          <a:xfrm>
            <a:off x="7543800" y="4096512"/>
            <a:ext cx="1115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2563EB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-120"/>
              </a:rPr>
              <a:t>80 – 130</a:t>
            </a:r>
            <a:endParaRPr lang="en-US" sz="1050" dirty="0"/>
          </a:p>
        </p:txBody>
      </p:sp>
      <p:sp>
        <p:nvSpPr>
          <p:cNvPr id="54" name="Text 51"/>
          <p:cNvSpPr txBox="1"/>
          <p:nvPr/>
        </p:nvSpPr>
        <p:spPr>
          <a:xfrm>
            <a:off x="3520440" y="448056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60" dirty="0">
                <a:solidFill>
                  <a:srgbClr val="6B768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Prices as of October 2026, before tax. Vertex AI Gemini 2.5 Flash $0.30 / $2.50 and 2.5 Pro $1.25 / $10 per million input / output tokens; Cloud Run instance billing, Tier 2 region. Cost levers: batch tier, context caching, committed-use discounts. Sensors cost extra only where a machine has no PLC or gateway.</a:t>
            </a:r>
            <a:endParaRPr lang="en-US" sz="66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66760" y="4846320"/>
            <a:ext cx="36576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A0A8B5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411480" y="621792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200" kern="0" dirty="0">
                <a:solidFill>
                  <a:srgbClr val="2563EB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-120"/>
              </a:rPr>
              <a:t>09 / SNAPSHOTS OF THE PROTOTYPE (1 OF 4)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82296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0B1220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The live prototype, running on Cloud Run</a:t>
            </a:r>
            <a:endParaRPr lang="en-US" sz="2500" dirty="0"/>
          </a:p>
        </p:txBody>
      </p:sp>
      <p:sp>
        <p:nvSpPr>
          <p:cNvPr id="5" name="Shape 2"/>
          <p:cNvSpPr/>
          <p:nvPr/>
        </p:nvSpPr>
        <p:spPr>
          <a:xfrm>
            <a:off x="374904" y="1408176"/>
            <a:ext cx="4096512" cy="2336292"/>
          </a:xfrm>
          <a:prstGeom prst="roundRect">
            <a:avLst>
              <a:gd name="adj" fmla="val 1957"/>
            </a:avLst>
          </a:prstGeom>
          <a:solidFill>
            <a:srgbClr val="FFFFFF"/>
          </a:solidFill>
          <a:ln w="9525">
            <a:solidFill>
              <a:srgbClr val="E3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B1220">
                <a:alpha val="14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444752"/>
            <a:ext cx="4023360" cy="226314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4672584" y="1408176"/>
            <a:ext cx="4096512" cy="2336292"/>
          </a:xfrm>
          <a:prstGeom prst="roundRect">
            <a:avLst>
              <a:gd name="adj" fmla="val 1957"/>
            </a:avLst>
          </a:prstGeom>
          <a:solidFill>
            <a:srgbClr val="FFFFFF"/>
          </a:solidFill>
          <a:ln w="9525">
            <a:solidFill>
              <a:srgbClr val="E3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B1220">
                <a:alpha val="14000"/>
              </a:srgbClr>
            </a:outerShdw>
          </a:effectLst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160" y="1444752"/>
            <a:ext cx="4023360" cy="2263140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411480" y="3858768"/>
            <a:ext cx="292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563EB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-120"/>
              </a:rPr>
              <a:t>01</a:t>
            </a:r>
            <a:endParaRPr lang="en-US" sz="800" dirty="0"/>
          </a:p>
        </p:txBody>
      </p:sp>
      <p:sp>
        <p:nvSpPr>
          <p:cNvPr id="10" name="Text 5"/>
          <p:cNvSpPr txBox="1"/>
          <p:nvPr/>
        </p:nvSpPr>
        <p:spPr>
          <a:xfrm>
            <a:off x="704088" y="3840480"/>
            <a:ext cx="3730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220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Landing page</a:t>
            </a:r>
            <a:endParaRPr lang="en-US" sz="1350" dirty="0"/>
          </a:p>
        </p:txBody>
      </p:sp>
      <p:sp>
        <p:nvSpPr>
          <p:cNvPr id="11" name="Text 6"/>
          <p:cNvSpPr txBox="1"/>
          <p:nvPr/>
        </p:nvSpPr>
        <p:spPr>
          <a:xfrm>
            <a:off x="411480" y="4133088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dirty="0">
                <a:solidFill>
                  <a:srgbClr val="3A455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The story in one scroll: a live incident, the problem, how the agent reasons, the architecture and our evaluation, with Muse as the guide.</a:t>
            </a:r>
            <a:endParaRPr lang="en-US" sz="860" dirty="0"/>
          </a:p>
        </p:txBody>
      </p:sp>
      <p:sp>
        <p:nvSpPr>
          <p:cNvPr id="12" name="Text 7"/>
          <p:cNvSpPr txBox="1"/>
          <p:nvPr/>
        </p:nvSpPr>
        <p:spPr>
          <a:xfrm>
            <a:off x="4709160" y="3858768"/>
            <a:ext cx="292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C3AED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-120"/>
              </a:rPr>
              <a:t>02</a:t>
            </a:r>
            <a:endParaRPr lang="en-US" sz="800" dirty="0"/>
          </a:p>
        </p:txBody>
      </p:sp>
      <p:sp>
        <p:nvSpPr>
          <p:cNvPr id="13" name="Text 8"/>
          <p:cNvSpPr txBox="1"/>
          <p:nvPr/>
        </p:nvSpPr>
        <p:spPr>
          <a:xfrm>
            <a:off x="5001768" y="3840480"/>
            <a:ext cx="3730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220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Overview with Ask Muse</a:t>
            </a:r>
            <a:endParaRPr lang="en-US" sz="1350" dirty="0"/>
          </a:p>
        </p:txBody>
      </p:sp>
      <p:sp>
        <p:nvSpPr>
          <p:cNvPr id="14" name="Text 9"/>
          <p:cNvSpPr txBox="1"/>
          <p:nvPr/>
        </p:nvSpPr>
        <p:spPr>
          <a:xfrm>
            <a:off x="4709160" y="4133088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dirty="0">
                <a:solidFill>
                  <a:srgbClr val="3A455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Muse opens with a summary built from live data. Below it: machine health, readings per minute, forecasts and open incidents.</a:t>
            </a:r>
            <a:endParaRPr lang="en-US" sz="86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66760" y="4846320"/>
            <a:ext cx="36576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A0A8B5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411480" y="621792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200" kern="0" dirty="0">
                <a:solidFill>
                  <a:srgbClr val="2563EB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-120"/>
              </a:rPr>
              <a:t>09 / SNAPSHOTS OF THE PROTOTYPE (2 OF 4)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82296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0B1220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An incident, investigated</a:t>
            </a:r>
            <a:endParaRPr lang="en-US" sz="2500" dirty="0"/>
          </a:p>
        </p:txBody>
      </p:sp>
      <p:sp>
        <p:nvSpPr>
          <p:cNvPr id="5" name="Shape 2"/>
          <p:cNvSpPr/>
          <p:nvPr/>
        </p:nvSpPr>
        <p:spPr>
          <a:xfrm>
            <a:off x="374904" y="1408176"/>
            <a:ext cx="5330952" cy="3339717"/>
          </a:xfrm>
          <a:prstGeom prst="roundRect">
            <a:avLst>
              <a:gd name="adj" fmla="val 1369"/>
            </a:avLst>
          </a:prstGeom>
          <a:solidFill>
            <a:srgbClr val="FFFFFF"/>
          </a:solidFill>
          <a:ln w="9525">
            <a:solidFill>
              <a:srgbClr val="E3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B1220">
                <a:alpha val="14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444752"/>
            <a:ext cx="5257800" cy="3266565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907024" y="1408176"/>
            <a:ext cx="2862072" cy="1805852"/>
          </a:xfrm>
          <a:prstGeom prst="roundRect">
            <a:avLst>
              <a:gd name="adj" fmla="val 2532"/>
            </a:avLst>
          </a:prstGeom>
          <a:solidFill>
            <a:srgbClr val="FFFFFF"/>
          </a:solidFill>
          <a:ln w="9525">
            <a:solidFill>
              <a:srgbClr val="E3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B1220">
                <a:alpha val="14000"/>
              </a:srgbClr>
            </a:outerShdw>
          </a:effectLst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444752"/>
            <a:ext cx="2788920" cy="1732700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5943600" y="3360332"/>
            <a:ext cx="292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C3AED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-120"/>
              </a:rPr>
              <a:t>03</a:t>
            </a:r>
            <a:endParaRPr lang="en-US" sz="800" dirty="0"/>
          </a:p>
        </p:txBody>
      </p:sp>
      <p:sp>
        <p:nvSpPr>
          <p:cNvPr id="10" name="Text 5"/>
          <p:cNvSpPr txBox="1"/>
          <p:nvPr/>
        </p:nvSpPr>
        <p:spPr>
          <a:xfrm>
            <a:off x="6236208" y="3342044"/>
            <a:ext cx="2496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220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Incident report</a:t>
            </a:r>
            <a:endParaRPr lang="en-US" sz="1350" dirty="0"/>
          </a:p>
        </p:txBody>
      </p:sp>
      <p:sp>
        <p:nvSpPr>
          <p:cNvPr id="11" name="Text 6"/>
          <p:cNvSpPr txBox="1"/>
          <p:nvPr/>
        </p:nvSpPr>
        <p:spPr>
          <a:xfrm>
            <a:off x="5943600" y="3634652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dirty="0">
                <a:solidFill>
                  <a:srgbClr val="3A455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Ranked causes with evidence for and against, the manual page, the first checks, and every signal on a timeline.</a:t>
            </a:r>
            <a:endParaRPr lang="en-US" sz="860" dirty="0"/>
          </a:p>
        </p:txBody>
      </p:sp>
      <p:sp>
        <p:nvSpPr>
          <p:cNvPr id="12" name="Text 7"/>
          <p:cNvSpPr txBox="1"/>
          <p:nvPr/>
        </p:nvSpPr>
        <p:spPr>
          <a:xfrm>
            <a:off x="5943600" y="4183292"/>
            <a:ext cx="292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E7490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-120"/>
              </a:rPr>
              <a:t>04</a:t>
            </a:r>
            <a:endParaRPr lang="en-US" sz="800" dirty="0"/>
          </a:p>
        </p:txBody>
      </p:sp>
      <p:sp>
        <p:nvSpPr>
          <p:cNvPr id="13" name="Text 8"/>
          <p:cNvSpPr txBox="1"/>
          <p:nvPr/>
        </p:nvSpPr>
        <p:spPr>
          <a:xfrm>
            <a:off x="6236208" y="4165004"/>
            <a:ext cx="2496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220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Machine page</a:t>
            </a:r>
            <a:endParaRPr lang="en-US" sz="1350" dirty="0"/>
          </a:p>
        </p:txBody>
      </p:sp>
      <p:sp>
        <p:nvSpPr>
          <p:cNvPr id="14" name="Text 9"/>
          <p:cNvSpPr txBox="1"/>
          <p:nvPr/>
        </p:nvSpPr>
        <p:spPr>
          <a:xfrm>
            <a:off x="5943600" y="4457612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dirty="0">
                <a:solidFill>
                  <a:srgbClr val="3A455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Every parameter against its verified bands, with the manual page and a time-to-limit forecast.</a:t>
            </a:r>
            <a:endParaRPr lang="en-US" sz="86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66760" y="4846320"/>
            <a:ext cx="36576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A0A8B5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411480" y="621792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200" kern="0" dirty="0">
                <a:solidFill>
                  <a:srgbClr val="2563EB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-120"/>
              </a:rPr>
              <a:t>09 / SNAPSHOTS OF THE PROTOTYPE (3 OF 4)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82296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0B1220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The factory, live</a:t>
            </a:r>
            <a:endParaRPr lang="en-US" sz="2500" dirty="0"/>
          </a:p>
        </p:txBody>
      </p:sp>
      <p:sp>
        <p:nvSpPr>
          <p:cNvPr id="5" name="Shape 2"/>
          <p:cNvSpPr/>
          <p:nvPr/>
        </p:nvSpPr>
        <p:spPr>
          <a:xfrm>
            <a:off x="374904" y="1408176"/>
            <a:ext cx="4096512" cy="2123748"/>
          </a:xfrm>
          <a:prstGeom prst="roundRect">
            <a:avLst>
              <a:gd name="adj" fmla="val 2153"/>
            </a:avLst>
          </a:prstGeom>
          <a:solidFill>
            <a:srgbClr val="FFFFFF"/>
          </a:solidFill>
          <a:ln w="9525">
            <a:solidFill>
              <a:srgbClr val="E3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B1220">
                <a:alpha val="14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444752"/>
            <a:ext cx="4023360" cy="2050596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4672584" y="1408176"/>
            <a:ext cx="4096512" cy="2123748"/>
          </a:xfrm>
          <a:prstGeom prst="roundRect">
            <a:avLst>
              <a:gd name="adj" fmla="val 2153"/>
            </a:avLst>
          </a:prstGeom>
          <a:solidFill>
            <a:srgbClr val="FFFFFF"/>
          </a:solidFill>
          <a:ln w="9525">
            <a:solidFill>
              <a:srgbClr val="E3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B1220">
                <a:alpha val="14000"/>
              </a:srgbClr>
            </a:outerShdw>
          </a:effectLst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160" y="1444752"/>
            <a:ext cx="4023360" cy="2050596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411480" y="3742236"/>
            <a:ext cx="292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563EB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-120"/>
              </a:rPr>
              <a:t>05</a:t>
            </a:r>
            <a:endParaRPr lang="en-US" sz="800" dirty="0"/>
          </a:p>
        </p:txBody>
      </p:sp>
      <p:sp>
        <p:nvSpPr>
          <p:cNvPr id="10" name="Text 5"/>
          <p:cNvSpPr txBox="1"/>
          <p:nvPr/>
        </p:nvSpPr>
        <p:spPr>
          <a:xfrm>
            <a:off x="704088" y="3723948"/>
            <a:ext cx="3730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220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3D factory</a:t>
            </a:r>
            <a:endParaRPr lang="en-US" sz="1350" dirty="0"/>
          </a:p>
        </p:txBody>
      </p:sp>
      <p:sp>
        <p:nvSpPr>
          <p:cNvPr id="11" name="Text 6"/>
          <p:cNvSpPr txBox="1"/>
          <p:nvPr/>
        </p:nvSpPr>
        <p:spPr>
          <a:xfrm>
            <a:off x="411480" y="4016556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dirty="0">
                <a:solidFill>
                  <a:srgbClr val="3A455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 React Three Fiber hall with live readings over each machine. Colours follow normal, warning and critical.</a:t>
            </a:r>
            <a:endParaRPr lang="en-US" sz="860" dirty="0"/>
          </a:p>
        </p:txBody>
      </p:sp>
      <p:sp>
        <p:nvSpPr>
          <p:cNvPr id="12" name="Text 7"/>
          <p:cNvSpPr txBox="1"/>
          <p:nvPr/>
        </p:nvSpPr>
        <p:spPr>
          <a:xfrm>
            <a:off x="4709160" y="3742236"/>
            <a:ext cx="292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E7490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-120"/>
              </a:rPr>
              <a:t>06</a:t>
            </a:r>
            <a:endParaRPr lang="en-US" sz="800" dirty="0"/>
          </a:p>
        </p:txBody>
      </p:sp>
      <p:sp>
        <p:nvSpPr>
          <p:cNvPr id="13" name="Text 8"/>
          <p:cNvSpPr txBox="1"/>
          <p:nvPr/>
        </p:nvSpPr>
        <p:spPr>
          <a:xfrm>
            <a:off x="5001768" y="3723948"/>
            <a:ext cx="3730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220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Workflow builder</a:t>
            </a:r>
            <a:endParaRPr lang="en-US" sz="1350" dirty="0"/>
          </a:p>
        </p:txBody>
      </p:sp>
      <p:sp>
        <p:nvSpPr>
          <p:cNvPr id="14" name="Text 9"/>
          <p:cNvSpPr txBox="1"/>
          <p:nvPr/>
        </p:nvSpPr>
        <p:spPr>
          <a:xfrm>
            <a:off x="4709160" y="4016556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dirty="0">
                <a:solidFill>
                  <a:srgbClr val="3A455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Drag machines into a line. The links set what the agent checks across machines, like a feeder over-feeding the conveyor.</a:t>
            </a:r>
            <a:endParaRPr lang="en-US" sz="86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66760" y="4846320"/>
            <a:ext cx="36576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A0A8B5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411480" y="621792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200" kern="0" dirty="0">
                <a:solidFill>
                  <a:srgbClr val="2563EB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-120"/>
              </a:rPr>
              <a:t>09 / SNAPSHOTS OF THE PROTOTYPE (4 OF 4)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82296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0B1220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Onboarding and the emails Muse sends</a:t>
            </a:r>
            <a:endParaRPr lang="en-US" sz="2500" dirty="0"/>
          </a:p>
        </p:txBody>
      </p:sp>
      <p:sp>
        <p:nvSpPr>
          <p:cNvPr id="5" name="Shape 2"/>
          <p:cNvSpPr/>
          <p:nvPr/>
        </p:nvSpPr>
        <p:spPr>
          <a:xfrm>
            <a:off x="374904" y="1408176"/>
            <a:ext cx="4988966" cy="2450592"/>
          </a:xfrm>
          <a:prstGeom prst="roundRect">
            <a:avLst>
              <a:gd name="adj" fmla="val 1866"/>
            </a:avLst>
          </a:prstGeom>
          <a:solidFill>
            <a:srgbClr val="FFFFFF"/>
          </a:solidFill>
          <a:ln w="9525">
            <a:solidFill>
              <a:srgbClr val="E3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B1220">
                <a:alpha val="14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444752"/>
            <a:ext cx="4915814" cy="237744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519318" y="1408176"/>
            <a:ext cx="1547165" cy="2450592"/>
          </a:xfrm>
          <a:prstGeom prst="roundRect">
            <a:avLst>
              <a:gd name="adj" fmla="val 2955"/>
            </a:avLst>
          </a:prstGeom>
          <a:solidFill>
            <a:srgbClr val="FFFFFF"/>
          </a:solidFill>
          <a:ln w="9525">
            <a:solidFill>
              <a:srgbClr val="E3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B1220">
                <a:alpha val="14000"/>
              </a:srgbClr>
            </a:outerShdw>
          </a:effectLst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5894" y="1444752"/>
            <a:ext cx="1474013" cy="2377440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7221931" y="1408176"/>
            <a:ext cx="1547165" cy="2450592"/>
          </a:xfrm>
          <a:prstGeom prst="roundRect">
            <a:avLst>
              <a:gd name="adj" fmla="val 2955"/>
            </a:avLst>
          </a:prstGeom>
          <a:solidFill>
            <a:srgbClr val="FFFFFF"/>
          </a:solidFill>
          <a:ln w="9525">
            <a:solidFill>
              <a:srgbClr val="E3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B1220">
                <a:alpha val="14000"/>
              </a:srgbClr>
            </a:outerShdw>
          </a:effectLst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8507" y="1444752"/>
            <a:ext cx="1474013" cy="2377440"/>
          </a:xfrm>
          <a:prstGeom prst="rect">
            <a:avLst/>
          </a:prstGeom>
        </p:spPr>
      </p:pic>
      <p:sp>
        <p:nvSpPr>
          <p:cNvPr id="11" name="Text 5"/>
          <p:cNvSpPr txBox="1"/>
          <p:nvPr/>
        </p:nvSpPr>
        <p:spPr>
          <a:xfrm>
            <a:off x="411480" y="4023360"/>
            <a:ext cx="292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563EB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-120"/>
              </a:rPr>
              <a:t>07</a:t>
            </a:r>
            <a:endParaRPr lang="en-US" sz="800" dirty="0"/>
          </a:p>
        </p:txBody>
      </p:sp>
      <p:sp>
        <p:nvSpPr>
          <p:cNvPr id="12" name="Text 6"/>
          <p:cNvSpPr txBox="1"/>
          <p:nvPr/>
        </p:nvSpPr>
        <p:spPr>
          <a:xfrm>
            <a:off x="704088" y="4005072"/>
            <a:ext cx="462320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220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Onboard a machine</a:t>
            </a:r>
            <a:endParaRPr lang="en-US" sz="1350" dirty="0"/>
          </a:p>
        </p:txBody>
      </p:sp>
      <p:sp>
        <p:nvSpPr>
          <p:cNvPr id="13" name="Text 7"/>
          <p:cNvSpPr txBox="1"/>
          <p:nvPr/>
        </p:nvSpPr>
        <p:spPr>
          <a:xfrm>
            <a:off x="411480" y="4297680"/>
            <a:ext cx="491581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dirty="0">
                <a:solidFill>
                  <a:srgbClr val="3A455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Upload the manual or pick a machine type. Gemini fills in the parameters, limits, page and snippet. Verify each row, then copy the device key and code samples.</a:t>
            </a:r>
            <a:endParaRPr lang="en-US" sz="860" dirty="0"/>
          </a:p>
        </p:txBody>
      </p:sp>
      <p:sp>
        <p:nvSpPr>
          <p:cNvPr id="14" name="Text 8"/>
          <p:cNvSpPr txBox="1"/>
          <p:nvPr/>
        </p:nvSpPr>
        <p:spPr>
          <a:xfrm>
            <a:off x="5555894" y="4023360"/>
            <a:ext cx="292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C3AED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-120"/>
              </a:rPr>
              <a:t>08</a:t>
            </a:r>
            <a:endParaRPr lang="en-US" sz="800" dirty="0"/>
          </a:p>
        </p:txBody>
      </p:sp>
      <p:sp>
        <p:nvSpPr>
          <p:cNvPr id="15" name="Text 9"/>
          <p:cNvSpPr txBox="1"/>
          <p:nvPr/>
        </p:nvSpPr>
        <p:spPr>
          <a:xfrm>
            <a:off x="5848502" y="4005072"/>
            <a:ext cx="288401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220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Report and call emails</a:t>
            </a:r>
            <a:endParaRPr lang="en-US" sz="1350" dirty="0"/>
          </a:p>
        </p:txBody>
      </p:sp>
      <p:sp>
        <p:nvSpPr>
          <p:cNvPr id="16" name="Text 10"/>
          <p:cNvSpPr txBox="1"/>
          <p:nvPr/>
        </p:nvSpPr>
        <p:spPr>
          <a:xfrm>
            <a:off x="5555894" y="4297680"/>
            <a:ext cx="317662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dirty="0">
                <a:solidFill>
                  <a:srgbClr val="3A455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The likely cause, the first check, and what was said on the call.</a:t>
            </a:r>
            <a:endParaRPr lang="en-US" sz="86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66760" y="4846320"/>
            <a:ext cx="36576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A0A8B5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411480" y="621792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200" kern="0" dirty="0">
                <a:solidFill>
                  <a:srgbClr val="2563EB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-120"/>
              </a:rPr>
              <a:t>10 / PROTOTYPE PERFORMANCE REPORT / BENCHMARKING (1 OF 2)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82296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0B1220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16 injected faults. All 16 caught. The right cause first in 13</a:t>
            </a:r>
            <a:endParaRPr lang="en-US" sz="2500" dirty="0"/>
          </a:p>
        </p:txBody>
      </p:sp>
      <p:sp>
        <p:nvSpPr>
          <p:cNvPr id="5" name="Text 2"/>
          <p:cNvSpPr txBox="1"/>
          <p:nvPr/>
        </p:nvSpPr>
        <p:spPr>
          <a:xfrm>
            <a:off x="411480" y="1389888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A34A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16/16</a:t>
            </a:r>
            <a:endParaRPr lang="en-US" sz="3200" dirty="0"/>
          </a:p>
        </p:txBody>
      </p:sp>
      <p:sp>
        <p:nvSpPr>
          <p:cNvPr id="6" name="Text 3"/>
          <p:cNvSpPr txBox="1"/>
          <p:nvPr/>
        </p:nvSpPr>
        <p:spPr>
          <a:xfrm>
            <a:off x="411480" y="1883664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3A455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faults detected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2075688" y="1444752"/>
            <a:ext cx="0" cy="749808"/>
          </a:xfrm>
          <a:prstGeom prst="line">
            <a:avLst/>
          </a:prstGeom>
          <a:noFill/>
          <a:ln w="9525">
            <a:solidFill>
              <a:srgbClr val="E3E7EE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2212848" y="1389888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563EB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13/16</a:t>
            </a:r>
            <a:endParaRPr lang="en-US" sz="3200" dirty="0"/>
          </a:p>
        </p:txBody>
      </p:sp>
      <p:sp>
        <p:nvSpPr>
          <p:cNvPr id="9" name="Text 6"/>
          <p:cNvSpPr txBox="1"/>
          <p:nvPr/>
        </p:nvSpPr>
        <p:spPr>
          <a:xfrm>
            <a:off x="2212848" y="1883664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3A455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right cause ranked first (14/16 in the top three)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3739896" y="1444752"/>
            <a:ext cx="0" cy="749808"/>
          </a:xfrm>
          <a:prstGeom prst="line">
            <a:avLst/>
          </a:prstGeom>
          <a:noFill/>
          <a:ln w="9525">
            <a:solidFill>
              <a:srgbClr val="E3E7EE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877056" y="1389888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7C3AED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8 s</a:t>
            </a:r>
            <a:endParaRPr lang="en-US" sz="3200" dirty="0"/>
          </a:p>
        </p:txBody>
      </p:sp>
      <p:sp>
        <p:nvSpPr>
          <p:cNvPr id="12" name="Text 9"/>
          <p:cNvSpPr txBox="1"/>
          <p:nvPr/>
        </p:nvSpPr>
        <p:spPr>
          <a:xfrm>
            <a:off x="3877056" y="1883664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3A455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median time from fault to first signal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5404104" y="1444752"/>
            <a:ext cx="0" cy="749808"/>
          </a:xfrm>
          <a:prstGeom prst="line">
            <a:avLst/>
          </a:prstGeom>
          <a:noFill/>
          <a:ln w="9525">
            <a:solidFill>
              <a:srgbClr val="E3E7EE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541264" y="1389888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D97706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77 s</a:t>
            </a:r>
            <a:endParaRPr lang="en-US" sz="3200" dirty="0"/>
          </a:p>
        </p:txBody>
      </p:sp>
      <p:sp>
        <p:nvSpPr>
          <p:cNvPr id="15" name="Text 12"/>
          <p:cNvSpPr txBox="1"/>
          <p:nvPr/>
        </p:nvSpPr>
        <p:spPr>
          <a:xfrm>
            <a:off x="5541264" y="1883664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3A455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median warning before the critical limit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7068312" y="1444752"/>
            <a:ext cx="0" cy="749808"/>
          </a:xfrm>
          <a:prstGeom prst="line">
            <a:avLst/>
          </a:prstGeom>
          <a:noFill/>
          <a:ln w="9525">
            <a:solidFill>
              <a:srgbClr val="E3E7EE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205472" y="1389888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E7490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0</a:t>
            </a:r>
            <a:endParaRPr lang="en-US" sz="3200" dirty="0"/>
          </a:p>
        </p:txBody>
      </p:sp>
      <p:sp>
        <p:nvSpPr>
          <p:cNvPr id="18" name="Text 15"/>
          <p:cNvSpPr txBox="1"/>
          <p:nvPr/>
        </p:nvSpPr>
        <p:spPr>
          <a:xfrm>
            <a:off x="7205472" y="1883664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3A455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false incidents in 53 machine-minutes of normal running</a:t>
            </a:r>
            <a:endParaRPr lang="en-US" sz="800" dirty="0"/>
          </a:p>
        </p:txBody>
      </p:sp>
      <p:sp>
        <p:nvSpPr>
          <p:cNvPr id="19" name="Text 16"/>
          <p:cNvSpPr txBox="1"/>
          <p:nvPr/>
        </p:nvSpPr>
        <p:spPr>
          <a:xfrm>
            <a:off x="411480" y="2304288"/>
            <a:ext cx="4480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50" kern="0" dirty="0">
                <a:solidFill>
                  <a:srgbClr val="6B7686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-120"/>
              </a:rPr>
              <a:t>DETECTION TIMELINE, SECONDS AFTER THE FAULT STARTS</a:t>
            </a:r>
            <a:endParaRPr lang="en-US" sz="750" dirty="0"/>
          </a:p>
        </p:txBody>
      </p:sp>
      <p:sp>
        <p:nvSpPr>
          <p:cNvPr id="20" name="Shape 17"/>
          <p:cNvSpPr/>
          <p:nvPr/>
        </p:nvSpPr>
        <p:spPr>
          <a:xfrm>
            <a:off x="2331720" y="2679192"/>
            <a:ext cx="3352800" cy="1956816"/>
          </a:xfrm>
          <a:prstGeom prst="rect">
            <a:avLst/>
          </a:prstGeom>
          <a:solidFill>
            <a:srgbClr val="F4F6FA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2331720" y="2505456"/>
            <a:ext cx="3352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6B768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fault ramps up over 120 s</a:t>
            </a:r>
            <a:endParaRPr lang="en-US" sz="650" dirty="0"/>
          </a:p>
        </p:txBody>
      </p:sp>
      <p:sp>
        <p:nvSpPr>
          <p:cNvPr id="22" name="Text 19"/>
          <p:cNvSpPr txBox="1"/>
          <p:nvPr/>
        </p:nvSpPr>
        <p:spPr>
          <a:xfrm>
            <a:off x="5684520" y="2505456"/>
            <a:ext cx="1676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6B768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hold</a:t>
            </a:r>
            <a:endParaRPr lang="en-US" sz="650" dirty="0"/>
          </a:p>
        </p:txBody>
      </p:sp>
      <p:sp>
        <p:nvSpPr>
          <p:cNvPr id="23" name="Text 20"/>
          <p:cNvSpPr txBox="1"/>
          <p:nvPr/>
        </p:nvSpPr>
        <p:spPr>
          <a:xfrm>
            <a:off x="2148840" y="4663440"/>
            <a:ext cx="365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6B768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</a:t>
            </a:r>
            <a:endParaRPr lang="en-US" sz="650" dirty="0"/>
          </a:p>
        </p:txBody>
      </p:sp>
      <p:sp>
        <p:nvSpPr>
          <p:cNvPr id="24" name="Text 21"/>
          <p:cNvSpPr txBox="1"/>
          <p:nvPr/>
        </p:nvSpPr>
        <p:spPr>
          <a:xfrm>
            <a:off x="2987040" y="4663440"/>
            <a:ext cx="365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6B768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30</a:t>
            </a:r>
            <a:endParaRPr lang="en-US" sz="650" dirty="0"/>
          </a:p>
        </p:txBody>
      </p:sp>
      <p:sp>
        <p:nvSpPr>
          <p:cNvPr id="25" name="Text 22"/>
          <p:cNvSpPr txBox="1"/>
          <p:nvPr/>
        </p:nvSpPr>
        <p:spPr>
          <a:xfrm>
            <a:off x="3825240" y="4663440"/>
            <a:ext cx="365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6B768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60</a:t>
            </a:r>
            <a:endParaRPr lang="en-US" sz="650" dirty="0"/>
          </a:p>
        </p:txBody>
      </p:sp>
      <p:sp>
        <p:nvSpPr>
          <p:cNvPr id="26" name="Text 23"/>
          <p:cNvSpPr txBox="1"/>
          <p:nvPr/>
        </p:nvSpPr>
        <p:spPr>
          <a:xfrm>
            <a:off x="4663440" y="4663440"/>
            <a:ext cx="365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6B768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90</a:t>
            </a:r>
            <a:endParaRPr lang="en-US" sz="650" dirty="0"/>
          </a:p>
        </p:txBody>
      </p:sp>
      <p:sp>
        <p:nvSpPr>
          <p:cNvPr id="27" name="Text 24"/>
          <p:cNvSpPr txBox="1"/>
          <p:nvPr/>
        </p:nvSpPr>
        <p:spPr>
          <a:xfrm>
            <a:off x="5501640" y="4663440"/>
            <a:ext cx="365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6B768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120</a:t>
            </a:r>
            <a:endParaRPr lang="en-US" sz="650" dirty="0"/>
          </a:p>
        </p:txBody>
      </p:sp>
      <p:sp>
        <p:nvSpPr>
          <p:cNvPr id="28" name="Text 25"/>
          <p:cNvSpPr txBox="1"/>
          <p:nvPr/>
        </p:nvSpPr>
        <p:spPr>
          <a:xfrm>
            <a:off x="6339840" y="4663440"/>
            <a:ext cx="365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6B768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150</a:t>
            </a:r>
            <a:endParaRPr lang="en-US" sz="650" dirty="0"/>
          </a:p>
        </p:txBody>
      </p:sp>
      <p:sp>
        <p:nvSpPr>
          <p:cNvPr id="29" name="Text 26"/>
          <p:cNvSpPr txBox="1"/>
          <p:nvPr/>
        </p:nvSpPr>
        <p:spPr>
          <a:xfrm>
            <a:off x="7178040" y="4663440"/>
            <a:ext cx="365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6B768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180</a:t>
            </a:r>
            <a:endParaRPr lang="en-US" sz="650" dirty="0"/>
          </a:p>
        </p:txBody>
      </p:sp>
      <p:sp>
        <p:nvSpPr>
          <p:cNvPr id="30" name="Text 27"/>
          <p:cNvSpPr txBox="1"/>
          <p:nvPr/>
        </p:nvSpPr>
        <p:spPr>
          <a:xfrm>
            <a:off x="7498080" y="2487168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spc="80" kern="0" dirty="0">
                <a:solidFill>
                  <a:srgbClr val="6B7686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-120"/>
              </a:rPr>
              <a:t>RIGHT CAUSE #1</a:t>
            </a:r>
            <a:endParaRPr lang="en-US" sz="650" dirty="0"/>
          </a:p>
        </p:txBody>
      </p:sp>
      <p:sp>
        <p:nvSpPr>
          <p:cNvPr id="31" name="Text 28"/>
          <p:cNvSpPr txBox="1"/>
          <p:nvPr/>
        </p:nvSpPr>
        <p:spPr>
          <a:xfrm>
            <a:off x="411480" y="2724912"/>
            <a:ext cx="1874520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0B122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Conveyor, bearing wear</a:t>
            </a:r>
            <a:endParaRPr lang="en-US" sz="820" dirty="0"/>
          </a:p>
        </p:txBody>
      </p:sp>
      <p:sp>
        <p:nvSpPr>
          <p:cNvPr id="32" name="Shape 29"/>
          <p:cNvSpPr/>
          <p:nvPr/>
        </p:nvSpPr>
        <p:spPr>
          <a:xfrm>
            <a:off x="2331720" y="2846070"/>
            <a:ext cx="5029200" cy="0"/>
          </a:xfrm>
          <a:prstGeom prst="line">
            <a:avLst/>
          </a:prstGeom>
          <a:noFill/>
          <a:ln w="9525">
            <a:solidFill>
              <a:srgbClr val="D5DBE4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2655824" y="2827782"/>
            <a:ext cx="2665476" cy="36576"/>
          </a:xfrm>
          <a:prstGeom prst="rect">
            <a:avLst/>
          </a:prstGeom>
          <a:solidFill>
            <a:srgbClr val="BFD3FB"/>
          </a:solidFill>
          <a:ln/>
        </p:spPr>
      </p:sp>
      <p:sp>
        <p:nvSpPr>
          <p:cNvPr id="34" name="Shape 31"/>
          <p:cNvSpPr/>
          <p:nvPr/>
        </p:nvSpPr>
        <p:spPr>
          <a:xfrm>
            <a:off x="2596388" y="2786634"/>
            <a:ext cx="118872" cy="118872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35" name="Shape 32"/>
          <p:cNvSpPr/>
          <p:nvPr/>
        </p:nvSpPr>
        <p:spPr>
          <a:xfrm>
            <a:off x="2875788" y="2786634"/>
            <a:ext cx="118872" cy="118872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36" name="Shape 33"/>
          <p:cNvSpPr/>
          <p:nvPr/>
        </p:nvSpPr>
        <p:spPr>
          <a:xfrm>
            <a:off x="5261864" y="2786634"/>
            <a:ext cx="118872" cy="118872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37" name="Shape 34"/>
          <p:cNvSpPr/>
          <p:nvPr/>
        </p:nvSpPr>
        <p:spPr>
          <a:xfrm>
            <a:off x="2899347" y="2809494"/>
            <a:ext cx="73152" cy="73152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38" name="Text 35"/>
          <p:cNvSpPr txBox="1"/>
          <p:nvPr/>
        </p:nvSpPr>
        <p:spPr>
          <a:xfrm>
            <a:off x="7498080" y="2724912"/>
            <a:ext cx="1234440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6A34A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-120"/>
              </a:rPr>
              <a:t>2/2</a:t>
            </a:r>
            <a:endParaRPr lang="en-US" sz="900" dirty="0"/>
          </a:p>
        </p:txBody>
      </p:sp>
      <p:sp>
        <p:nvSpPr>
          <p:cNvPr id="39" name="Text 36"/>
          <p:cNvSpPr txBox="1"/>
          <p:nvPr/>
        </p:nvSpPr>
        <p:spPr>
          <a:xfrm>
            <a:off x="411480" y="2967228"/>
            <a:ext cx="1874520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0B122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Conveyor, cooling-fan failure</a:t>
            </a:r>
            <a:endParaRPr lang="en-US" sz="820" dirty="0"/>
          </a:p>
        </p:txBody>
      </p:sp>
      <p:sp>
        <p:nvSpPr>
          <p:cNvPr id="40" name="Shape 37"/>
          <p:cNvSpPr/>
          <p:nvPr/>
        </p:nvSpPr>
        <p:spPr>
          <a:xfrm>
            <a:off x="2331720" y="3088386"/>
            <a:ext cx="5029200" cy="0"/>
          </a:xfrm>
          <a:prstGeom prst="line">
            <a:avLst/>
          </a:prstGeom>
          <a:noFill/>
          <a:ln w="9525">
            <a:solidFill>
              <a:srgbClr val="D5DBE4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2569210" y="3070098"/>
            <a:ext cx="2415413" cy="36576"/>
          </a:xfrm>
          <a:prstGeom prst="rect">
            <a:avLst/>
          </a:prstGeom>
          <a:solidFill>
            <a:srgbClr val="BFD3FB"/>
          </a:solidFill>
          <a:ln/>
        </p:spPr>
      </p:sp>
      <p:sp>
        <p:nvSpPr>
          <p:cNvPr id="42" name="Shape 39"/>
          <p:cNvSpPr/>
          <p:nvPr/>
        </p:nvSpPr>
        <p:spPr>
          <a:xfrm>
            <a:off x="2509774" y="3028950"/>
            <a:ext cx="118872" cy="118872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43" name="Shape 40"/>
          <p:cNvSpPr/>
          <p:nvPr/>
        </p:nvSpPr>
        <p:spPr>
          <a:xfrm>
            <a:off x="2944241" y="3028950"/>
            <a:ext cx="118872" cy="118872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44" name="Shape 41"/>
          <p:cNvSpPr/>
          <p:nvPr/>
        </p:nvSpPr>
        <p:spPr>
          <a:xfrm>
            <a:off x="4925187" y="3028950"/>
            <a:ext cx="118872" cy="118872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45" name="Shape 42"/>
          <p:cNvSpPr/>
          <p:nvPr/>
        </p:nvSpPr>
        <p:spPr>
          <a:xfrm>
            <a:off x="2968358" y="3051810"/>
            <a:ext cx="73152" cy="73152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46" name="Text 43"/>
          <p:cNvSpPr txBox="1"/>
          <p:nvPr/>
        </p:nvSpPr>
        <p:spPr>
          <a:xfrm>
            <a:off x="7498080" y="2967228"/>
            <a:ext cx="1234440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6A34A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-120"/>
              </a:rPr>
              <a:t>2/2</a:t>
            </a:r>
            <a:endParaRPr lang="en-US" sz="900" dirty="0"/>
          </a:p>
        </p:txBody>
      </p:sp>
      <p:sp>
        <p:nvSpPr>
          <p:cNvPr id="47" name="Text 44"/>
          <p:cNvSpPr txBox="1"/>
          <p:nvPr/>
        </p:nvSpPr>
        <p:spPr>
          <a:xfrm>
            <a:off x="411480" y="3209544"/>
            <a:ext cx="1874520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0B122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Conveyor, belt slip</a:t>
            </a:r>
            <a:endParaRPr lang="en-US" sz="820" dirty="0"/>
          </a:p>
        </p:txBody>
      </p:sp>
      <p:sp>
        <p:nvSpPr>
          <p:cNvPr id="48" name="Shape 45"/>
          <p:cNvSpPr/>
          <p:nvPr/>
        </p:nvSpPr>
        <p:spPr>
          <a:xfrm>
            <a:off x="2331720" y="3330702"/>
            <a:ext cx="5029200" cy="0"/>
          </a:xfrm>
          <a:prstGeom prst="line">
            <a:avLst/>
          </a:prstGeom>
          <a:noFill/>
          <a:ln w="9525">
            <a:solidFill>
              <a:srgbClr val="D5DBE4"/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2569210" y="3312414"/>
            <a:ext cx="4791710" cy="36576"/>
          </a:xfrm>
          <a:prstGeom prst="rect">
            <a:avLst/>
          </a:prstGeom>
          <a:solidFill>
            <a:srgbClr val="BFD3FB"/>
          </a:solidFill>
          <a:ln/>
        </p:spPr>
      </p:sp>
      <p:sp>
        <p:nvSpPr>
          <p:cNvPr id="50" name="Shape 47"/>
          <p:cNvSpPr/>
          <p:nvPr/>
        </p:nvSpPr>
        <p:spPr>
          <a:xfrm>
            <a:off x="2509774" y="3271266"/>
            <a:ext cx="118872" cy="118872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51" name="Shape 48"/>
          <p:cNvSpPr/>
          <p:nvPr/>
        </p:nvSpPr>
        <p:spPr>
          <a:xfrm>
            <a:off x="2945638" y="3271266"/>
            <a:ext cx="118872" cy="118872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52" name="Shape 49"/>
          <p:cNvSpPr/>
          <p:nvPr/>
        </p:nvSpPr>
        <p:spPr>
          <a:xfrm>
            <a:off x="2970035" y="3294126"/>
            <a:ext cx="73152" cy="73152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53" name="Text 50"/>
          <p:cNvSpPr txBox="1"/>
          <p:nvPr/>
        </p:nvSpPr>
        <p:spPr>
          <a:xfrm>
            <a:off x="6019800" y="3209544"/>
            <a:ext cx="1005840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i="1" dirty="0">
                <a:solidFill>
                  <a:srgbClr val="6B768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limit not reached</a:t>
            </a:r>
            <a:endParaRPr lang="en-US" sz="680" dirty="0"/>
          </a:p>
        </p:txBody>
      </p:sp>
      <p:sp>
        <p:nvSpPr>
          <p:cNvPr id="54" name="Text 51"/>
          <p:cNvSpPr txBox="1"/>
          <p:nvPr/>
        </p:nvSpPr>
        <p:spPr>
          <a:xfrm>
            <a:off x="7498080" y="3209544"/>
            <a:ext cx="1234440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6A34A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-120"/>
              </a:rPr>
              <a:t>2/2</a:t>
            </a:r>
            <a:endParaRPr lang="en-US" sz="900" dirty="0"/>
          </a:p>
        </p:txBody>
      </p:sp>
      <p:sp>
        <p:nvSpPr>
          <p:cNvPr id="55" name="Text 52"/>
          <p:cNvSpPr txBox="1"/>
          <p:nvPr/>
        </p:nvSpPr>
        <p:spPr>
          <a:xfrm>
            <a:off x="411480" y="3451860"/>
            <a:ext cx="1874520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0B122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Conveyor, jam or overload</a:t>
            </a:r>
            <a:endParaRPr lang="en-US" sz="820" dirty="0"/>
          </a:p>
        </p:txBody>
      </p:sp>
      <p:sp>
        <p:nvSpPr>
          <p:cNvPr id="56" name="Shape 53"/>
          <p:cNvSpPr/>
          <p:nvPr/>
        </p:nvSpPr>
        <p:spPr>
          <a:xfrm>
            <a:off x="2331720" y="3573018"/>
            <a:ext cx="5029200" cy="0"/>
          </a:xfrm>
          <a:prstGeom prst="line">
            <a:avLst/>
          </a:prstGeom>
          <a:noFill/>
          <a:ln w="9525">
            <a:solidFill>
              <a:srgbClr val="D5DBE4"/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>
            <a:off x="2444877" y="3554730"/>
            <a:ext cx="1874774" cy="36576"/>
          </a:xfrm>
          <a:prstGeom prst="rect">
            <a:avLst/>
          </a:prstGeom>
          <a:solidFill>
            <a:srgbClr val="BFD3FB"/>
          </a:solidFill>
          <a:ln/>
        </p:spPr>
      </p:sp>
      <p:sp>
        <p:nvSpPr>
          <p:cNvPr id="58" name="Shape 55"/>
          <p:cNvSpPr/>
          <p:nvPr/>
        </p:nvSpPr>
        <p:spPr>
          <a:xfrm>
            <a:off x="2385441" y="3513582"/>
            <a:ext cx="118872" cy="118872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59" name="Shape 56"/>
          <p:cNvSpPr/>
          <p:nvPr/>
        </p:nvSpPr>
        <p:spPr>
          <a:xfrm>
            <a:off x="2861818" y="3513582"/>
            <a:ext cx="118872" cy="118872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60" name="Shape 57"/>
          <p:cNvSpPr/>
          <p:nvPr/>
        </p:nvSpPr>
        <p:spPr>
          <a:xfrm>
            <a:off x="4260215" y="3513582"/>
            <a:ext cx="118872" cy="118872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61" name="Shape 58"/>
          <p:cNvSpPr/>
          <p:nvPr/>
        </p:nvSpPr>
        <p:spPr>
          <a:xfrm>
            <a:off x="2886075" y="3536442"/>
            <a:ext cx="73152" cy="73152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62" name="Text 59"/>
          <p:cNvSpPr txBox="1"/>
          <p:nvPr/>
        </p:nvSpPr>
        <p:spPr>
          <a:xfrm>
            <a:off x="7498080" y="3451860"/>
            <a:ext cx="1234440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6A34A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-120"/>
              </a:rPr>
              <a:t>2/2</a:t>
            </a:r>
            <a:endParaRPr lang="en-US" sz="900" dirty="0"/>
          </a:p>
        </p:txBody>
      </p:sp>
      <p:sp>
        <p:nvSpPr>
          <p:cNvPr id="63" name="Text 60"/>
          <p:cNvSpPr txBox="1"/>
          <p:nvPr/>
        </p:nvSpPr>
        <p:spPr>
          <a:xfrm>
            <a:off x="411480" y="3694176"/>
            <a:ext cx="1874520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0B122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Conveyor, sensor failure</a:t>
            </a:r>
            <a:endParaRPr lang="en-US" sz="820" dirty="0"/>
          </a:p>
        </p:txBody>
      </p:sp>
      <p:sp>
        <p:nvSpPr>
          <p:cNvPr id="64" name="Shape 61"/>
          <p:cNvSpPr/>
          <p:nvPr/>
        </p:nvSpPr>
        <p:spPr>
          <a:xfrm>
            <a:off x="2331720" y="3815334"/>
            <a:ext cx="5029200" cy="0"/>
          </a:xfrm>
          <a:prstGeom prst="line">
            <a:avLst/>
          </a:prstGeom>
          <a:noFill/>
          <a:ln w="9525">
            <a:solidFill>
              <a:srgbClr val="D5DBE4"/>
            </a:solidFill>
            <a:prstDash val="solid"/>
          </a:ln>
        </p:spPr>
      </p:sp>
      <p:sp>
        <p:nvSpPr>
          <p:cNvPr id="65" name="Shape 62"/>
          <p:cNvSpPr/>
          <p:nvPr/>
        </p:nvSpPr>
        <p:spPr>
          <a:xfrm>
            <a:off x="2344293" y="3797046"/>
            <a:ext cx="9144" cy="36576"/>
          </a:xfrm>
          <a:prstGeom prst="rect">
            <a:avLst/>
          </a:prstGeom>
          <a:solidFill>
            <a:srgbClr val="BFD3FB"/>
          </a:solidFill>
          <a:ln/>
        </p:spPr>
      </p:sp>
      <p:sp>
        <p:nvSpPr>
          <p:cNvPr id="66" name="Shape 63"/>
          <p:cNvSpPr/>
          <p:nvPr/>
        </p:nvSpPr>
        <p:spPr>
          <a:xfrm>
            <a:off x="2284857" y="3755898"/>
            <a:ext cx="118872" cy="118872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67" name="Shape 64"/>
          <p:cNvSpPr/>
          <p:nvPr/>
        </p:nvSpPr>
        <p:spPr>
          <a:xfrm>
            <a:off x="2284857" y="3755898"/>
            <a:ext cx="118872" cy="118872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68" name="Shape 65"/>
          <p:cNvSpPr/>
          <p:nvPr/>
        </p:nvSpPr>
        <p:spPr>
          <a:xfrm>
            <a:off x="2284857" y="3755898"/>
            <a:ext cx="118872" cy="118872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69" name="Shape 66"/>
          <p:cNvSpPr/>
          <p:nvPr/>
        </p:nvSpPr>
        <p:spPr>
          <a:xfrm>
            <a:off x="2308276" y="3778758"/>
            <a:ext cx="73152" cy="73152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70" name="Text 67"/>
          <p:cNvSpPr txBox="1"/>
          <p:nvPr/>
        </p:nvSpPr>
        <p:spPr>
          <a:xfrm>
            <a:off x="7498080" y="3694176"/>
            <a:ext cx="1234440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C2626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-120"/>
              </a:rPr>
              <a:t>0/2</a:t>
            </a:r>
            <a:endParaRPr lang="en-US" sz="900" dirty="0"/>
          </a:p>
        </p:txBody>
      </p:sp>
      <p:sp>
        <p:nvSpPr>
          <p:cNvPr id="71" name="Text 68"/>
          <p:cNvSpPr txBox="1"/>
          <p:nvPr/>
        </p:nvSpPr>
        <p:spPr>
          <a:xfrm>
            <a:off x="411480" y="3936492"/>
            <a:ext cx="1874520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0B122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Pump, bearing wear</a:t>
            </a:r>
            <a:endParaRPr lang="en-US" sz="820" dirty="0"/>
          </a:p>
        </p:txBody>
      </p:sp>
      <p:sp>
        <p:nvSpPr>
          <p:cNvPr id="72" name="Shape 69"/>
          <p:cNvSpPr/>
          <p:nvPr/>
        </p:nvSpPr>
        <p:spPr>
          <a:xfrm>
            <a:off x="2331720" y="4057650"/>
            <a:ext cx="5029200" cy="0"/>
          </a:xfrm>
          <a:prstGeom prst="line">
            <a:avLst/>
          </a:prstGeom>
          <a:noFill/>
          <a:ln w="9525">
            <a:solidFill>
              <a:srgbClr val="D5DBE4"/>
            </a:solidFill>
            <a:prstDash val="solid"/>
          </a:ln>
        </p:spPr>
      </p:sp>
      <p:sp>
        <p:nvSpPr>
          <p:cNvPr id="73" name="Shape 70"/>
          <p:cNvSpPr/>
          <p:nvPr/>
        </p:nvSpPr>
        <p:spPr>
          <a:xfrm>
            <a:off x="2640457" y="4039362"/>
            <a:ext cx="3280156" cy="36576"/>
          </a:xfrm>
          <a:prstGeom prst="rect">
            <a:avLst/>
          </a:prstGeom>
          <a:solidFill>
            <a:srgbClr val="BFD3FB"/>
          </a:solidFill>
          <a:ln/>
        </p:spPr>
      </p:sp>
      <p:sp>
        <p:nvSpPr>
          <p:cNvPr id="74" name="Shape 71"/>
          <p:cNvSpPr/>
          <p:nvPr/>
        </p:nvSpPr>
        <p:spPr>
          <a:xfrm>
            <a:off x="2581021" y="3998214"/>
            <a:ext cx="118872" cy="118872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75" name="Shape 72"/>
          <p:cNvSpPr/>
          <p:nvPr/>
        </p:nvSpPr>
        <p:spPr>
          <a:xfrm>
            <a:off x="2905125" y="3998214"/>
            <a:ext cx="118872" cy="118872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76" name="Shape 73"/>
          <p:cNvSpPr/>
          <p:nvPr/>
        </p:nvSpPr>
        <p:spPr>
          <a:xfrm>
            <a:off x="5861177" y="3998214"/>
            <a:ext cx="118872" cy="118872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77" name="Shape 74"/>
          <p:cNvSpPr/>
          <p:nvPr/>
        </p:nvSpPr>
        <p:spPr>
          <a:xfrm>
            <a:off x="2929941" y="4021074"/>
            <a:ext cx="73152" cy="73152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78" name="Text 75"/>
          <p:cNvSpPr txBox="1"/>
          <p:nvPr/>
        </p:nvSpPr>
        <p:spPr>
          <a:xfrm>
            <a:off x="7498080" y="3936492"/>
            <a:ext cx="1234440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6A34A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-120"/>
              </a:rPr>
              <a:t>2/2</a:t>
            </a:r>
            <a:endParaRPr lang="en-US" sz="900" dirty="0"/>
          </a:p>
        </p:txBody>
      </p:sp>
      <p:sp>
        <p:nvSpPr>
          <p:cNvPr id="79" name="Text 76"/>
          <p:cNvSpPr txBox="1"/>
          <p:nvPr/>
        </p:nvSpPr>
        <p:spPr>
          <a:xfrm>
            <a:off x="411480" y="4178808"/>
            <a:ext cx="1874520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0B122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Compressor, cooling failure</a:t>
            </a:r>
            <a:endParaRPr lang="en-US" sz="820" dirty="0"/>
          </a:p>
        </p:txBody>
      </p:sp>
      <p:sp>
        <p:nvSpPr>
          <p:cNvPr id="80" name="Shape 77"/>
          <p:cNvSpPr/>
          <p:nvPr/>
        </p:nvSpPr>
        <p:spPr>
          <a:xfrm>
            <a:off x="2331720" y="4299966"/>
            <a:ext cx="5029200" cy="0"/>
          </a:xfrm>
          <a:prstGeom prst="line">
            <a:avLst/>
          </a:prstGeom>
          <a:noFill/>
          <a:ln w="9525">
            <a:solidFill>
              <a:srgbClr val="D5DBE4"/>
            </a:solidFill>
            <a:prstDash val="solid"/>
          </a:ln>
        </p:spPr>
      </p:sp>
      <p:sp>
        <p:nvSpPr>
          <p:cNvPr id="81" name="Shape 78"/>
          <p:cNvSpPr/>
          <p:nvPr/>
        </p:nvSpPr>
        <p:spPr>
          <a:xfrm>
            <a:off x="2472817" y="4281678"/>
            <a:ext cx="4888103" cy="36576"/>
          </a:xfrm>
          <a:prstGeom prst="rect">
            <a:avLst/>
          </a:prstGeom>
          <a:solidFill>
            <a:srgbClr val="BFD3FB"/>
          </a:solidFill>
          <a:ln/>
        </p:spPr>
      </p:sp>
      <p:sp>
        <p:nvSpPr>
          <p:cNvPr id="82" name="Shape 79"/>
          <p:cNvSpPr/>
          <p:nvPr/>
        </p:nvSpPr>
        <p:spPr>
          <a:xfrm>
            <a:off x="2413381" y="4240530"/>
            <a:ext cx="118872" cy="118872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83" name="Shape 80"/>
          <p:cNvSpPr/>
          <p:nvPr/>
        </p:nvSpPr>
        <p:spPr>
          <a:xfrm>
            <a:off x="2930271" y="4240530"/>
            <a:ext cx="118872" cy="118872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84" name="Shape 81"/>
          <p:cNvSpPr/>
          <p:nvPr/>
        </p:nvSpPr>
        <p:spPr>
          <a:xfrm>
            <a:off x="2954249" y="4263390"/>
            <a:ext cx="73152" cy="73152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85" name="Text 82"/>
          <p:cNvSpPr txBox="1"/>
          <p:nvPr/>
        </p:nvSpPr>
        <p:spPr>
          <a:xfrm>
            <a:off x="6019800" y="4178808"/>
            <a:ext cx="1005840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i="1" dirty="0">
                <a:solidFill>
                  <a:srgbClr val="6B768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limit not reached</a:t>
            </a:r>
            <a:endParaRPr lang="en-US" sz="680" dirty="0"/>
          </a:p>
        </p:txBody>
      </p:sp>
      <p:sp>
        <p:nvSpPr>
          <p:cNvPr id="86" name="Text 83"/>
          <p:cNvSpPr txBox="1"/>
          <p:nvPr/>
        </p:nvSpPr>
        <p:spPr>
          <a:xfrm>
            <a:off x="7498080" y="4178808"/>
            <a:ext cx="1234440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97706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-120"/>
              </a:rPr>
              <a:t>1/2</a:t>
            </a:r>
            <a:endParaRPr lang="en-US" sz="900" dirty="0"/>
          </a:p>
        </p:txBody>
      </p:sp>
      <p:sp>
        <p:nvSpPr>
          <p:cNvPr id="87" name="Text 84"/>
          <p:cNvSpPr txBox="1"/>
          <p:nvPr/>
        </p:nvSpPr>
        <p:spPr>
          <a:xfrm>
            <a:off x="411480" y="4421124"/>
            <a:ext cx="1874520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0B122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Sealer, heater degradation</a:t>
            </a:r>
            <a:endParaRPr lang="en-US" sz="820" dirty="0"/>
          </a:p>
        </p:txBody>
      </p:sp>
      <p:sp>
        <p:nvSpPr>
          <p:cNvPr id="88" name="Shape 85"/>
          <p:cNvSpPr/>
          <p:nvPr/>
        </p:nvSpPr>
        <p:spPr>
          <a:xfrm>
            <a:off x="2331720" y="4542282"/>
            <a:ext cx="5029200" cy="0"/>
          </a:xfrm>
          <a:prstGeom prst="line">
            <a:avLst/>
          </a:prstGeom>
          <a:noFill/>
          <a:ln w="9525">
            <a:solidFill>
              <a:srgbClr val="D5DBE4"/>
            </a:solidFill>
            <a:prstDash val="solid"/>
          </a:ln>
        </p:spPr>
      </p:sp>
      <p:sp>
        <p:nvSpPr>
          <p:cNvPr id="89" name="Shape 86"/>
          <p:cNvSpPr/>
          <p:nvPr/>
        </p:nvSpPr>
        <p:spPr>
          <a:xfrm>
            <a:off x="2555240" y="4523994"/>
            <a:ext cx="2652903" cy="36576"/>
          </a:xfrm>
          <a:prstGeom prst="rect">
            <a:avLst/>
          </a:prstGeom>
          <a:solidFill>
            <a:srgbClr val="BFD3FB"/>
          </a:solidFill>
          <a:ln/>
        </p:spPr>
      </p:sp>
      <p:sp>
        <p:nvSpPr>
          <p:cNvPr id="90" name="Shape 87"/>
          <p:cNvSpPr/>
          <p:nvPr/>
        </p:nvSpPr>
        <p:spPr>
          <a:xfrm>
            <a:off x="2495804" y="4482846"/>
            <a:ext cx="118872" cy="118872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91" name="Shape 88"/>
          <p:cNvSpPr/>
          <p:nvPr/>
        </p:nvSpPr>
        <p:spPr>
          <a:xfrm>
            <a:off x="3001518" y="4482846"/>
            <a:ext cx="118872" cy="118872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92" name="Shape 89"/>
          <p:cNvSpPr/>
          <p:nvPr/>
        </p:nvSpPr>
        <p:spPr>
          <a:xfrm>
            <a:off x="5148707" y="4482846"/>
            <a:ext cx="118872" cy="118872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93" name="Shape 90"/>
          <p:cNvSpPr/>
          <p:nvPr/>
        </p:nvSpPr>
        <p:spPr>
          <a:xfrm>
            <a:off x="3024937" y="4505706"/>
            <a:ext cx="73152" cy="73152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94" name="Text 91"/>
          <p:cNvSpPr txBox="1"/>
          <p:nvPr/>
        </p:nvSpPr>
        <p:spPr>
          <a:xfrm>
            <a:off x="7498080" y="4421124"/>
            <a:ext cx="1234440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6A34A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-120"/>
              </a:rPr>
              <a:t>2/2</a:t>
            </a:r>
            <a:endParaRPr lang="en-US" sz="900" dirty="0"/>
          </a:p>
        </p:txBody>
      </p:sp>
      <p:sp>
        <p:nvSpPr>
          <p:cNvPr id="95" name="Shape 92"/>
          <p:cNvSpPr/>
          <p:nvPr/>
        </p:nvSpPr>
        <p:spPr>
          <a:xfrm>
            <a:off x="4983480" y="2350008"/>
            <a:ext cx="91440" cy="9144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96" name="Text 93"/>
          <p:cNvSpPr txBox="1"/>
          <p:nvPr/>
        </p:nvSpPr>
        <p:spPr>
          <a:xfrm>
            <a:off x="5111496" y="2304288"/>
            <a:ext cx="804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A455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first signal</a:t>
            </a:r>
            <a:endParaRPr lang="en-US" sz="750" dirty="0"/>
          </a:p>
        </p:txBody>
      </p:sp>
      <p:sp>
        <p:nvSpPr>
          <p:cNvPr id="97" name="Shape 94"/>
          <p:cNvSpPr/>
          <p:nvPr/>
        </p:nvSpPr>
        <p:spPr>
          <a:xfrm>
            <a:off x="5925312" y="2350008"/>
            <a:ext cx="91440" cy="9144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98" name="Text 95"/>
          <p:cNvSpPr txBox="1"/>
          <p:nvPr/>
        </p:nvSpPr>
        <p:spPr>
          <a:xfrm>
            <a:off x="6053328" y="2304288"/>
            <a:ext cx="804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A455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incident</a:t>
            </a:r>
            <a:endParaRPr lang="en-US" sz="750" dirty="0"/>
          </a:p>
        </p:txBody>
      </p:sp>
      <p:sp>
        <p:nvSpPr>
          <p:cNvPr id="99" name="Shape 96"/>
          <p:cNvSpPr/>
          <p:nvPr/>
        </p:nvSpPr>
        <p:spPr>
          <a:xfrm>
            <a:off x="6867144" y="2350008"/>
            <a:ext cx="91440" cy="9144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100" name="Text 97"/>
          <p:cNvSpPr txBox="1"/>
          <p:nvPr/>
        </p:nvSpPr>
        <p:spPr>
          <a:xfrm>
            <a:off x="6995160" y="2304288"/>
            <a:ext cx="804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A455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report</a:t>
            </a:r>
            <a:endParaRPr lang="en-US" sz="750" dirty="0"/>
          </a:p>
        </p:txBody>
      </p:sp>
      <p:sp>
        <p:nvSpPr>
          <p:cNvPr id="101" name="Shape 98"/>
          <p:cNvSpPr/>
          <p:nvPr/>
        </p:nvSpPr>
        <p:spPr>
          <a:xfrm>
            <a:off x="7808976" y="2350008"/>
            <a:ext cx="91440" cy="9144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102" name="Text 99"/>
          <p:cNvSpPr txBox="1"/>
          <p:nvPr/>
        </p:nvSpPr>
        <p:spPr>
          <a:xfrm>
            <a:off x="7936992" y="2304288"/>
            <a:ext cx="804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A455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critical limit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66760" y="4846320"/>
            <a:ext cx="36576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A0A8B5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411480" y="621792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200" kern="0" dirty="0">
                <a:solidFill>
                  <a:srgbClr val="2563EB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-120"/>
              </a:rPr>
              <a:t>10 / PROTOTYPE PERFORMANCE REPORT / BENCHMARKING (2 OF 2)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82296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0B1220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Fast enough to run a whole plant on one small container</a:t>
            </a:r>
            <a:endParaRPr lang="en-US" sz="25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38328" y="1371600"/>
          <a:ext cx="2697480" cy="2148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2"/>
          <p:cNvSpPr txBox="1"/>
          <p:nvPr/>
        </p:nvSpPr>
        <p:spPr>
          <a:xfrm>
            <a:off x="411480" y="35478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80" dirty="0">
                <a:solidFill>
                  <a:srgbClr val="3A455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16 machines, 5 parameters each, at 1 Hz: 80 readings a second, each validated, stored and run through detection.</a:t>
            </a:r>
            <a:endParaRPr lang="en-US" sz="780" dirty="0"/>
          </a:p>
        </p:txBody>
      </p:sp>
      <p:sp>
        <p:nvSpPr>
          <p:cNvPr id="7" name="Shape 3"/>
          <p:cNvSpPr/>
          <p:nvPr/>
        </p:nvSpPr>
        <p:spPr>
          <a:xfrm>
            <a:off x="3154680" y="1444752"/>
            <a:ext cx="0" cy="2560320"/>
          </a:xfrm>
          <a:prstGeom prst="line">
            <a:avLst/>
          </a:prstGeom>
          <a:noFill/>
          <a:ln w="9525">
            <a:solidFill>
              <a:srgbClr val="E3E7EE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3383280" y="137160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563EB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6.4 ms</a:t>
            </a:r>
            <a:endParaRPr lang="en-US" sz="3000" dirty="0"/>
          </a:p>
        </p:txBody>
      </p:sp>
      <p:sp>
        <p:nvSpPr>
          <p:cNvPr id="9" name="Text 5"/>
          <p:cNvSpPr txBox="1"/>
          <p:nvPr/>
        </p:nvSpPr>
        <p:spPr>
          <a:xfrm>
            <a:off x="3383280" y="18745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3A455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median ingest round trip at a plant's normal load</a:t>
            </a:r>
            <a:endParaRPr lang="en-US" sz="800" dirty="0"/>
          </a:p>
        </p:txBody>
      </p:sp>
      <p:sp>
        <p:nvSpPr>
          <p:cNvPr id="10" name="Text 6"/>
          <p:cNvSpPr txBox="1"/>
          <p:nvPr/>
        </p:nvSpPr>
        <p:spPr>
          <a:xfrm>
            <a:off x="6080760" y="137160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7C3AED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5.7×</a:t>
            </a:r>
            <a:endParaRPr lang="en-US" sz="3000" dirty="0"/>
          </a:p>
        </p:txBody>
      </p:sp>
      <p:sp>
        <p:nvSpPr>
          <p:cNvPr id="11" name="Text 7"/>
          <p:cNvSpPr txBox="1"/>
          <p:nvPr/>
        </p:nvSpPr>
        <p:spPr>
          <a:xfrm>
            <a:off x="6080760" y="18745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3A455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headroom: one container sustains ~120 readings/s, the demo plant needs 21</a:t>
            </a:r>
            <a:endParaRPr lang="en-US" sz="800" dirty="0"/>
          </a:p>
        </p:txBody>
      </p:sp>
      <p:sp>
        <p:nvSpPr>
          <p:cNvPr id="12" name="Text 8"/>
          <p:cNvSpPr txBox="1"/>
          <p:nvPr/>
        </p:nvSpPr>
        <p:spPr>
          <a:xfrm>
            <a:off x="3383280" y="228600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A34A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0.03 s</a:t>
            </a:r>
            <a:endParaRPr lang="en-US" sz="3000" dirty="0"/>
          </a:p>
        </p:txBody>
      </p:sp>
      <p:sp>
        <p:nvSpPr>
          <p:cNvPr id="13" name="Text 9"/>
          <p:cNvSpPr txBox="1"/>
          <p:nvPr/>
        </p:nvSpPr>
        <p:spPr>
          <a:xfrm>
            <a:off x="3383280" y="27889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3A455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median from incident to finished report, fallback investigator, local run</a:t>
            </a:r>
            <a:endParaRPr lang="en-US" sz="800" dirty="0"/>
          </a:p>
        </p:txBody>
      </p:sp>
      <p:sp>
        <p:nvSpPr>
          <p:cNvPr id="14" name="Text 10"/>
          <p:cNvSpPr txBox="1"/>
          <p:nvPr/>
        </p:nvSpPr>
        <p:spPr>
          <a:xfrm>
            <a:off x="6080760" y="228600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97706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14/16</a:t>
            </a:r>
            <a:endParaRPr lang="en-US" sz="3000" dirty="0"/>
          </a:p>
        </p:txBody>
      </p:sp>
      <p:sp>
        <p:nvSpPr>
          <p:cNvPr id="15" name="Text 11"/>
          <p:cNvSpPr txBox="1"/>
          <p:nvPr/>
        </p:nvSpPr>
        <p:spPr>
          <a:xfrm>
            <a:off x="6080760" y="27889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3A455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runs where the trend layer raised the first warning, before any limit was crossed</a:t>
            </a:r>
            <a:endParaRPr lang="en-US" sz="800" dirty="0"/>
          </a:p>
        </p:txBody>
      </p:sp>
      <p:sp>
        <p:nvSpPr>
          <p:cNvPr id="16" name="Shape 12"/>
          <p:cNvSpPr/>
          <p:nvPr/>
        </p:nvSpPr>
        <p:spPr>
          <a:xfrm>
            <a:off x="3383280" y="3310128"/>
            <a:ext cx="5349240" cy="640080"/>
          </a:xfrm>
          <a:prstGeom prst="roundRect">
            <a:avLst>
              <a:gd name="adj" fmla="val 7143"/>
            </a:avLst>
          </a:prstGeom>
          <a:solidFill>
            <a:srgbClr val="FEF3E2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3493008" y="3319272"/>
            <a:ext cx="512978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D97706"/>
                </a:solidFill>
                <a:latin typeface="Barlow SemiBold" pitchFamily="34" charset="0"/>
                <a:ea typeface="Barlow SemiBold" pitchFamily="34" charset="-122"/>
                <a:cs typeface="Barlow SemiBold" pitchFamily="34" charset="-120"/>
              </a:rPr>
              <a:t>About the Gemini path. </a:t>
            </a:r>
            <a:pPr indent="0" marL="0">
              <a:buNone/>
            </a:pPr>
            <a:r>
              <a:rPr lang="en-US" sz="780" dirty="0">
                <a:solidFill>
                  <a:srgbClr val="0B122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On Cloud Run the six-stage ADK pipeline runs on Vertex AI, and each run's duration and tool calls appear on the Observability page. This benchmark ran on a laptop without Vertex credentials, so it measures detection and the fallback investigator.</a:t>
            </a:r>
            <a:endParaRPr lang="en-US" sz="780" dirty="0"/>
          </a:p>
        </p:txBody>
      </p:sp>
      <p:sp>
        <p:nvSpPr>
          <p:cNvPr id="18" name="Shape 14"/>
          <p:cNvSpPr/>
          <p:nvPr/>
        </p:nvSpPr>
        <p:spPr>
          <a:xfrm>
            <a:off x="411480" y="4078224"/>
            <a:ext cx="8321040" cy="0"/>
          </a:xfrm>
          <a:prstGeom prst="line">
            <a:avLst/>
          </a:prstGeom>
          <a:noFill/>
          <a:ln w="9525">
            <a:solidFill>
              <a:srgbClr val="E3E7EE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411480" y="4133088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50" kern="0" dirty="0">
                <a:solidFill>
                  <a:srgbClr val="6B7686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-120"/>
              </a:rPr>
              <a:t>WHAT THE TESTS TAUGHT US</a:t>
            </a:r>
            <a:endParaRPr lang="en-US" sz="750" dirty="0"/>
          </a:p>
        </p:txBody>
      </p:sp>
      <p:sp>
        <p:nvSpPr>
          <p:cNvPr id="20" name="Text 16"/>
          <p:cNvSpPr txBox="1"/>
          <p:nvPr/>
        </p:nvSpPr>
        <p:spPr>
          <a:xfrm>
            <a:off x="411480" y="4334256"/>
            <a:ext cx="8321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spcAft>
                <a:spcPts val="100"/>
              </a:spcAft>
              <a:buSzPct val="100000"/>
              <a:buChar char="•"/>
            </a:pPr>
            <a:r>
              <a:rPr lang="en-US" sz="760" dirty="0">
                <a:solidFill>
                  <a:srgbClr val="3A455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Misses: sensor failure twice (a reading that drops to zero was read as belt slip) and one compressor run that blamed a belt it does not have. Fix: a step-change signature, and skip causes whose key parameter a machine lacks.</a:t>
            </a:r>
            <a:endParaRPr lang="en-US" sz="760" dirty="0"/>
          </a:p>
          <a:p>
            <a:pPr marL="114300" indent="-114300">
              <a:spcAft>
                <a:spcPts val="100"/>
              </a:spcAft>
              <a:buSzPct val="100000"/>
              <a:buChar char="•"/>
            </a:pPr>
            <a:r>
              <a:rPr lang="en-US" sz="760" dirty="0">
                <a:solidFill>
                  <a:srgbClr val="3A455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The guardrail marked 20 derived numbers (mostly ETA seconds) as [unverified] in 11 of 16 reports. It is strict on purpose; values our own tools compute will be whitelisted.</a:t>
            </a:r>
            <a:endParaRPr lang="en-US" sz="760" dirty="0"/>
          </a:p>
          <a:p>
            <a:pPr marL="114300" indent="-114300">
              <a:spcAft>
                <a:spcPts val="100"/>
              </a:spcAft>
              <a:buSzPct val="100000"/>
              <a:buChar char="•"/>
            </a:pPr>
            <a:r>
              <a:rPr lang="en-US" sz="760" dirty="0">
                <a:solidFill>
                  <a:srgbClr val="3A455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242 of 254 info events in normal running came from a counter (items_packed). They never open incidents, and counters will be excluded from the z-score check.</a:t>
            </a:r>
            <a:endParaRPr lang="en-US" sz="76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66760" y="4846320"/>
            <a:ext cx="36576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A0A8B5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411480" y="621792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200" kern="0" dirty="0">
                <a:solidFill>
                  <a:srgbClr val="2563EB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-120"/>
              </a:rPr>
              <a:t>11 / ADDITIONAL DETAILS AND FUTURE DEVELOPMENT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82296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0B1220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Next: more machines, more languages, earlier warnings</a:t>
            </a:r>
            <a:endParaRPr lang="en-US" sz="2500" dirty="0"/>
          </a:p>
        </p:txBody>
      </p:sp>
      <p:sp>
        <p:nvSpPr>
          <p:cNvPr id="5" name="Shape 2"/>
          <p:cNvSpPr/>
          <p:nvPr/>
        </p:nvSpPr>
        <p:spPr>
          <a:xfrm>
            <a:off x="411480" y="1517904"/>
            <a:ext cx="109728" cy="10972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594360" y="1417320"/>
            <a:ext cx="2407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Next 3 months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411480" y="1810512"/>
            <a:ext cx="2453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0B122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OPC UA, Modbus TCP and MQTT gateway connectors</a:t>
            </a:r>
            <a:endParaRPr lang="en-US" sz="900" dirty="0"/>
          </a:p>
          <a:p>
            <a:pPr marL="101600" indent="-1016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0B122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WhatsApp and SMS escalation; Hindi, Tamil, Bahasa and Japanese voice</a:t>
            </a:r>
            <a:endParaRPr lang="en-US" sz="900" dirty="0"/>
          </a:p>
          <a:p>
            <a:pPr marL="101600" indent="-1016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0B122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The agent reads resolved incidents with confirmed causes as evidence</a:t>
            </a:r>
            <a:endParaRPr lang="en-US" sz="900" dirty="0"/>
          </a:p>
          <a:p>
            <a:pPr marL="101600" indent="-1016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0B122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Postgres or AlloyDB for many tenants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3185160" y="1444752"/>
            <a:ext cx="0" cy="2194560"/>
          </a:xfrm>
          <a:prstGeom prst="line">
            <a:avLst/>
          </a:prstGeom>
          <a:noFill/>
          <a:ln w="9525">
            <a:solidFill>
              <a:srgbClr val="E3E7EE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368040" y="1517904"/>
            <a:ext cx="109728" cy="109728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3550920" y="1417320"/>
            <a:ext cx="2407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7C3AED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3 to 9 months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3368040" y="1810512"/>
            <a:ext cx="2453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0B122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Dataflow streaming features (rolling RMS, spectra) into BigQuery</a:t>
            </a:r>
            <a:endParaRPr lang="en-US" sz="900" dirty="0"/>
          </a:p>
          <a:p>
            <a:pPr marL="101600" indent="-1016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0B122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Vertex AI remaining-useful-life models trained on BigQuery history</a:t>
            </a:r>
            <a:endParaRPr lang="en-US" sz="900" dirty="0"/>
          </a:p>
          <a:p>
            <a:pPr marL="101600" indent="-1016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0B122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Camera-based visual quality inspection linked to reject rate</a:t>
            </a:r>
            <a:endParaRPr lang="en-US" sz="900" dirty="0"/>
          </a:p>
          <a:p>
            <a:pPr marL="101600" indent="-1016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0B122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Work orders synced with SAP PM and IBM Maximo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5958840" y="1444752"/>
            <a:ext cx="0" cy="2194560"/>
          </a:xfrm>
          <a:prstGeom prst="line">
            <a:avLst/>
          </a:prstGeom>
          <a:noFill/>
          <a:ln w="9525">
            <a:solidFill>
              <a:srgbClr val="E3E7EE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141720" y="1517904"/>
            <a:ext cx="109728" cy="109728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6324600" y="1417320"/>
            <a:ext cx="2407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9 to 18 months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6141720" y="1810512"/>
            <a:ext cx="2453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0B122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Energy per unit, compressed-air leaks and idle power alerts</a:t>
            </a:r>
            <a:endParaRPr lang="en-US" sz="900" dirty="0"/>
          </a:p>
          <a:p>
            <a:pPr marL="101600" indent="-1016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0B122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Benchmarks across sites for integrators and plant groups</a:t>
            </a:r>
            <a:endParaRPr lang="en-US" sz="900" dirty="0"/>
          </a:p>
          <a:p>
            <a:pPr marL="101600" indent="-1016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0B122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Spare-parts demand forecast from failure history</a:t>
            </a:r>
            <a:endParaRPr lang="en-US" sz="900" dirty="0"/>
          </a:p>
          <a:p>
            <a:pPr marL="101600" indent="-1016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0B122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Lock-out and tag-out checklists inside the call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411480" y="3840480"/>
            <a:ext cx="8321040" cy="960120"/>
          </a:xfrm>
          <a:prstGeom prst="roundRect">
            <a:avLst>
              <a:gd name="adj" fmla="val 5714"/>
            </a:avLst>
          </a:prstGeom>
          <a:solidFill>
            <a:srgbClr val="0E1A36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594360" y="39502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Advisory by design</a:t>
            </a:r>
            <a:endParaRPr lang="en-US" sz="1250" dirty="0"/>
          </a:p>
        </p:txBody>
      </p:sp>
      <p:sp>
        <p:nvSpPr>
          <p:cNvPr id="18" name="Text 15"/>
          <p:cNvSpPr txBox="1"/>
          <p:nvPr/>
        </p:nvSpPr>
        <p:spPr>
          <a:xfrm>
            <a:off x="594360" y="4242816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C7D2E8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Its one action is a protective stop when nobody acknowledges. An operator restarts.</a:t>
            </a:r>
            <a:endParaRPr lang="en-US" sz="800" dirty="0"/>
          </a:p>
        </p:txBody>
      </p:sp>
      <p:sp>
        <p:nvSpPr>
          <p:cNvPr id="19" name="Text 16"/>
          <p:cNvSpPr txBox="1"/>
          <p:nvPr/>
        </p:nvSpPr>
        <p:spPr>
          <a:xfrm>
            <a:off x="2606040" y="39502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Keys and secrets</a:t>
            </a:r>
            <a:endParaRPr lang="en-US" sz="1250" dirty="0"/>
          </a:p>
        </p:txBody>
      </p:sp>
      <p:sp>
        <p:nvSpPr>
          <p:cNvPr id="20" name="Text 17"/>
          <p:cNvSpPr txBox="1"/>
          <p:nvPr/>
        </p:nvSpPr>
        <p:spPr>
          <a:xfrm>
            <a:off x="2606040" y="4242816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C7D2E8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Device keys are hashed and rotatable. Partner keys live in Secret Manager.</a:t>
            </a:r>
            <a:endParaRPr lang="en-US" sz="800" dirty="0"/>
          </a:p>
        </p:txBody>
      </p:sp>
      <p:sp>
        <p:nvSpPr>
          <p:cNvPr id="21" name="Text 18"/>
          <p:cNvSpPr txBox="1"/>
          <p:nvPr/>
        </p:nvSpPr>
        <p:spPr>
          <a:xfrm>
            <a:off x="4617720" y="39502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A person signs off</a:t>
            </a:r>
            <a:endParaRPr lang="en-US" sz="1250" dirty="0"/>
          </a:p>
        </p:txBody>
      </p:sp>
      <p:sp>
        <p:nvSpPr>
          <p:cNvPr id="22" name="Text 19"/>
          <p:cNvSpPr txBox="1"/>
          <p:nvPr/>
        </p:nvSpPr>
        <p:spPr>
          <a:xfrm>
            <a:off x="4617720" y="4242816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C7D2E8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Limits go live only after verification. Auto-dial is off by default.</a:t>
            </a:r>
            <a:endParaRPr lang="en-US" sz="800" dirty="0"/>
          </a:p>
        </p:txBody>
      </p:sp>
      <p:sp>
        <p:nvSpPr>
          <p:cNvPr id="23" name="Text 20"/>
          <p:cNvSpPr txBox="1"/>
          <p:nvPr/>
        </p:nvSpPr>
        <p:spPr>
          <a:xfrm>
            <a:off x="6629400" y="39502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Built in JAPAC</a:t>
            </a:r>
            <a:endParaRPr lang="en-US" sz="1250" dirty="0"/>
          </a:p>
        </p:txBody>
      </p:sp>
      <p:sp>
        <p:nvSpPr>
          <p:cNvPr id="24" name="Text 21"/>
          <p:cNvSpPr txBox="1"/>
          <p:nvPr/>
        </p:nvSpPr>
        <p:spPr>
          <a:xfrm>
            <a:off x="6629400" y="4242816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C7D2E8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Indian-English voice today. Call flows and emails localise per plant.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66760" y="4846320"/>
            <a:ext cx="36576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A0A8B5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411480" y="621792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200" kern="0" dirty="0">
                <a:solidFill>
                  <a:srgbClr val="2563EB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-120"/>
              </a:rPr>
              <a:t>12 / PROVIDE LINKS TO YOUR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82296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0B1220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See it running</a:t>
            </a:r>
            <a:endParaRPr lang="en-US" sz="2500" dirty="0"/>
          </a:p>
        </p:txBody>
      </p:sp>
      <p:sp>
        <p:nvSpPr>
          <p:cNvPr id="5" name="Shape 2"/>
          <p:cNvSpPr/>
          <p:nvPr/>
        </p:nvSpPr>
        <p:spPr>
          <a:xfrm>
            <a:off x="411480" y="1371600"/>
            <a:ext cx="8321040" cy="0"/>
          </a:xfrm>
          <a:prstGeom prst="line">
            <a:avLst/>
          </a:prstGeom>
          <a:noFill/>
          <a:ln w="9525">
            <a:solidFill>
              <a:srgbClr val="E3E7EE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11480" y="1527048"/>
            <a:ext cx="512064" cy="512064"/>
          </a:xfrm>
          <a:prstGeom prst="ellipse">
            <a:avLst/>
          </a:prstGeom>
          <a:solidFill>
            <a:srgbClr val="0B1220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496" y="1655064"/>
            <a:ext cx="256032" cy="256032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143000" y="146304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50" kern="0" dirty="0">
                <a:solidFill>
                  <a:srgbClr val="6B7686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-120"/>
              </a:rPr>
              <a:t>GITHUB PUBLIC REPOSITORY</a:t>
            </a:r>
            <a:endParaRPr lang="en-US" sz="750" dirty="0"/>
          </a:p>
        </p:txBody>
      </p:sp>
      <p:sp>
        <p:nvSpPr>
          <p:cNvPr id="9" name="Text 5"/>
          <p:cNvSpPr txBox="1"/>
          <p:nvPr/>
        </p:nvSpPr>
        <p:spPr>
          <a:xfrm>
            <a:off x="1143000" y="1627632"/>
            <a:ext cx="7543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u="sng" dirty="0">
                <a:solidFill>
                  <a:srgbClr val="2563EB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github.com/NerdNinzas/batchguard.ai</a:t>
            </a:r>
            <a:endParaRPr lang="en-US" sz="1900" dirty="0"/>
          </a:p>
        </p:txBody>
      </p:sp>
      <p:sp>
        <p:nvSpPr>
          <p:cNvPr id="10" name="Text 6"/>
          <p:cNvSpPr txBox="1"/>
          <p:nvPr/>
        </p:nvSpPr>
        <p:spPr>
          <a:xfrm>
            <a:off x="1143000" y="1938528"/>
            <a:ext cx="7543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dirty="0">
                <a:solidFill>
                  <a:srgbClr val="3A455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Next.js frontend, FastAPI and ADK backend, call flows, deploy script, IDEA.md and SOLUTION.md.</a:t>
            </a:r>
            <a:endParaRPr lang="en-US" sz="860" dirty="0"/>
          </a:p>
        </p:txBody>
      </p:sp>
      <p:sp>
        <p:nvSpPr>
          <p:cNvPr id="11" name="Shape 7"/>
          <p:cNvSpPr/>
          <p:nvPr/>
        </p:nvSpPr>
        <p:spPr>
          <a:xfrm>
            <a:off x="411480" y="2194560"/>
            <a:ext cx="8321040" cy="0"/>
          </a:xfrm>
          <a:prstGeom prst="line">
            <a:avLst/>
          </a:prstGeom>
          <a:noFill/>
          <a:ln w="9525">
            <a:solidFill>
              <a:srgbClr val="E3E7EE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411480" y="2350008"/>
            <a:ext cx="512064" cy="512064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496" y="2478024"/>
            <a:ext cx="256032" cy="256032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143000" y="22860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50" kern="0" dirty="0">
                <a:solidFill>
                  <a:srgbClr val="6B7686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-120"/>
              </a:rPr>
              <a:t>DEMO VIDEO</a:t>
            </a:r>
            <a:endParaRPr lang="en-US" sz="750" dirty="0"/>
          </a:p>
        </p:txBody>
      </p:sp>
      <p:sp>
        <p:nvSpPr>
          <p:cNvPr id="15" name="Text 10"/>
          <p:cNvSpPr txBox="1"/>
          <p:nvPr/>
        </p:nvSpPr>
        <p:spPr>
          <a:xfrm>
            <a:off x="1143000" y="2450592"/>
            <a:ext cx="7543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u="sng" dirty="0">
                <a:solidFill>
                  <a:srgbClr val="DC2626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youtu.be/lxMaqhoitiU</a:t>
            </a:r>
            <a:endParaRPr lang="en-US" sz="1900" dirty="0"/>
          </a:p>
        </p:txBody>
      </p:sp>
      <p:sp>
        <p:nvSpPr>
          <p:cNvPr id="16" name="Text 11"/>
          <p:cNvSpPr txBox="1"/>
          <p:nvPr/>
        </p:nvSpPr>
        <p:spPr>
          <a:xfrm>
            <a:off x="1143000" y="2761488"/>
            <a:ext cx="7543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dirty="0">
                <a:solidFill>
                  <a:srgbClr val="3A455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Setup from a manual, a tour, then three live cases: all fine, a breakdown acknowledged by phone, and no answer until Muse shuts the line down.</a:t>
            </a:r>
            <a:endParaRPr lang="en-US" sz="860" dirty="0"/>
          </a:p>
        </p:txBody>
      </p:sp>
      <p:sp>
        <p:nvSpPr>
          <p:cNvPr id="17" name="Shape 12"/>
          <p:cNvSpPr/>
          <p:nvPr/>
        </p:nvSpPr>
        <p:spPr>
          <a:xfrm>
            <a:off x="411480" y="3017520"/>
            <a:ext cx="8321040" cy="0"/>
          </a:xfrm>
          <a:prstGeom prst="line">
            <a:avLst/>
          </a:prstGeom>
          <a:noFill/>
          <a:ln w="9525">
            <a:solidFill>
              <a:srgbClr val="E3E7EE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411480" y="3172968"/>
            <a:ext cx="512064" cy="512064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9496" y="3300984"/>
            <a:ext cx="256032" cy="256032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1143000" y="310896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50" kern="0" dirty="0">
                <a:solidFill>
                  <a:srgbClr val="6B7686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-120"/>
              </a:rPr>
              <a:t>FINAL PRODUCT</a:t>
            </a:r>
            <a:endParaRPr lang="en-US" sz="750" dirty="0"/>
          </a:p>
        </p:txBody>
      </p:sp>
      <p:sp>
        <p:nvSpPr>
          <p:cNvPr id="21" name="Text 15"/>
          <p:cNvSpPr txBox="1"/>
          <p:nvPr/>
        </p:nvSpPr>
        <p:spPr>
          <a:xfrm>
            <a:off x="1143000" y="3273552"/>
            <a:ext cx="7543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u="sng" dirty="0">
                <a:solidFill>
                  <a:srgbClr val="2563EB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  <a:hlinkClick r:id="rId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batchguardai.live</a:t>
            </a:r>
            <a:endParaRPr lang="en-US" sz="1900" dirty="0"/>
          </a:p>
        </p:txBody>
      </p:sp>
      <p:sp>
        <p:nvSpPr>
          <p:cNvPr id="22" name="Text 16"/>
          <p:cNvSpPr txBox="1"/>
          <p:nvPr/>
        </p:nvSpPr>
        <p:spPr>
          <a:xfrm>
            <a:off x="1143000" y="3584448"/>
            <a:ext cx="7543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dirty="0">
                <a:solidFill>
                  <a:srgbClr val="3A455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Sign in with demo@batchguard.ai / demo1234. Demo Packaging Co, six machines, live telemetry.</a:t>
            </a:r>
            <a:endParaRPr lang="en-US" sz="860" dirty="0"/>
          </a:p>
        </p:txBody>
      </p:sp>
      <p:sp>
        <p:nvSpPr>
          <p:cNvPr id="23" name="Shape 17"/>
          <p:cNvSpPr/>
          <p:nvPr/>
        </p:nvSpPr>
        <p:spPr>
          <a:xfrm>
            <a:off x="411480" y="3840480"/>
            <a:ext cx="8321040" cy="0"/>
          </a:xfrm>
          <a:prstGeom prst="line">
            <a:avLst/>
          </a:prstGeom>
          <a:noFill/>
          <a:ln w="9525">
            <a:solidFill>
              <a:srgbClr val="E3E7EE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411480" y="3995928"/>
            <a:ext cx="512064" cy="512064"/>
          </a:xfrm>
          <a:prstGeom prst="ellipse">
            <a:avLst/>
          </a:prstGeom>
          <a:solidFill>
            <a:srgbClr val="0E7490"/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9496" y="4123944"/>
            <a:ext cx="256032" cy="256032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1143000" y="39319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50" kern="0" dirty="0">
                <a:solidFill>
                  <a:srgbClr val="6B7686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-120"/>
              </a:rPr>
              <a:t>VIRTUAL FACTORY SIMULATOR</a:t>
            </a:r>
            <a:endParaRPr lang="en-US" sz="750" dirty="0"/>
          </a:p>
        </p:txBody>
      </p:sp>
      <p:sp>
        <p:nvSpPr>
          <p:cNvPr id="27" name="Text 20"/>
          <p:cNvSpPr txBox="1"/>
          <p:nvPr/>
        </p:nvSpPr>
        <p:spPr>
          <a:xfrm>
            <a:off x="1143000" y="4096512"/>
            <a:ext cx="7543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u="sng" dirty="0">
                <a:solidFill>
                  <a:srgbClr val="0E7490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  <a:hlinkClick r:id="rId8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batchguard-sim.web.app</a:t>
            </a:r>
            <a:endParaRPr lang="en-US" sz="1900" dirty="0"/>
          </a:p>
        </p:txBody>
      </p:sp>
      <p:sp>
        <p:nvSpPr>
          <p:cNvPr id="28" name="Text 21"/>
          <p:cNvSpPr txBox="1"/>
          <p:nvPr/>
        </p:nvSpPr>
        <p:spPr>
          <a:xfrm>
            <a:off x="1143000" y="4407408"/>
            <a:ext cx="7543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dirty="0">
                <a:solidFill>
                  <a:srgbClr val="3A455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Streams real telemetry into the demo account. Turn the dials or inject a fault, and watch Muse react.</a:t>
            </a:r>
            <a:endParaRPr lang="en-US" sz="860" dirty="0"/>
          </a:p>
        </p:txBody>
      </p:sp>
      <p:sp>
        <p:nvSpPr>
          <p:cNvPr id="29" name="Shape 22"/>
          <p:cNvSpPr/>
          <p:nvPr/>
        </p:nvSpPr>
        <p:spPr>
          <a:xfrm>
            <a:off x="411480" y="4663440"/>
            <a:ext cx="8321040" cy="0"/>
          </a:xfrm>
          <a:prstGeom prst="line">
            <a:avLst/>
          </a:prstGeom>
          <a:noFill/>
          <a:ln w="9525">
            <a:solidFill>
              <a:srgbClr val="E3E7EE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66760" y="4846320"/>
            <a:ext cx="36576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A0A8B5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BatchGuard">
  <a:themeElements>
    <a:clrScheme name="BatchGuard">
      <a:dk1>
        <a:srgbClr val="0B1220"/>
      </a:dk1>
      <a:lt1>
        <a:srgbClr val="FFFFFF"/>
      </a:lt1>
      <a:dk2>
        <a:srgbClr val="0E1A36"/>
      </a:dk2>
      <a:lt2>
        <a:srgbClr val="F4F6FA"/>
      </a:lt2>
      <a:accent1>
        <a:srgbClr val="2563EB"/>
      </a:accent1>
      <a:accent2>
        <a:srgbClr val="16A34A"/>
      </a:accent2>
      <a:accent3>
        <a:srgbClr val="D97706"/>
      </a:accent3>
      <a:accent4>
        <a:srgbClr val="DC2626"/>
      </a:accent4>
      <a:accent5>
        <a:srgbClr val="7C3AED"/>
      </a:accent5>
      <a:accent6>
        <a:srgbClr val="0E7490"/>
      </a:accent6>
      <a:hlink>
        <a:srgbClr val="2563EB"/>
      </a:hlink>
      <a:folHlink>
        <a:srgbClr val="7C3AED"/>
      </a:folHlink>
    </a:clrScheme>
    <a:fontScheme name="BatchGuard">
      <a:majorFont>
        <a:latin typeface="Barlow Condensed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Barlow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NerdNinzas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BatchGuard AI: Google Cloud AI Builder Cup</dc:title>
  <dc:subject>PptxGenJS Presentation</dc:subject>
  <dc:creator>NerdNinzas</dc:creator>
  <cp:lastModifiedBy>NerdNinzas</cp:lastModifiedBy>
  <cp:revision>1</cp:revision>
  <dcterms:created xsi:type="dcterms:W3CDTF">2026-10-18T15:47:29Z</dcterms:created>
  <dcterms:modified xsi:type="dcterms:W3CDTF">2026-10-18T15:47:29Z</dcterms:modified>
</cp:coreProperties>
</file>